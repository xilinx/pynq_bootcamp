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480560"/>
            <a:ext cx="3474720" cy="347472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1005840"/>
            <a:ext cx="2194560" cy="2194560"/>
          </a:xfrm>
          <a:prstGeom prst="ellipse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5120640"/>
            <a:ext cx="1737360" cy="173736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77440" y="914400"/>
            <a:ext cx="201168" cy="201168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1828800"/>
            <a:ext cx="201168" cy="201168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3566160"/>
            <a:ext cx="201168" cy="201168"/>
          </a:xfrm>
          <a:prstGeom prst="ellipse">
            <a:avLst/>
          </a:prstGeom>
          <a:solidFill>
            <a:srgbClr val="F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0" y="3291840"/>
            <a:ext cx="201168" cy="201168"/>
          </a:xfrm>
          <a:prstGeom prst="ellipse">
            <a:avLst/>
          </a:prstGeom>
          <a:solidFill>
            <a:srgbClr val="F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0" y="5852160"/>
            <a:ext cx="201168" cy="201168"/>
          </a:xfrm>
          <a:prstGeom prst="ellipse">
            <a:avLst/>
          </a:prstGeom>
          <a:solidFill>
            <a:srgbClr val="38D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05156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4152E"/>
                </a:solidFill>
                <a:latin typeface="Arial"/>
              </a:rPr>
              <a:t>AI  •  CAMP  •  KRIA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10360152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FFFFFF"/>
                </a:solidFill>
                <a:latin typeface="Arial"/>
              </a:rPr>
              <a:t>Teaching Computers</a:t>
            </a:r>
          </a:p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FFFFFF"/>
                </a:solidFill>
                <a:latin typeface="Arial"/>
              </a:rPr>
              <a:t>to </a:t>
            </a:r>
            <a:r>
              <a:rPr sz="5600" b="1" i="0">
                <a:solidFill>
                  <a:srgbClr val="FFD166"/>
                </a:solidFill>
                <a:latin typeface="Arial"/>
              </a:rPr>
              <a:t>See You Move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60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EC4B6"/>
                </a:solidFill>
                <a:latin typeface="Arial"/>
              </a:rPr>
              <a:t>Pose Detection with AI + Special “FPGA” 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C9C9E0"/>
                </a:solidFill>
                <a:latin typeface="Arial"/>
              </a:rPr>
              <a:t>A hands-on notebook demo  •  let’s strike a pose!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914400"/>
            <a:ext cx="2377440" cy="237744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94960"/>
            <a:ext cx="2194560" cy="219456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B3A"/>
                </a:solidFill>
                <a:latin typeface="Arial"/>
              </a:rPr>
              <a:t>What is </a:t>
            </a:r>
            <a:r>
              <a:rPr sz="4000" b="1" i="0">
                <a:solidFill>
                  <a:srgbClr val="FF5D73"/>
                </a:solidFill>
                <a:latin typeface="Arial"/>
              </a:rPr>
              <a:t>Pose Detection?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6400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 i="0">
                <a:solidFill>
                  <a:srgbClr val="1A1B3A"/>
                </a:solidFill>
                <a:latin typeface="Arial"/>
              </a:rPr>
              <a:t>It means figuring out how a person’s body is positioned — where their arms, hands, legs, and feet are — just from a picture.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1A1B3A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8B5CF6"/>
                </a:solidFill>
                <a:latin typeface="Arial"/>
              </a:rPr>
              <a:t>Super easy for your brain. Really hard for a computer!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965960"/>
            <a:ext cx="38404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1488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35472"/>
                </a:solidFill>
                <a:latin typeface="Arial"/>
              </a:rPr>
              <a:t>The computer sees dots + connections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509760" y="2880360"/>
            <a:ext cx="0" cy="548640"/>
          </a:xfrm>
          <a:prstGeom prst="bentConnector3">
            <a:avLst/>
          </a:prstGeom>
          <a:ln w="38100">
            <a:solidFill>
              <a:srgbClr val="3A8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869680" y="3429000"/>
            <a:ext cx="640080" cy="91440"/>
          </a:xfrm>
          <a:prstGeom prst="bentConnector3">
            <a:avLst/>
          </a:prstGeom>
          <a:ln w="38100">
            <a:solidFill>
              <a:srgbClr val="3A8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09760" y="3429000"/>
            <a:ext cx="640080" cy="91440"/>
          </a:xfrm>
          <a:prstGeom prst="bentConnector3">
            <a:avLst/>
          </a:prstGeom>
          <a:ln w="38100">
            <a:solidFill>
              <a:srgbClr val="3A8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549640" y="3520440"/>
            <a:ext cx="320040" cy="594360"/>
          </a:xfrm>
          <a:prstGeom prst="bentConnector3">
            <a:avLst/>
          </a:prstGeom>
          <a:ln w="38100">
            <a:solidFill>
              <a:srgbClr val="3A8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366760" y="4114800"/>
            <a:ext cx="182880" cy="548640"/>
          </a:xfrm>
          <a:prstGeom prst="bentConnector3">
            <a:avLst/>
          </a:prstGeom>
          <a:ln w="38100">
            <a:solidFill>
              <a:srgbClr val="3A8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49840" y="3520440"/>
            <a:ext cx="320040" cy="594360"/>
          </a:xfrm>
          <a:prstGeom prst="bentConnector3">
            <a:avLst/>
          </a:prstGeom>
          <a:ln w="38100">
            <a:solidFill>
              <a:srgbClr val="3A8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69880" y="4114800"/>
            <a:ext cx="182880" cy="548640"/>
          </a:xfrm>
          <a:prstGeom prst="bentConnector3">
            <a:avLst/>
          </a:prstGeom>
          <a:ln w="38100">
            <a:solidFill>
              <a:srgbClr val="3A8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509760" y="3429000"/>
            <a:ext cx="0" cy="1005840"/>
          </a:xfrm>
          <a:prstGeom prst="bentConnector3">
            <a:avLst/>
          </a:prstGeom>
          <a:ln w="38100">
            <a:solidFill>
              <a:srgbClr val="3A8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098280" y="4434840"/>
            <a:ext cx="411480" cy="685800"/>
          </a:xfrm>
          <a:prstGeom prst="bentConnector3">
            <a:avLst/>
          </a:prstGeom>
          <a:ln w="38100">
            <a:solidFill>
              <a:srgbClr val="3A8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006840" y="5120640"/>
            <a:ext cx="91440" cy="685800"/>
          </a:xfrm>
          <a:prstGeom prst="bentConnector3">
            <a:avLst/>
          </a:prstGeom>
          <a:ln w="38100">
            <a:solidFill>
              <a:srgbClr val="3A8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09760" y="4434840"/>
            <a:ext cx="411480" cy="685800"/>
          </a:xfrm>
          <a:prstGeom prst="bentConnector3">
            <a:avLst/>
          </a:prstGeom>
          <a:ln w="38100">
            <a:solidFill>
              <a:srgbClr val="3A8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921240" y="5120640"/>
            <a:ext cx="91440" cy="685800"/>
          </a:xfrm>
          <a:prstGeom prst="bentConnector3">
            <a:avLst/>
          </a:prstGeom>
          <a:ln w="38100">
            <a:solidFill>
              <a:srgbClr val="3A8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381744" y="2752344"/>
            <a:ext cx="256032" cy="256032"/>
          </a:xfrm>
          <a:prstGeom prst="ellipse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0" y="3337560"/>
            <a:ext cx="182880" cy="18288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0" y="3429000"/>
            <a:ext cx="182880" cy="182880"/>
          </a:xfrm>
          <a:prstGeom prst="ellipse">
            <a:avLst/>
          </a:prstGeom>
          <a:solidFill>
            <a:srgbClr val="38D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3429000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58200" y="4023360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78440" y="4023360"/>
            <a:ext cx="182880" cy="182880"/>
          </a:xfrm>
          <a:prstGeom prst="ellipse">
            <a:avLst/>
          </a:prstGeom>
          <a:solidFill>
            <a:srgbClr val="F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5320" y="4572000"/>
            <a:ext cx="182880" cy="182880"/>
          </a:xfrm>
          <a:prstGeom prst="ellipse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61320" y="4572000"/>
            <a:ext cx="182880" cy="18288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18320" y="4343400"/>
            <a:ext cx="182880" cy="182880"/>
          </a:xfrm>
          <a:prstGeom prst="ellipse">
            <a:avLst/>
          </a:prstGeom>
          <a:solidFill>
            <a:srgbClr val="38D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06840" y="5029200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29800" y="5029200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15400" y="5715000"/>
            <a:ext cx="182880" cy="182880"/>
          </a:xfrm>
          <a:prstGeom prst="ellipse">
            <a:avLst/>
          </a:prstGeom>
          <a:solidFill>
            <a:srgbClr val="F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21240" y="5715000"/>
            <a:ext cx="182880" cy="182880"/>
          </a:xfrm>
          <a:prstGeom prst="ellipse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097280"/>
            <a:ext cx="2743200" cy="2743200"/>
          </a:xfrm>
          <a:prstGeom prst="ellipse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4846320"/>
            <a:ext cx="2743200" cy="2743200"/>
          </a:xfrm>
          <a:prstGeom prst="ellipse">
            <a:avLst/>
          </a:prstGeom>
          <a:solidFill>
            <a:srgbClr val="F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14152E"/>
                </a:solidFill>
                <a:latin typeface="Arial"/>
              </a:rPr>
              <a:t>HOW AI THINKS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What is an </a:t>
            </a:r>
            <a:r>
              <a:rPr sz="4000" b="1" i="0">
                <a:solidFill>
                  <a:srgbClr val="FFD166"/>
                </a:solidFill>
                <a:latin typeface="Arial"/>
              </a:rPr>
              <a:t>AI Model?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9DBF0"/>
                </a:solidFill>
                <a:latin typeface="Arial"/>
              </a:rPr>
              <a:t>A computer program that learns patterns from LOTS of examples, then makes a good guess about something new.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37560"/>
            <a:ext cx="2926080" cy="1828800"/>
          </a:xfrm>
          <a:prstGeom prst="roundRect">
            <a:avLst/>
          </a:prstGeom>
          <a:solidFill>
            <a:srgbClr val="3A86FF"/>
          </a:solidFill>
          <a:ln>
            <a:noFill/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292608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 i="0">
                <a:solidFill>
                  <a:srgbClr val="FFFFFF"/>
                </a:solidFill>
                <a:latin typeface="Arial"/>
              </a:rPr>
              <a:t>📷</a:t>
            </a:r>
          </a:p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INPUT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A picture (a grid of colored pixels = a matrix of numbers)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3337560"/>
            <a:ext cx="2926080" cy="18288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429000"/>
            <a:ext cx="292608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 i="0">
                <a:solidFill>
                  <a:srgbClr val="FFFFFF"/>
                </a:solidFill>
                <a:latin typeface="Arial"/>
              </a:rPr>
              <a:t>🧠</a:t>
            </a:r>
          </a:p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D166"/>
                </a:solidFill>
                <a:latin typeface="Arial"/>
              </a:rPr>
              <a:t>THE MODEL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Does tons of math on those numbers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337560"/>
            <a:ext cx="2926080" cy="1828800"/>
          </a:xfrm>
          <a:prstGeom prst="roundRect">
            <a:avLst/>
          </a:prstGeom>
          <a:solidFill>
            <a:srgbClr val="FF5D73"/>
          </a:solidFill>
          <a:ln>
            <a:noFill/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429000"/>
            <a:ext cx="292608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 i="0">
                <a:solidFill>
                  <a:srgbClr val="FFFFFF"/>
                </a:solidFill>
                <a:latin typeface="Arial"/>
              </a:rPr>
              <a:t>📍</a:t>
            </a:r>
          </a:p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OUTPUT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Where each body part probably is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94760" y="3977639"/>
            <a:ext cx="777240" cy="54864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589520" y="3977639"/>
            <a:ext cx="777240" cy="54864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5321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D9DBF0"/>
                </a:solidFill>
                <a:latin typeface="Arial"/>
              </a:rPr>
              <a:t>Our model is called </a:t>
            </a:r>
            <a:r>
              <a:rPr sz="1800" b="1" i="0">
                <a:solidFill>
                  <a:srgbClr val="2EC4B6"/>
                </a:solidFill>
                <a:latin typeface="Arial"/>
              </a:rPr>
              <a:t>OpenPose</a:t>
            </a:r>
            <a:r>
              <a:rPr sz="1800" b="0" i="0">
                <a:solidFill>
                  <a:srgbClr val="D9DBF0"/>
                </a:solidFill>
                <a:latin typeface="Arial"/>
              </a:rPr>
              <a:t> — it can find up to 10 people in one image!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1097280"/>
            <a:ext cx="2743200" cy="274320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120640"/>
            <a:ext cx="2377440" cy="23774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MODEL’S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1A1B3A"/>
                </a:solidFill>
                <a:latin typeface="Arial"/>
              </a:rPr>
              <a:t>It Answers with a </a:t>
            </a:r>
            <a:r>
              <a:rPr sz="3800" b="1" i="0">
                <a:solidFill>
                  <a:srgbClr val="FF9F1C"/>
                </a:solidFill>
                <a:latin typeface="Arial"/>
              </a:rPr>
              <a:t>Heatmap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6035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A1B3A"/>
                </a:solidFill>
                <a:latin typeface="Arial"/>
              </a:rPr>
              <a:t>Instead of saying “hand is HERE,” the model gives a map of </a:t>
            </a:r>
            <a:r>
              <a:rPr sz="2000" b="1" i="0">
                <a:solidFill>
                  <a:srgbClr val="8B5CF6"/>
                </a:solidFill>
                <a:latin typeface="Arial"/>
              </a:rPr>
              <a:t>probabilities</a:t>
            </a:r>
            <a:r>
              <a:rPr sz="2000" b="0" i="0">
                <a:solidFill>
                  <a:srgbClr val="1A1B3A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1A1B3A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A1B3A"/>
                </a:solidFill>
                <a:latin typeface="Arial"/>
              </a:rPr>
              <a:t>Bright / hot spots = “I’m pretty sure a body part is right here.”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1A1B3A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A1B3A"/>
                </a:solidFill>
                <a:latin typeface="Arial"/>
              </a:rPr>
              <a:t>Dark / cool spots = “probably nothing here.”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2011680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99248" y="2011680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74736" y="2011680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0224" y="2011680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25712" y="2011680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2011680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76688" y="2011680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52176" y="2011680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2487168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9248" y="2487168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2487168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0224" y="2487168"/>
            <a:ext cx="475488" cy="475488"/>
          </a:xfrm>
          <a:prstGeom prst="rect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25712" y="2487168"/>
            <a:ext cx="475488" cy="475488"/>
          </a:xfrm>
          <a:prstGeom prst="rect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0" y="2487168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76688" y="2487168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52176" y="2487168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2962656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62656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74736" y="2962656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50224" y="2962656"/>
            <a:ext cx="475488" cy="475488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25712" y="2962656"/>
            <a:ext cx="475488" cy="475488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2962656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76688" y="2962656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52176" y="2962656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23760" y="3438144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99248" y="3438144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6" y="3438144"/>
            <a:ext cx="475488" cy="475488"/>
          </a:xfrm>
          <a:prstGeom prst="rect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50224" y="3438144"/>
            <a:ext cx="475488" cy="475488"/>
          </a:xfrm>
          <a:prstGeom prst="rect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25712" y="3438144"/>
            <a:ext cx="475488" cy="475488"/>
          </a:xfrm>
          <a:prstGeom prst="rect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3438144"/>
            <a:ext cx="475488" cy="475488"/>
          </a:xfrm>
          <a:prstGeom prst="rect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6688" y="3438144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552176" y="3438144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23760" y="3913632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99248" y="3913632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74736" y="3913632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50224" y="3913632"/>
            <a:ext cx="475488" cy="475488"/>
          </a:xfrm>
          <a:prstGeom prst="rect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25712" y="3913632"/>
            <a:ext cx="475488" cy="475488"/>
          </a:xfrm>
          <a:prstGeom prst="rect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01200" y="3913632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076688" y="3913632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552176" y="3913632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23760" y="4389120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699248" y="4389120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74736" y="4389120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50224" y="4389120"/>
            <a:ext cx="475488" cy="475488"/>
          </a:xfrm>
          <a:prstGeom prst="rect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25712" y="4389120"/>
            <a:ext cx="475488" cy="475488"/>
          </a:xfrm>
          <a:prstGeom prst="rect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01200" y="4389120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076688" y="4389120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52176" y="4389120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23760" y="4864608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99248" y="4864608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74736" y="4864608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650224" y="4864608"/>
            <a:ext cx="475488" cy="475488"/>
          </a:xfrm>
          <a:prstGeom prst="rect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25712" y="4864608"/>
            <a:ext cx="475488" cy="475488"/>
          </a:xfrm>
          <a:prstGeom prst="rect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601200" y="4864608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76688" y="4864608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552176" y="4864608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223760" y="5340096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99248" y="5340096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74736" y="5340096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650224" y="5340096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125712" y="5340096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601200" y="5340096"/>
            <a:ext cx="475488" cy="475488"/>
          </a:xfrm>
          <a:prstGeom prst="rect">
            <a:avLst/>
          </a:prstGeom>
          <a:solidFill>
            <a:srgbClr val="7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076688" y="5340096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52176" y="5340096"/>
            <a:ext cx="475488" cy="475488"/>
          </a:xfrm>
          <a:prstGeom prst="rect">
            <a:avLst/>
          </a:prstGeom>
          <a:solidFill>
            <a:srgbClr val="2B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23760" y="5861304"/>
            <a:ext cx="3803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1">
                <a:solidFill>
                  <a:srgbClr val="535472"/>
                </a:solidFill>
                <a:latin typeface="Arial"/>
              </a:rPr>
              <a:t>bright = body part likely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2743200" cy="2743200"/>
          </a:xfrm>
          <a:prstGeom prst="ellipse">
            <a:avLst/>
          </a:prstGeom>
          <a:solidFill>
            <a:srgbClr val="38D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572000"/>
            <a:ext cx="2926080" cy="2926080"/>
          </a:xfrm>
          <a:prstGeom prst="ellipse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38D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14152E"/>
                </a:solidFill>
                <a:latin typeface="Arial"/>
              </a:rPr>
              <a:t>THE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Meet the </a:t>
            </a:r>
            <a:r>
              <a:rPr sz="4000" b="1" i="0">
                <a:solidFill>
                  <a:srgbClr val="38D99A"/>
                </a:solidFill>
                <a:latin typeface="Arial"/>
              </a:rPr>
              <a:t>KRIA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8521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9DBF0"/>
                </a:solidFill>
                <a:latin typeface="Arial"/>
              </a:rPr>
              <a:t>This little computer runs our AI. Inside it is a special chip called an </a:t>
            </a:r>
            <a:r>
              <a:rPr sz="2000" b="1" i="0">
                <a:solidFill>
                  <a:srgbClr val="FFD166"/>
                </a:solidFill>
                <a:latin typeface="Arial"/>
              </a:rPr>
              <a:t>FPGA</a:t>
            </a:r>
            <a:r>
              <a:rPr sz="2000" b="0" i="0">
                <a:solidFill>
                  <a:srgbClr val="D9DBF0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1A1B3A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9DBF0"/>
                </a:solidFill>
                <a:latin typeface="Arial"/>
              </a:rPr>
              <a:t>Plus a webcam so it can see you in real time!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1A1B3A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600" b="1" i="1">
                <a:solidFill>
                  <a:srgbClr val="2EC4B6"/>
                </a:solidFill>
                <a:latin typeface="Arial"/>
              </a:rPr>
              <a:t>FPGA = Field Programmable Gate Array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148840"/>
            <a:ext cx="4023360" cy="3291840"/>
          </a:xfrm>
          <a:prstGeom prst="roundRect">
            <a:avLst/>
          </a:prstGeom>
          <a:solidFill>
            <a:srgbClr val="0E3B2E"/>
          </a:solidFill>
          <a:ln w="31750">
            <a:solidFill>
              <a:srgbClr val="38D99A"/>
            </a:solidFill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3063240"/>
            <a:ext cx="1737360" cy="1463040"/>
          </a:xfrm>
          <a:prstGeom prst="rect">
            <a:avLst/>
          </a:prstGeom>
          <a:solidFill>
            <a:srgbClr val="11152E"/>
          </a:solidFill>
          <a:ln w="2540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3063240"/>
            <a:ext cx="1737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Arial"/>
              </a:rPr>
              <a:t>FPGA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2788920"/>
            <a:ext cx="109728" cy="2560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4526280"/>
            <a:ext cx="109728" cy="2560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87968" y="2788920"/>
            <a:ext cx="109728" cy="2560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87968" y="4526280"/>
            <a:ext cx="109728" cy="2560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80576" y="2788920"/>
            <a:ext cx="109728" cy="2560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80576" y="4526280"/>
            <a:ext cx="109728" cy="2560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73184" y="2788920"/>
            <a:ext cx="109728" cy="2560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73184" y="4526280"/>
            <a:ext cx="109728" cy="2560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65792" y="2788920"/>
            <a:ext cx="109728" cy="2560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65792" y="4526280"/>
            <a:ext cx="109728" cy="2560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0" y="2788920"/>
            <a:ext cx="109728" cy="2560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0" y="4526280"/>
            <a:ext cx="109728" cy="2560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377440"/>
            <a:ext cx="457200" cy="365760"/>
          </a:xfrm>
          <a:prstGeom prst="rect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98480" y="2377440"/>
            <a:ext cx="457200" cy="365760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937760"/>
            <a:ext cx="457200" cy="36576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0" y="4937760"/>
            <a:ext cx="457200" cy="365760"/>
          </a:xfrm>
          <a:prstGeom prst="rect">
            <a:avLst/>
          </a:prstGeom>
          <a:solidFill>
            <a:srgbClr val="F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54864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8D99A"/>
                </a:solidFill>
                <a:latin typeface="Arial"/>
              </a:rPr>
              <a:t>KRIA System-on-Module (SoM)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1005840"/>
            <a:ext cx="2377440" cy="2377440"/>
          </a:xfrm>
          <a:prstGeom prst="ellipse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194560" cy="2194560"/>
          </a:xfrm>
          <a:prstGeom prst="ellipse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WHY SPECIAL HARDWARE?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B3A"/>
                </a:solidFill>
                <a:latin typeface="Arial"/>
              </a:rPr>
              <a:t>Why not just a </a:t>
            </a:r>
            <a:r>
              <a:rPr sz="3600" b="1" i="0">
                <a:solidFill>
                  <a:srgbClr val="3A86FF"/>
                </a:solidFill>
                <a:latin typeface="Arial"/>
              </a:rPr>
              <a:t>normal computer?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029200" cy="3566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1B3A"/>
                </a:solidFill>
                <a:latin typeface="Arial"/>
              </a:rPr>
              <a:t>🧾  Regular Processor (CPU)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63240"/>
            <a:ext cx="44805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0">
                <a:solidFill>
                  <a:srgbClr val="535472"/>
                </a:solidFill>
                <a:latin typeface="Arial"/>
              </a:rPr>
              <a:t>Reads a long list of instructions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0">
                <a:solidFill>
                  <a:srgbClr val="535472"/>
                </a:solidFill>
                <a:latin typeface="Arial"/>
              </a:rPr>
              <a:t>Does them one after another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0">
                <a:solidFill>
                  <a:srgbClr val="535472"/>
                </a:solidFill>
                <a:latin typeface="Arial"/>
              </a:rPr>
              <a:t>Flexible — but can be slow for AI’s mountain of math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48840"/>
            <a:ext cx="5029200" cy="3566160"/>
          </a:xfrm>
          <a:prstGeom prst="roundRect">
            <a:avLst/>
          </a:prstGeom>
          <a:solidFill>
            <a:srgbClr val="14152E"/>
          </a:solidFill>
          <a:ln>
            <a:noFill/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3774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D166"/>
                </a:solidFill>
                <a:latin typeface="Arial"/>
              </a:rPr>
              <a:t>⚡  FPGA → a “DPU”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63240"/>
            <a:ext cx="44805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0">
                <a:solidFill>
                  <a:srgbClr val="E7E8F7"/>
                </a:solidFill>
                <a:latin typeface="Arial"/>
              </a:rPr>
              <a:t>A circuit we can re-program into the exact shape we need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0">
                <a:solidFill>
                  <a:srgbClr val="E7E8F7"/>
                </a:solidFill>
                <a:latin typeface="Arial"/>
              </a:rPr>
              <a:t>Does LOTS of math at the same time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 i="0">
                <a:solidFill>
                  <a:srgbClr val="2EC4B6"/>
                </a:solidFill>
                <a:latin typeface="Arial"/>
              </a:rPr>
              <a:t>We load a ready-made design (an “overlay”) = a Data Processing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1A1B3A"/>
                </a:solidFill>
                <a:latin typeface="Arial"/>
              </a:rPr>
              <a:t>Same idea as a custom race car vs. a regular car: built for one job, so it’s way faster at it. 🏎️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097280"/>
            <a:ext cx="2560320" cy="256032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4754880"/>
            <a:ext cx="2560320" cy="256032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How Our Notebook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2606040" cy="2743200"/>
          </a:xfrm>
          <a:prstGeom prst="roundRect">
            <a:avLst/>
          </a:prstGeom>
          <a:solidFill>
            <a:srgbClr val="1E2044"/>
          </a:solidFill>
          <a:ln>
            <a:noFill/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788920"/>
            <a:ext cx="868680" cy="868680"/>
          </a:xfrm>
          <a:prstGeom prst="ellipse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52928"/>
            <a:ext cx="1508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5D73"/>
                </a:solidFill>
                <a:latin typeface="Arial"/>
              </a:rPr>
              <a:t>Snap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D9DBF0"/>
                </a:solidFill>
                <a:latin typeface="Arial"/>
              </a:rPr>
              <a:t>Grab a photo (or a webcam frame)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47288" y="3611880"/>
            <a:ext cx="320040" cy="45720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11880" y="2468880"/>
            <a:ext cx="2606040" cy="2743200"/>
          </a:xfrm>
          <a:prstGeom prst="roundRect">
            <a:avLst/>
          </a:prstGeom>
          <a:solidFill>
            <a:srgbClr val="1E2044"/>
          </a:solidFill>
          <a:ln>
            <a:noFill/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31920" y="2788920"/>
            <a:ext cx="868680" cy="86868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852928"/>
            <a:ext cx="1508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8862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9F1C"/>
                </a:solidFill>
                <a:latin typeface="Arial"/>
              </a:rPr>
              <a:t>Prep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4348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D9DBF0"/>
                </a:solidFill>
                <a:latin typeface="Arial"/>
              </a:rPr>
              <a:t>Resize &amp; crop to 368×368 for the model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236208" y="3611880"/>
            <a:ext cx="320040" cy="45720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2468880"/>
            <a:ext cx="2606040" cy="2743200"/>
          </a:xfrm>
          <a:prstGeom prst="roundRect">
            <a:avLst/>
          </a:prstGeom>
          <a:solidFill>
            <a:srgbClr val="1E2044"/>
          </a:solidFill>
          <a:ln>
            <a:noFill/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20840" y="2788920"/>
            <a:ext cx="868680" cy="868680"/>
          </a:xfrm>
          <a:prstGeom prst="ellipse">
            <a:avLst/>
          </a:prstGeom>
          <a:solidFill>
            <a:srgbClr val="38D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852928"/>
            <a:ext cx="1508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8862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38D99A"/>
                </a:solidFill>
                <a:latin typeface="Arial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4348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D9DBF0"/>
                </a:solidFill>
                <a:latin typeface="Arial"/>
              </a:rPr>
              <a:t>The DPU runs OpenPose — fast!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25128" y="3611880"/>
            <a:ext cx="320040" cy="45720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89720" y="2468880"/>
            <a:ext cx="2606040" cy="2743200"/>
          </a:xfrm>
          <a:prstGeom prst="roundRect">
            <a:avLst/>
          </a:prstGeom>
          <a:solidFill>
            <a:srgbClr val="1E2044"/>
          </a:solidFill>
          <a:ln>
            <a:noFill/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2788920"/>
            <a:ext cx="868680" cy="868680"/>
          </a:xfrm>
          <a:prstGeom prst="ellipse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852928"/>
            <a:ext cx="1508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8862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3A86FF"/>
                </a:solidFill>
                <a:latin typeface="Arial"/>
              </a:rPr>
              <a:t>See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4348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D9DBF0"/>
                </a:solidFill>
                <a:latin typeface="Arial"/>
              </a:rPr>
              <a:t>Draw the heatmap over the image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2EC4B6"/>
                </a:solidFill>
                <a:latin typeface="Arial"/>
              </a:rPr>
              <a:t>Then we loop it over live video so the heatmap follows you as you move!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05840"/>
            <a:ext cx="2560320" cy="2560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212080"/>
            <a:ext cx="2286000" cy="228600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FUN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1A1B3A"/>
                </a:solidFill>
                <a:latin typeface="Arial"/>
              </a:rPr>
              <a:t>Guess My </a:t>
            </a:r>
            <a:r>
              <a:rPr sz="3800" b="1" i="0">
                <a:solidFill>
                  <a:srgbClr val="8B5CF6"/>
                </a:solidFill>
                <a:latin typeface="Arial"/>
              </a:rPr>
              <a:t>Pose!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A1B3A"/>
                </a:solidFill>
                <a:latin typeface="Arial"/>
              </a:rPr>
              <a:t>We save a few heatmap </a:t>
            </a:r>
            <a:r>
              <a:rPr sz="1900" b="1" i="0">
                <a:solidFill>
                  <a:srgbClr val="8B5CF6"/>
                </a:solidFill>
                <a:latin typeface="Arial"/>
              </a:rPr>
              <a:t>templates</a:t>
            </a:r>
            <a:r>
              <a:rPr sz="1900" b="0" i="0">
                <a:solidFill>
                  <a:srgbClr val="1A1B3A"/>
                </a:solidFill>
                <a:latin typeface="Arial"/>
              </a:rPr>
              <a:t>, then compare your pose to each. Lowest “difference score” wins!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063240"/>
            <a:ext cx="2743200" cy="2743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5D73"/>
            </a:solidFill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27432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0" i="0">
                <a:solidFill>
                  <a:srgbClr val="1A1B3A"/>
                </a:solidFill>
                <a:latin typeface="Arial"/>
              </a:rPr>
              <a:t>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8463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5D73"/>
                </a:solidFill>
                <a:latin typeface="Arial"/>
              </a:rPr>
              <a:t>Power 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53492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535472"/>
                </a:solidFill>
                <a:latin typeface="Arial"/>
              </a:rPr>
              <a:t>score?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3063240"/>
            <a:ext cx="2743200" cy="2743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4B6"/>
            </a:solidFill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429000"/>
            <a:ext cx="27432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0" i="0">
                <a:solidFill>
                  <a:srgbClr val="1A1B3A"/>
                </a:solidFill>
                <a:latin typeface="Arial"/>
              </a:rPr>
              <a:t>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8463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EC4B6"/>
                </a:solidFill>
                <a:latin typeface="Arial"/>
              </a:rPr>
              <a:t>Normal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53492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535472"/>
                </a:solidFill>
                <a:latin typeface="Arial"/>
              </a:rPr>
              <a:t>score?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63240"/>
            <a:ext cx="2743200" cy="2743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9F1C"/>
            </a:solidFill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429000"/>
            <a:ext cx="27432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0" i="0">
                <a:solidFill>
                  <a:srgbClr val="1A1B3A"/>
                </a:solidFill>
                <a:latin typeface="Arial"/>
              </a:rPr>
              <a:t>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463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9F1C"/>
                </a:solidFill>
                <a:latin typeface="Arial"/>
              </a:rPr>
              <a:t>Wacky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53492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535472"/>
                </a:solidFill>
                <a:latin typeface="Arial"/>
              </a:rPr>
              <a:t>score?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1A1B3A"/>
                </a:solidFill>
                <a:latin typeface="Arial"/>
              </a:rPr>
              <a:t>You can even record your OWN pose as a new template!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1188720"/>
            <a:ext cx="3108960" cy="3108960"/>
          </a:xfrm>
          <a:prstGeom prst="ellipse">
            <a:avLst/>
          </a:prstGeom>
          <a:solidFill>
            <a:srgbClr val="FF5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4297680"/>
            <a:ext cx="3291840" cy="329184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-914400"/>
            <a:ext cx="2011680" cy="201168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64008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14152E"/>
                </a:solidFill>
                <a:latin typeface="Arial"/>
              </a:rPr>
              <a:t>WHERE YOU SEE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Pose Detection is </a:t>
            </a:r>
            <a:r>
              <a:rPr sz="3800" b="1" i="0">
                <a:solidFill>
                  <a:srgbClr val="FFD166"/>
                </a:solidFill>
                <a:latin typeface="Arial"/>
              </a:rPr>
              <a:t>Everywhere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2606040" cy="2194560"/>
          </a:xfrm>
          <a:prstGeom prst="roundRect">
            <a:avLst/>
          </a:prstGeom>
          <a:solidFill>
            <a:srgbClr val="1E2044"/>
          </a:solidFill>
          <a:ln w="31750">
            <a:solidFill>
              <a:srgbClr val="8B5CF6"/>
            </a:solidFill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Arial"/>
              </a:rPr>
              <a:t>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8B5CF6"/>
                </a:solidFill>
                <a:latin typeface="Arial"/>
              </a:rPr>
              <a:t>Video Games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331720"/>
            <a:ext cx="2606040" cy="2194560"/>
          </a:xfrm>
          <a:prstGeom prst="roundRect">
            <a:avLst/>
          </a:prstGeom>
          <a:solidFill>
            <a:srgbClr val="1E2044"/>
          </a:solidFill>
          <a:ln w="31750">
            <a:solidFill>
              <a:srgbClr val="38D99A"/>
            </a:solidFill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65176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Arial"/>
              </a:rPr>
              <a:t>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79476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38D99A"/>
                </a:solidFill>
                <a:latin typeface="Arial"/>
              </a:rPr>
              <a:t>Sports &amp; Fitness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31720"/>
            <a:ext cx="2606040" cy="2194560"/>
          </a:xfrm>
          <a:prstGeom prst="roundRect">
            <a:avLst/>
          </a:prstGeom>
          <a:solidFill>
            <a:srgbClr val="1E2044"/>
          </a:solidFill>
          <a:ln w="31750">
            <a:solidFill>
              <a:srgbClr val="FF5D73"/>
            </a:solidFill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Arial"/>
              </a:rPr>
              <a:t>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9476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5D73"/>
                </a:solidFill>
                <a:latin typeface="Arial"/>
              </a:rPr>
              <a:t>Health &amp; 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2331720"/>
            <a:ext cx="2606040" cy="2194560"/>
          </a:xfrm>
          <a:prstGeom prst="roundRect">
            <a:avLst/>
          </a:prstGeom>
          <a:solidFill>
            <a:srgbClr val="1E2044"/>
          </a:solidFill>
          <a:ln w="31750">
            <a:solidFill>
              <a:srgbClr val="3A86FF"/>
            </a:solidFill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265176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Arial"/>
              </a:rPr>
              <a:t>🕶️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9476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3A86FF"/>
                </a:solidFill>
                <a:latin typeface="Arial"/>
              </a:rPr>
              <a:t>AR / Filters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4892040"/>
            <a:ext cx="8897112" cy="1234440"/>
          </a:xfrm>
          <a:prstGeom prst="roundRect">
            <a:avLst/>
          </a:prstGeom>
          <a:solidFill>
            <a:srgbClr val="FFD166"/>
          </a:solidFill>
          <a:ln>
            <a:noFill/>
          </a:ln>
          <a:effectLst/>
          <a:effectLst>
            <a:outerShdw blurRad="90000" dist="50000" dir="5400000" rotWithShape="0">
              <a:srgbClr val="1A1B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5029200"/>
            <a:ext cx="889711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4152E"/>
                </a:solidFill>
                <a:latin typeface="Arial"/>
              </a:rPr>
              <a:t>🚀  Your turn — let’s open the notebook!</a:t>
            </a:r>
          </a:p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3A3308"/>
                </a:solidFill>
                <a:latin typeface="Arial"/>
              </a:rPr>
              <a:t>Strike a pose and see if the computer can read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