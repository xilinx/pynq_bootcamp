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16"/>
    <p:sldMasterId id="2147484926" r:id="rId17"/>
  </p:sldMasterIdLst>
  <p:notesMasterIdLst>
    <p:notesMasterId r:id="rId33"/>
  </p:notesMasterIdLst>
  <p:handoutMasterIdLst>
    <p:handoutMasterId r:id="rId34"/>
  </p:handoutMasterIdLst>
  <p:sldIdLst>
    <p:sldId id="256" r:id="rId18"/>
    <p:sldId id="257" r:id="rId19"/>
    <p:sldId id="271" r:id="rId20"/>
    <p:sldId id="258" r:id="rId21"/>
    <p:sldId id="259" r:id="rId22"/>
    <p:sldId id="260" r:id="rId23"/>
    <p:sldId id="261" r:id="rId24"/>
    <p:sldId id="262" r:id="rId25"/>
    <p:sldId id="263" r:id="rId26"/>
    <p:sldId id="264" r:id="rId27"/>
    <p:sldId id="265" r:id="rId28"/>
    <p:sldId id="267" r:id="rId29"/>
    <p:sldId id="266" r:id="rId30"/>
    <p:sldId id="268" r:id="rId31"/>
    <p:sldId id="270" r:id="rId3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8C95"/>
    <a:srgbClr val="000000"/>
    <a:srgbClr val="262626"/>
    <a:srgbClr val="131313"/>
    <a:srgbClr val="242428"/>
    <a:srgbClr val="19181C"/>
    <a:srgbClr val="E15310"/>
    <a:srgbClr val="006D85"/>
    <a:srgbClr val="888D91"/>
    <a:srgbClr val="01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811" autoAdjust="0"/>
  </p:normalViewPr>
  <p:slideViewPr>
    <p:cSldViewPr snapToGrid="0">
      <p:cViewPr varScale="1">
        <p:scale>
          <a:sx n="133" d="100"/>
          <a:sy n="133" d="100"/>
        </p:scale>
        <p:origin x="1386" y="126"/>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 d="1"/>
        <a:sy n="1" d="1"/>
      </p:scale>
      <p:origin x="0" y="-2792"/>
    </p:cViewPr>
  </p:sorterViewPr>
  <p:notesViewPr>
    <p:cSldViewPr snapToGrid="0" showGuides="1">
      <p:cViewPr varScale="1">
        <p:scale>
          <a:sx n="168" d="100"/>
          <a:sy n="168" d="100"/>
        </p:scale>
        <p:origin x="5432" y="2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tableStyles" Target="tableStyles.xml"/><Relationship Id="rId21" Type="http://schemas.openxmlformats.org/officeDocument/2006/relationships/slide" Target="slides/slide4.xml"/><Relationship Id="rId34" Type="http://schemas.openxmlformats.org/officeDocument/2006/relationships/handoutMaster" Target="handoutMasters/handoutMaster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slideMaster" Target="slideMasters/slideMaster2.xml"/><Relationship Id="rId25" Type="http://schemas.openxmlformats.org/officeDocument/2006/relationships/slide" Target="slides/slide8.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Master" Target="slideMasters/slideMaster1.xml"/><Relationship Id="rId20" Type="http://schemas.openxmlformats.org/officeDocument/2006/relationships/slide" Target="slides/slide3.xml"/><Relationship Id="rId29"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presProps" Target="presProps.xml"/><Relationship Id="rId10" Type="http://schemas.openxmlformats.org/officeDocument/2006/relationships/customXml" Target="../customXml/item10.xml"/><Relationship Id="rId19" Type="http://schemas.openxmlformats.org/officeDocument/2006/relationships/slide" Target="slides/slide2.xml"/><Relationship Id="rId31"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commentAuthors" Target="commentAuthors.xml"/><Relationship Id="rId8" Type="http://schemas.openxmlformats.org/officeDocument/2006/relationships/customXml" Target="../customXml/item8.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7/22/2026 10:05 AM</a:t>
            </a:fld>
            <a:endParaRPr lang="en-US" dirty="0"/>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7/22/2026 10:04 AM</a:t>
            </a:fld>
            <a:endParaRPr lang="en-US" dirty="0"/>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Computers store a color image as three numbers per pixel: Red, Green, and Blue. OpenCV actually stores those three numbers in the opposite order — Blue, Green, Red. If you forget to flip them back before displaying, the colors come out wrong. Ask students to spot the difference between the two images (skin looks blue, sky looks orange, etc.). This mix-up trips up beginners constantly, so it's worth remembering.</a:t>
            </a:r>
            <a:br>
              <a:rPr lang="en-US" dirty="0"/>
            </a:br>
            <a:r>
              <a:rPr lang="en-US" dirty="0"/>
              <a:t>Why does OpenCV do this? OpenCV was created at Intel in 1999, when BGR was the common byte order used by camera hardware/frame grabbers and the Windows BMP format of that era. OpenCV adopted BGR to match, and it's stuck</a:t>
            </a:r>
          </a:p>
          <a:p>
            <a:r>
              <a:rPr lang="en-US" dirty="0"/>
              <a:t>  that way for backward compatibility ever since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Ask: why would we ever want to throw away color? Grayscale keeps only brightness, not color, so there's just 1 number per pixel instead of 3. That makes it much faster and easier for a computer to find edges and shapes. Mention grayscale is often the very first step before other vision tricks, like the corner </a:t>
            </a:r>
            <a:r>
              <a:rPr dirty="0" err="1"/>
              <a:t>detecto</a:t>
            </a:r>
            <a:r>
              <a:rPr lang="en-US" dirty="0" err="1"/>
              <a:t>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HSV is another way to describe color: Hue = which color on the color wheel, Saturation = how vivid or washed out, Value = how bright or dark. Point out the right-hand image looks strange/psychedelic — that's because we're tricking the display into showing HSV numbers as if they were RGB numbers. Mention HSV is handy for tasks like 'find everything that's red,' since hue separates color from brightness/lighting.</a:t>
            </a:r>
            <a:endParaRPr lang="en-US" dirty="0"/>
          </a:p>
          <a:p>
            <a:r>
              <a:rPr lang="en-US" dirty="0"/>
              <a:t>Why would you need to do this?</a:t>
            </a:r>
          </a:p>
          <a:p>
            <a:r>
              <a:rPr lang="en-US" dirty="0"/>
              <a:t>HSV separates color identity from lighting. Hue encodes which color it is (position on the color wheel), while Saturation and Value absorb most of the vividness/brightness variation. So "red" stays roughly the same Hue whether it's in shadow or full sun. This makes HSV thresholding/masking much more robust</a:t>
            </a:r>
          </a:p>
          <a:p>
            <a:r>
              <a:rPr lang="en-US" dirty="0"/>
              <a:t>  for isolating objects by color than RGB thresholding.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corner is a point where two edges meet — an easy landmark for a computer to spot again in the next video frame. Ask why that matters: corners are used to track moving objects, stitch photos into a panorama, and help AR apps stick a filter onto a face. The red dots show every spot the Harris Corner Detector flagged as a corner.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who has scanned a QR code with their phone — probably everyone. A QR code works a lot like an ArUco marker, but instead of just an ID number it hides a chunk of text or a web link. The green outline is OpenCV finding the code, and the decoded text underneath is OpenCV reading it, exactly like a phone camera app does.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ArUco</a:t>
            </a:r>
            <a:r>
              <a:rPr dirty="0"/>
              <a:t> markers are like a robot's version of a name tag — a computer can read them from far away and at an angle. They're everywhere in robotics competitions and warehouses to help robots figure out exactly where they are. Point out that the detector didn't just find the marker, it read the exact ID number (23) and all four corners, which tells you the marker's precise position and rotation.</a:t>
            </a:r>
            <a:r>
              <a:rPr lang="en-US" dirty="0"/>
              <a:t> </a:t>
            </a:r>
            <a:r>
              <a:rPr lang="en-US" dirty="0" err="1"/>
              <a:t>ArUco</a:t>
            </a:r>
            <a:r>
              <a:rPr lang="en-US" dirty="0"/>
              <a:t>: Augmented Reality University of Cordoba</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 up: ask if there are any questions. Remind students where to find today's notebook and encourage them to try the bonus webcam challenge if they have extra time. Thank them for participating.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199" y="3730752"/>
            <a:ext cx="9203375" cy="1285186"/>
          </a:xfrm>
          <a:noFill/>
        </p:spPr>
        <p:txBody>
          <a:bodyPr wrap="square" lIns="0" tIns="0" rIns="0" bIns="0" anchor="b" anchorCtr="0">
            <a:no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1" y="1004191"/>
            <a:ext cx="2654754" cy="632698"/>
          </a:xfrm>
          <a:prstGeom prst="rect">
            <a:avLst/>
          </a:prstGeom>
        </p:spPr>
      </p:pic>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84200" y="5416296"/>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hf hdr="0" ft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237014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hf hdr="0" ftr="0" dt="0"/>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32991965"/>
      </p:ext>
    </p:extLst>
  </p:cSld>
  <p:clrMapOvr>
    <a:masterClrMapping/>
  </p:clrMapOvr>
  <p:transition>
    <p:fade/>
  </p:transition>
  <p:hf hdr="0" ftr="0" dt="0"/>
  <p:extLst>
    <p:ext uri="{DCECCB84-F9BA-43D5-87BE-67443E8EF086}">
      <p15:sldGuideLst xmlns:p15="http://schemas.microsoft.com/office/powerpoint/2012/main">
        <p15:guide id="5" orient="horz" pos="888" userDrawn="1">
          <p15:clr>
            <a:srgbClr val="5ACBF0"/>
          </p15:clr>
        </p15:guide>
        <p15:guide id="6" orient="horz" pos="1080"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4200" y="1437198"/>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hf hdr="0" ftr="0" dt="0"/>
  <p:extLst>
    <p:ext uri="{DCECCB84-F9BA-43D5-87BE-67443E8EF086}">
      <p15:sldGuideLst xmlns:p15="http://schemas.microsoft.com/office/powerpoint/2012/main">
        <p15:guide id="2" orient="horz" pos="888" userDrawn="1">
          <p15:clr>
            <a:srgbClr val="5ACBF0"/>
          </p15:clr>
        </p15:guide>
        <p15:guide id="3" orient="horz" pos="1080"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2453623"/>
      </p:ext>
    </p:extLst>
  </p:cSld>
  <p:clrMapOvr>
    <a:masterClrMapping/>
  </p:clrMapOvr>
  <p:transition>
    <p:fade/>
  </p:transition>
  <p:hf hdr="0" ftr="0" dt="0"/>
  <p:extLst>
    <p:ext uri="{DCECCB84-F9BA-43D5-87BE-67443E8EF086}">
      <p15:sldGuideLst xmlns:p15="http://schemas.microsoft.com/office/powerpoint/2012/main">
        <p15:guide id="3" orient="horz" pos="888" userDrawn="1">
          <p15:clr>
            <a:srgbClr val="5ACBF0"/>
          </p15:clr>
        </p15:guide>
        <p15:guide id="4" pos="3659" userDrawn="1">
          <p15:clr>
            <a:srgbClr val="5ACBF0"/>
          </p15:clr>
        </p15:guide>
        <p15:guide id="5" pos="4021" userDrawn="1">
          <p15:clr>
            <a:srgbClr val="5ACBF0"/>
          </p15:clr>
        </p15:guide>
        <p15:guide id="6" orient="horz" pos="1080"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hf hdr="0" ftr="0" dt="0"/>
  <p:extLst>
    <p:ext uri="{DCECCB84-F9BA-43D5-87BE-67443E8EF086}">
      <p15:sldGuideLst xmlns:p15="http://schemas.microsoft.com/office/powerpoint/2012/main">
        <p15:guide id="3" orient="horz" pos="888" userDrawn="1">
          <p15:clr>
            <a:srgbClr val="5ACBF0"/>
          </p15:clr>
        </p15:guide>
        <p15:guide id="4" pos="3659" userDrawn="1">
          <p15:clr>
            <a:srgbClr val="5ACBF0"/>
          </p15:clr>
        </p15:guide>
        <p15:guide id="5" pos="4021" userDrawn="1">
          <p15:clr>
            <a:srgbClr val="5ACBF0"/>
          </p15:clr>
        </p15:guide>
        <p15:guide id="6" orient="horz" pos="1080"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hf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08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hf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Tree>
    <p:extLst>
      <p:ext uri="{BB962C8B-B14F-4D97-AF65-F5344CB8AC3E}">
        <p14:creationId xmlns:p14="http://schemas.microsoft.com/office/powerpoint/2010/main" val="2606528856"/>
      </p:ext>
    </p:extLst>
  </p:cSld>
  <p:clrMapOvr>
    <a:masterClrMapping/>
  </p:clrMapOvr>
  <p:transition>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hf hdr="0" ftr="0" dt="0"/>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723914347"/>
      </p:ext>
    </p:extLst>
  </p:cSld>
  <p:clrMapOvr>
    <a:masterClrMapping/>
  </p:clrMapOvr>
  <p:transition>
    <p:fade/>
  </p:transition>
  <p:hf hdr="0" ftr="0" dt="0"/>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hf hdr="0" ftr="0" dt="0"/>
  <p:extLst>
    <p:ext uri="{DCECCB84-F9BA-43D5-87BE-67443E8EF086}">
      <p15:sldGuideLst xmlns:p15="http://schemas.microsoft.com/office/powerpoint/2012/main">
        <p15:guide id="5" orient="horz" pos="2880">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hf hdr="0" ftr="0" dt="0"/>
  <p:extLst>
    <p:ext uri="{DCECCB84-F9BA-43D5-87BE-67443E8EF086}">
      <p15:sldGuideLst xmlns:p15="http://schemas.microsoft.com/office/powerpoint/2012/main">
        <p15:guide id="5" orient="horz" pos="144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976029"/>
      </p:ext>
    </p:extLst>
  </p:cSld>
  <p:clrMapOvr>
    <a:masterClrMapping/>
  </p:clrMapOvr>
  <p:transition>
    <p:fade/>
  </p:transition>
  <p:hf hdr="0" ftr="0" dt="0"/>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3122780"/>
      </p:ext>
    </p:extLst>
  </p:cSld>
  <p:clrMapOvr>
    <a:masterClrMapping/>
  </p:clrMapOvr>
  <p:transition>
    <p:fade/>
  </p:transition>
  <p:hf hdr="0" ftr="0" dt="0"/>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68486435"/>
      </p:ext>
    </p:extLst>
  </p:cSld>
  <p:clrMapOvr>
    <a:masterClrMapping/>
  </p:clrMapOvr>
  <p:transition>
    <p:fade/>
  </p:transition>
  <p:hf hdr="0" ftr="0" dt="0"/>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Tree>
    <p:extLst>
      <p:ext uri="{BB962C8B-B14F-4D97-AF65-F5344CB8AC3E}">
        <p14:creationId xmlns:p14="http://schemas.microsoft.com/office/powerpoint/2010/main" val="3297005379"/>
      </p:ext>
    </p:extLst>
  </p:cSld>
  <p:clrMapOvr>
    <a:masterClrMapping/>
  </p:clrMapOvr>
  <p:transition>
    <p:fade/>
  </p:transition>
  <p:hf hdr="0" ftr="0" dt="0"/>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7357400"/>
      </p:ext>
    </p:extLst>
  </p:cSld>
  <p:clrMapOvr>
    <a:masterClrMapping/>
  </p:clrMapOvr>
  <p:transition>
    <p:fade/>
  </p:transition>
  <p:hf hdr="0" ftr="0" dt="0"/>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6365264"/>
      </p:ext>
    </p:extLst>
  </p:cSld>
  <p:clrMapOvr>
    <a:masterClrMapping/>
  </p:clrMapOvr>
  <p:transition>
    <p:fade/>
  </p:transition>
  <p:hf hdr="0" ftr="0" dt="0"/>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3633176217"/>
      </p:ext>
    </p:extLst>
  </p:cSld>
  <p:clrMapOvr>
    <a:masterClrMapping/>
  </p:clrMapOvr>
  <p:transition>
    <p:fade/>
  </p:transition>
  <p:hf hdr="0" ftr="0" dt="0"/>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8200" y="2131028"/>
            <a:ext cx="6959092"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935070"/>
      </p:ext>
    </p:extLst>
  </p:cSld>
  <p:clrMapOvr>
    <a:masterClrMapping/>
  </p:clrMapOvr>
  <p:transition>
    <p:fade/>
  </p:transition>
  <p:hf hdr="0" ftr="0" dt="0"/>
  <p:extLst>
    <p:ext uri="{DCECCB84-F9BA-43D5-87BE-67443E8EF086}">
      <p15:sldGuideLst xmlns:p15="http://schemas.microsoft.com/office/powerpoint/2012/main">
        <p15:guide id="12" pos="2561">
          <p15:clr>
            <a:srgbClr val="5ACBF0"/>
          </p15:clr>
        </p15:guide>
        <p15:guide id="29" orient="horz" pos="1320" userDrawn="1">
          <p15:clr>
            <a:srgbClr val="5ACBF0"/>
          </p15:clr>
        </p15:guide>
        <p15:guide id="33" pos="292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7"/>
            <a:ext cx="6667500" cy="5683251"/>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025546"/>
      </p:ext>
    </p:extLst>
  </p:cSld>
  <p:clrMapOvr>
    <a:masterClrMapping/>
  </p:clrMapOvr>
  <p:transition>
    <p:fade/>
  </p:transition>
  <p:hf hdr="0" ftr="0" dt="0"/>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5802"/>
            <a:ext cx="60374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756301"/>
            <a:ext cx="60374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2A9F794C-0039-734A-9A67-0890BA2F78B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9022977" y="3207401"/>
            <a:ext cx="2479346" cy="590893"/>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hf hdr="0" ftr="0" dt="0"/>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hf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CF5DA9-7F0B-974A-BDA7-C8F89F527F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56232" y="2847538"/>
            <a:ext cx="4879537" cy="1162923"/>
          </a:xfrm>
          <a:prstGeom prst="rect">
            <a:avLst/>
          </a:prstGeom>
        </p:spPr>
      </p:pic>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925069136"/>
      </p:ext>
    </p:extLst>
  </p:cSld>
  <p:clrMapOvr>
    <a:masterClrMapping/>
  </p:clrMapOvr>
  <p:transition>
    <p:fade/>
  </p:transition>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199" y="3730752"/>
            <a:ext cx="9203375" cy="1285186"/>
          </a:xfrm>
          <a:noFill/>
        </p:spPr>
        <p:txBody>
          <a:bodyPr wrap="square" lIns="0" tIns="0" rIns="0" bIns="0" anchor="b" anchorCtr="0">
            <a:no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84200" y="5416296"/>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10" name="Picture 9">
            <a:extLst>
              <a:ext uri="{FF2B5EF4-FFF2-40B4-BE49-F238E27FC236}">
                <a16:creationId xmlns:a16="http://schemas.microsoft.com/office/drawing/2014/main" id="{263ED066-9C2C-E04B-82A8-4B91E064F8AB}"/>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1" y="1004191"/>
            <a:ext cx="2654754" cy="632698"/>
          </a:xfrm>
          <a:prstGeom prst="rect">
            <a:avLst/>
          </a:prstGeom>
        </p:spPr>
      </p:pic>
    </p:spTree>
    <p:extLst>
      <p:ext uri="{BB962C8B-B14F-4D97-AF65-F5344CB8AC3E}">
        <p14:creationId xmlns:p14="http://schemas.microsoft.com/office/powerpoint/2010/main" val="3557529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ftr="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11" name="Picture 10">
            <a:extLst>
              <a:ext uri="{FF2B5EF4-FFF2-40B4-BE49-F238E27FC236}">
                <a16:creationId xmlns:a16="http://schemas.microsoft.com/office/drawing/2014/main" id="{155BDC0C-A045-7D4C-BC73-7EE593BA765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425943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ftr="0" dt="0"/>
  <p:extLst>
    <p:ext uri="{DCECCB84-F9BA-43D5-87BE-67443E8EF086}">
      <p15:sldGuideLst xmlns:p15="http://schemas.microsoft.com/office/powerpoint/2012/main">
        <p15:guide id="3" pos="383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95592198"/>
      </p:ext>
    </p:extLst>
  </p:cSld>
  <p:clrMapOvr>
    <a:masterClrMapping/>
  </p:clrMapOvr>
  <p:transition>
    <p:fade/>
  </p:transition>
  <p:hf hdr="0" ftr="0" dt="0"/>
  <p:extLst>
    <p:ext uri="{DCECCB84-F9BA-43D5-87BE-67443E8EF086}">
      <p15:sldGuideLst xmlns:p15="http://schemas.microsoft.com/office/powerpoint/2012/main">
        <p15:guide id="5" orient="horz" pos="888" userDrawn="1">
          <p15:clr>
            <a:srgbClr val="5ACBF0"/>
          </p15:clr>
        </p15:guide>
        <p15:guide id="6" orient="horz" pos="1080"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64870814"/>
      </p:ext>
    </p:extLst>
  </p:cSld>
  <p:clrMapOvr>
    <a:masterClrMapping/>
  </p:clrMapOvr>
  <p:transition>
    <p:fade/>
  </p:transition>
  <p:hf hdr="0" ftr="0" dt="0"/>
  <p:extLst>
    <p:ext uri="{DCECCB84-F9BA-43D5-87BE-67443E8EF086}">
      <p15:sldGuideLst xmlns:p15="http://schemas.microsoft.com/office/powerpoint/2012/main">
        <p15:guide id="2" orient="horz" pos="888" userDrawn="1">
          <p15:clr>
            <a:srgbClr val="5ACBF0"/>
          </p15:clr>
        </p15:guide>
        <p15:guide id="3" orient="horz" pos="1080"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4038440"/>
      </p:ext>
    </p:extLst>
  </p:cSld>
  <p:clrMapOvr>
    <a:masterClrMapping/>
  </p:clrMapOvr>
  <p:transition>
    <p:fade/>
  </p:transition>
  <p:hf hdr="0" ftr="0" dt="0"/>
  <p:extLst>
    <p:ext uri="{DCECCB84-F9BA-43D5-87BE-67443E8EF086}">
      <p15:sldGuideLst xmlns:p15="http://schemas.microsoft.com/office/powerpoint/2012/main">
        <p15:guide id="3" orient="horz" pos="888" userDrawn="1">
          <p15:clr>
            <a:srgbClr val="5ACBF0"/>
          </p15:clr>
        </p15:guide>
        <p15:guide id="4" pos="3659">
          <p15:clr>
            <a:srgbClr val="5ACBF0"/>
          </p15:clr>
        </p15:guide>
        <p15:guide id="5" pos="4021">
          <p15:clr>
            <a:srgbClr val="5ACBF0"/>
          </p15:clr>
        </p15:guide>
        <p15:guide id="6" orient="horz" pos="1080"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05477321"/>
      </p:ext>
    </p:extLst>
  </p:cSld>
  <p:clrMapOvr>
    <a:masterClrMapping/>
  </p:clrMapOvr>
  <p:transition>
    <p:fade/>
  </p:transition>
  <p:hf hdr="0" ftr="0" dt="0"/>
  <p:extLst>
    <p:ext uri="{DCECCB84-F9BA-43D5-87BE-67443E8EF086}">
      <p15:sldGuideLst xmlns:p15="http://schemas.microsoft.com/office/powerpoint/2012/main">
        <p15:guide id="3" orient="horz" pos="888" userDrawn="1">
          <p15:clr>
            <a:srgbClr val="5ACBF0"/>
          </p15:clr>
        </p15:guide>
        <p15:guide id="4" pos="3659">
          <p15:clr>
            <a:srgbClr val="5ACBF0"/>
          </p15:clr>
        </p15:guide>
        <p15:guide id="5" pos="4021">
          <p15:clr>
            <a:srgbClr val="5ACBF0"/>
          </p15:clr>
        </p15:guide>
        <p15:guide id="6" orient="horz" pos="1080"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endParaRPr lang="en-US" dirty="0"/>
          </a:p>
        </p:txBody>
      </p:sp>
    </p:spTree>
    <p:extLst>
      <p:ext uri="{BB962C8B-B14F-4D97-AF65-F5344CB8AC3E}">
        <p14:creationId xmlns:p14="http://schemas.microsoft.com/office/powerpoint/2010/main" val="374451499"/>
      </p:ext>
    </p:extLst>
  </p:cSld>
  <p:clrMapOvr>
    <a:masterClrMapping/>
  </p:clrMapOvr>
  <p:transition>
    <p:fade/>
  </p:transition>
  <p:hf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userDrawn="1">
          <p15:clr>
            <a:srgbClr val="5ACBF0"/>
          </p15:clr>
        </p15:guide>
        <p15:guide id="29" orient="horz" pos="1080"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dirty="0"/>
              <a:t>Click to edit Master title style</a:t>
            </a:r>
          </a:p>
        </p:txBody>
      </p:sp>
    </p:spTree>
    <p:extLst>
      <p:ext uri="{BB962C8B-B14F-4D97-AF65-F5344CB8AC3E}">
        <p14:creationId xmlns:p14="http://schemas.microsoft.com/office/powerpoint/2010/main" val="3882439479"/>
      </p:ext>
    </p:extLst>
  </p:cSld>
  <p:clrMapOvr>
    <a:masterClrMapping/>
  </p:clrMapOvr>
  <p:transition>
    <p:fade/>
  </p:transition>
  <p:hf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p15:clr>
            <a:srgbClr val="5ACBF0"/>
          </p15:clr>
        </p15:guide>
        <p15:guide id="29" orient="horz" pos="232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Tree>
    <p:extLst>
      <p:ext uri="{BB962C8B-B14F-4D97-AF65-F5344CB8AC3E}">
        <p14:creationId xmlns:p14="http://schemas.microsoft.com/office/powerpoint/2010/main" val="314497280"/>
      </p:ext>
    </p:extLst>
  </p:cSld>
  <p:clrMapOvr>
    <a:masterClrMapping/>
  </p:clrMapOvr>
  <p:transition>
    <p:fade/>
  </p:transition>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28423542"/>
      </p:ext>
    </p:extLst>
  </p:cSld>
  <p:clrMapOvr>
    <a:masterClrMapping/>
  </p:clrMapOvr>
  <p:transition>
    <p:fade/>
  </p:transition>
  <p:hf hdr="0" ftr="0" dt="0"/>
  <p:extLst>
    <p:ext uri="{DCECCB84-F9BA-43D5-87BE-67443E8EF086}">
      <p15:sldGuideLst xmlns:p15="http://schemas.microsoft.com/office/powerpoint/2012/main">
        <p15:guide id="2" pos="3360">
          <p15:clr>
            <a:srgbClr val="FBAE40"/>
          </p15:clr>
        </p15:guide>
        <p15:guide id="8" orient="horz" pos="2208" userDrawn="1">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dirty="0"/>
              <a:t>Click to edit Master title style</a:t>
            </a:r>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39219866"/>
      </p:ext>
    </p:extLst>
  </p:cSld>
  <p:clrMapOvr>
    <a:masterClrMapping/>
  </p:clrMapOvr>
  <p:transition>
    <p:fade/>
  </p:transition>
  <p:hf hdr="0" ftr="0" dt="0"/>
  <p:extLst>
    <p:ext uri="{DCECCB84-F9BA-43D5-87BE-67443E8EF086}">
      <p15:sldGuideLst xmlns:p15="http://schemas.microsoft.com/office/powerpoint/2012/main">
        <p15:guide id="2" pos="3360">
          <p15:clr>
            <a:srgbClr val="FBAE40"/>
          </p15:clr>
        </p15:guide>
        <p15:guide id="6" orient="horz" pos="648">
          <p15:clr>
            <a:srgbClr val="5ACBF0"/>
          </p15:clr>
        </p15:guide>
        <p15:guide id="8" orient="horz" pos="3648">
          <p15:clr>
            <a:srgbClr val="5ACBF0"/>
          </p15:clr>
        </p15:guide>
        <p15:guide id="10" pos="3720">
          <p15:clr>
            <a:srgbClr val="C35EA4"/>
          </p15:clr>
        </p15:guide>
        <p15:guide id="11" pos="2993">
          <p15:clr>
            <a:srgbClr val="5ACBF0"/>
          </p15:clr>
        </p15:guide>
        <p15:guide id="12" pos="3552">
          <p15:clr>
            <a:srgbClr val="A4A3A4"/>
          </p15:clr>
        </p15:guide>
        <p15:guide id="14" orient="horz" pos="144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150229365"/>
      </p:ext>
    </p:extLst>
  </p:cSld>
  <p:clrMapOvr>
    <a:masterClrMapping/>
  </p:clrMapOvr>
  <p:transition>
    <p:fade/>
  </p:transition>
  <p:hf hdr="0" ftr="0" dt="0"/>
  <p:extLst>
    <p:ext uri="{DCECCB84-F9BA-43D5-87BE-67443E8EF086}">
      <p15:sldGuideLst xmlns:p15="http://schemas.microsoft.com/office/powerpoint/2012/main">
        <p15:guide id="5" orient="horz" pos="288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443417578"/>
      </p:ext>
    </p:extLst>
  </p:cSld>
  <p:clrMapOvr>
    <a:masterClrMapping/>
  </p:clrMapOvr>
  <p:transition>
    <p:fade/>
  </p:transition>
  <p:hf hdr="0" ftr="0" dt="0"/>
  <p:extLst>
    <p:ext uri="{DCECCB84-F9BA-43D5-87BE-67443E8EF086}">
      <p15:sldGuideLst xmlns:p15="http://schemas.microsoft.com/office/powerpoint/2012/main">
        <p15:guide id="5" orient="horz" pos="144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97376654"/>
      </p:ext>
    </p:extLst>
  </p:cSld>
  <p:clrMapOvr>
    <a:masterClrMapping/>
  </p:clrMapOvr>
  <p:transition>
    <p:fade/>
  </p:transition>
  <p:hf hdr="0" ftr="0" dt="0"/>
  <p:extLst>
    <p:ext uri="{DCECCB84-F9BA-43D5-87BE-67443E8EF086}">
      <p15:sldGuideLst xmlns:p15="http://schemas.microsoft.com/office/powerpoint/2012/main">
        <p15:guide id="3" orient="horz" pos="3456">
          <p15:clr>
            <a:srgbClr val="5ACBF0"/>
          </p15:clr>
        </p15:guide>
        <p15:guide id="6" pos="3749">
          <p15:clr>
            <a:srgbClr val="5ACBF0"/>
          </p15:clr>
        </p15:guide>
        <p15:guide id="7" pos="3931">
          <p15:clr>
            <a:srgbClr val="5ACBF0"/>
          </p15:clr>
        </p15:guide>
        <p15:guide id="8" orient="horz" pos="1139">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46632190"/>
      </p:ext>
    </p:extLst>
  </p:cSld>
  <p:clrMapOvr>
    <a:masterClrMapping/>
  </p:clrMapOvr>
  <p:transition>
    <p:fade/>
  </p:transition>
  <p:hf hdr="0" ftr="0" dt="0"/>
  <p:extLst>
    <p:ext uri="{DCECCB84-F9BA-43D5-87BE-67443E8EF086}">
      <p15:sldGuideLst xmlns:p15="http://schemas.microsoft.com/office/powerpoint/2012/main">
        <p15:guide id="3" orient="horz" pos="3456">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90714039"/>
      </p:ext>
    </p:extLst>
  </p:cSld>
  <p:clrMapOvr>
    <a:masterClrMapping/>
  </p:clrMapOvr>
  <p:transition>
    <p:fade/>
  </p:transition>
  <p:hf hdr="0" ftr="0" dt="0"/>
  <p:extLst>
    <p:ext uri="{DCECCB84-F9BA-43D5-87BE-67443E8EF086}">
      <p15:sldGuideLst xmlns:p15="http://schemas.microsoft.com/office/powerpoint/2012/main">
        <p15:guide id="3" orient="horz" pos="3612">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p15:clr>
            <a:srgbClr val="5ACBF0"/>
          </p15:clr>
        </p15:guide>
        <p15:guide id="11" orient="horz" pos="1272"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Tree>
    <p:extLst>
      <p:ext uri="{BB962C8B-B14F-4D97-AF65-F5344CB8AC3E}">
        <p14:creationId xmlns:p14="http://schemas.microsoft.com/office/powerpoint/2010/main" val="4182344384"/>
      </p:ext>
    </p:extLst>
  </p:cSld>
  <p:clrMapOvr>
    <a:masterClrMapping/>
  </p:clrMapOvr>
  <p:transition>
    <p:fade/>
  </p:transition>
  <p:hf hdr="0" ftr="0" dt="0"/>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55642603"/>
      </p:ext>
    </p:extLst>
  </p:cSld>
  <p:clrMapOvr>
    <a:masterClrMapping/>
  </p:clrMapOvr>
  <p:transition>
    <p:fade/>
  </p:transition>
  <p:hf hdr="0" ftr="0" dt="0"/>
  <p:extLst>
    <p:ext uri="{DCECCB84-F9BA-43D5-87BE-67443E8EF086}">
      <p15:sldGuideLst xmlns:p15="http://schemas.microsoft.com/office/powerpoint/2012/main">
        <p15:guide id="3" orient="horz" pos="285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56837066"/>
      </p:ext>
    </p:extLst>
  </p:cSld>
  <p:clrMapOvr>
    <a:masterClrMapping/>
  </p:clrMapOvr>
  <p:transition>
    <p:fade/>
  </p:transition>
  <p:hf hdr="0" ftr="0" dt="0"/>
  <p:extLst>
    <p:ext uri="{DCECCB84-F9BA-43D5-87BE-67443E8EF086}">
      <p15:sldGuideLst xmlns:p15="http://schemas.microsoft.com/office/powerpoint/2012/main">
        <p15:guide id="3" orient="horz" pos="3702">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p15:clr>
            <a:srgbClr val="5ACBF0"/>
          </p15:clr>
        </p15:guide>
        <p15:guide id="11" orient="horz" pos="245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1898059612"/>
      </p:ext>
    </p:extLst>
  </p:cSld>
  <p:clrMapOvr>
    <a:masterClrMapping/>
  </p:clrMapOvr>
  <p:transition>
    <p:fade/>
  </p:transition>
  <p:hf hdr="0" ftr="0" dt="0"/>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dirty="0"/>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9829362"/>
      </p:ext>
    </p:extLst>
  </p:cSld>
  <p:clrMapOvr>
    <a:masterClrMapping/>
  </p:clrMapOvr>
  <p:transition>
    <p:fade/>
  </p:transition>
  <p:hf hdr="0" ftr="0" dt="0"/>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7"/>
            <a:ext cx="6667500" cy="5683251"/>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231484"/>
      </p:ext>
    </p:extLst>
  </p:cSld>
  <p:clrMapOvr>
    <a:masterClrMapping/>
  </p:clrMapOvr>
  <p:transition>
    <p:fade/>
  </p:transition>
  <p:hf hdr="0" ftr="0" dt="0"/>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5802"/>
            <a:ext cx="60374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756301"/>
            <a:ext cx="60374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B38264C2-173F-CC47-9A0F-0F38BFA6ABCE}"/>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9022977" y="3207401"/>
            <a:ext cx="2479346" cy="590893"/>
          </a:xfrm>
          <a:prstGeom prst="rect">
            <a:avLst/>
          </a:prstGeom>
        </p:spPr>
      </p:pic>
    </p:spTree>
    <p:extLst>
      <p:ext uri="{BB962C8B-B14F-4D97-AF65-F5344CB8AC3E}">
        <p14:creationId xmlns:p14="http://schemas.microsoft.com/office/powerpoint/2010/main" val="3542008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ftr="0" dt="0"/>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1002536"/>
      </p:ext>
    </p:extLst>
  </p:cSld>
  <p:clrMapOvr>
    <a:masterClrMapping/>
  </p:clrMapOvr>
  <p:transition>
    <p:fade/>
  </p:transition>
  <p:hf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userDrawn="1">
          <p15:clr>
            <a:srgbClr val="5ACBF0"/>
          </p15:clr>
        </p15:guide>
        <p15:guide id="29" orient="horz" pos="1080" userDrawn="1">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solidFill>
                <a:schemeClr val="tx1"/>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7752EF15-430C-A84B-9A5E-863425F35C2B}"/>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56232" y="2847538"/>
            <a:ext cx="4879537" cy="1162923"/>
          </a:xfrm>
          <a:prstGeom prst="rect">
            <a:avLst/>
          </a:prstGeom>
        </p:spPr>
      </p:pic>
    </p:spTree>
    <p:extLst>
      <p:ext uri="{BB962C8B-B14F-4D97-AF65-F5344CB8AC3E}">
        <p14:creationId xmlns:p14="http://schemas.microsoft.com/office/powerpoint/2010/main" val="3233785778"/>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heme" Target="../theme/theme2.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Picture 47">
            <a:extLst>
              <a:ext uri="{FF2B5EF4-FFF2-40B4-BE49-F238E27FC236}">
                <a16:creationId xmlns:a16="http://schemas.microsoft.com/office/drawing/2014/main" id="{2548C20C-E4BC-8642-84C1-11BE8A0136B5}"/>
              </a:ext>
            </a:extLst>
          </p:cNvPr>
          <p:cNvPicPr>
            <a:picLocks noChangeAspect="1"/>
          </p:cNvPicPr>
          <p:nvPr userDrawn="1"/>
        </p:nvPicPr>
        <p:blipFill>
          <a:blip r:embed="rId27">
            <a:extLst>
              <a:ext uri="{BEBA8EAE-BF5A-486C-A8C5-ECC9F3942E4B}">
                <a14:imgProps xmlns:a14="http://schemas.microsoft.com/office/drawing/2010/main">
                  <a14:imgLayer r:embed="rId28">
                    <a14:imgEffect>
                      <a14:brightnessContrast bright="100000"/>
                    </a14:imgEffect>
                  </a14:imgLayer>
                </a14:imgProps>
              </a:ext>
            </a:extLst>
          </a:blip>
          <a:stretch>
            <a:fillRect/>
          </a:stretch>
        </p:blipFill>
        <p:spPr>
          <a:xfrm>
            <a:off x="11410466" y="6561727"/>
            <a:ext cx="645078" cy="153740"/>
          </a:xfrm>
          <a:prstGeom prst="rect">
            <a:avLst/>
          </a:prstGeom>
        </p:spPr>
      </p:pic>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hl">
            <a:extLst>
              <a:ext uri="{FF2B5EF4-FFF2-40B4-BE49-F238E27FC236}">
                <a16:creationId xmlns:a16="http://schemas.microsoft.com/office/drawing/2014/main" id="{A444ED71-AD28-40CE-8E9B-7D529A57CDA3}"/>
              </a:ext>
            </a:extLst>
          </p:cNvPr>
          <p:cNvSpPr txBox="1"/>
          <p:nvPr userDrawn="1"/>
        </p:nvSpPr>
        <p:spPr>
          <a:xfrm>
            <a:off x="0" y="0"/>
            <a:ext cx="12192000" cy="276999"/>
          </a:xfrm>
          <a:prstGeom prst="rect">
            <a:avLst/>
          </a:prstGeom>
          <a:noFill/>
        </p:spPr>
        <p:txBody>
          <a:bodyPr vert="horz" wrap="square" lIns="0" tIns="0" rIns="0" bIns="0" rtlCol="0">
            <a:spAutoFit/>
          </a:bodyPr>
          <a:lstStyle/>
          <a:p>
            <a:pPr algn="l">
              <a:buClr>
                <a:schemeClr val="accent1"/>
              </a:buClr>
              <a:buSzPct val="60000"/>
            </a:pPr>
            <a:endParaRPr lang="en-US" sz="1800" dirty="0">
              <a:solidFill>
                <a:schemeClr val="tx1"/>
              </a:solidFill>
            </a:endParaRPr>
          </a:p>
        </p:txBody>
      </p:sp>
      <p:sp>
        <p:nvSpPr>
          <p:cNvPr id="8" name="fl">
            <a:extLst>
              <a:ext uri="{FF2B5EF4-FFF2-40B4-BE49-F238E27FC236}">
                <a16:creationId xmlns:a16="http://schemas.microsoft.com/office/drawing/2014/main" id="{43E5A9FB-C01D-46CE-8F35-6EA9268859D0}"/>
              </a:ext>
            </a:extLst>
          </p:cNvPr>
          <p:cNvSpPr txBox="1"/>
          <p:nvPr userDrawn="1"/>
        </p:nvSpPr>
        <p:spPr>
          <a:xfrm>
            <a:off x="0" y="6520180"/>
            <a:ext cx="12192000" cy="276999"/>
          </a:xfrm>
          <a:prstGeom prst="rect">
            <a:avLst/>
          </a:prstGeom>
          <a:noFill/>
        </p:spPr>
        <p:txBody>
          <a:bodyPr vert="horz" wrap="square" lIns="0" tIns="0" rIns="0" bIns="0" rtlCol="0">
            <a:spAutoFit/>
          </a:bodyPr>
          <a:lstStyle/>
          <a:p>
            <a:pPr algn="l">
              <a:buClr>
                <a:schemeClr val="accent1"/>
              </a:buClr>
              <a:buSzPct val="60000"/>
            </a:pPr>
            <a:endParaRPr lang="en-US" sz="1800" dirty="0">
              <a:solidFill>
                <a:schemeClr val="tx1"/>
              </a:solidFill>
            </a:endParaRP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833" r:id="rId2"/>
    <p:sldLayoutId id="2147484710" r:id="rId3"/>
    <p:sldLayoutId id="2147484240" r:id="rId4"/>
    <p:sldLayoutId id="2147484736" r:id="rId5"/>
    <p:sldLayoutId id="2147484474" r:id="rId6"/>
    <p:sldLayoutId id="2147484639" r:id="rId7"/>
    <p:sldLayoutId id="2147484603" r:id="rId8"/>
    <p:sldLayoutId id="2147484919" r:id="rId9"/>
    <p:sldLayoutId id="2147484751" r:id="rId10"/>
    <p:sldLayoutId id="2147484914" r:id="rId11"/>
    <p:sldLayoutId id="2147484835" r:id="rId12"/>
    <p:sldLayoutId id="2147484836" r:id="rId13"/>
    <p:sldLayoutId id="2147484837" r:id="rId14"/>
    <p:sldLayoutId id="2147484838" r:id="rId15"/>
    <p:sldLayoutId id="2147484923" r:id="rId16"/>
    <p:sldLayoutId id="2147484925" r:id="rId17"/>
    <p:sldLayoutId id="2147484839" r:id="rId18"/>
    <p:sldLayoutId id="2147484922" r:id="rId19"/>
    <p:sldLayoutId id="2147484783" r:id="rId20"/>
    <p:sldLayoutId id="2147484784" r:id="rId21"/>
    <p:sldLayoutId id="2147484787" r:id="rId22"/>
    <p:sldLayoutId id="2147484249" r:id="rId23"/>
    <p:sldLayoutId id="2147484671" r:id="rId24"/>
    <p:sldLayoutId id="2147484299" r:id="rId25"/>
  </p:sldLayoutIdLst>
  <p:transition>
    <p:fade/>
  </p:transition>
  <p:hf hdr="0" ft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solidFill>
                <a:schemeClr val="tx1"/>
              </a:solidFill>
              <a:ea typeface="Segoe UI" pitchFamily="34" charset="0"/>
              <a:cs typeface="Segoe UI" pitchFamily="34" charset="0"/>
            </a:endParaRPr>
          </a:p>
        </p:txBody>
      </p:sp>
      <p:pic>
        <p:nvPicPr>
          <p:cNvPr id="52" name="Picture 51">
            <a:extLst>
              <a:ext uri="{FF2B5EF4-FFF2-40B4-BE49-F238E27FC236}">
                <a16:creationId xmlns:a16="http://schemas.microsoft.com/office/drawing/2014/main" id="{37D7AC4D-9491-4E01-B00E-358B03A637B8}"/>
              </a:ext>
            </a:extLst>
          </p:cNvPr>
          <p:cNvPicPr>
            <a:picLocks noChangeAspect="1"/>
          </p:cNvPicPr>
          <p:nvPr userDrawn="1"/>
        </p:nvPicPr>
        <p:blipFill>
          <a:blip r:embed="rId27"/>
          <a:stretch>
            <a:fillRect/>
          </a:stretch>
        </p:blipFill>
        <p:spPr>
          <a:xfrm>
            <a:off x="11410466" y="6561727"/>
            <a:ext cx="645078" cy="153740"/>
          </a:xfrm>
          <a:prstGeom prst="rect">
            <a:avLst/>
          </a:prstGeom>
        </p:spPr>
      </p:pic>
      <p:sp>
        <p:nvSpPr>
          <p:cNvPr id="5" name="hl">
            <a:extLst>
              <a:ext uri="{FF2B5EF4-FFF2-40B4-BE49-F238E27FC236}">
                <a16:creationId xmlns:a16="http://schemas.microsoft.com/office/drawing/2014/main" id="{AFF49551-1D66-45C6-A611-FBACD3192323}"/>
              </a:ext>
            </a:extLst>
          </p:cNvPr>
          <p:cNvSpPr txBox="1"/>
          <p:nvPr userDrawn="1"/>
        </p:nvSpPr>
        <p:spPr>
          <a:xfrm>
            <a:off x="0" y="0"/>
            <a:ext cx="12192000" cy="276999"/>
          </a:xfrm>
          <a:prstGeom prst="rect">
            <a:avLst/>
          </a:prstGeom>
          <a:noFill/>
        </p:spPr>
        <p:txBody>
          <a:bodyPr vert="horz" wrap="square" lIns="0" tIns="0" rIns="0" bIns="0" rtlCol="0">
            <a:spAutoFit/>
          </a:bodyPr>
          <a:lstStyle/>
          <a:p>
            <a:pPr algn="l">
              <a:buClr>
                <a:schemeClr val="accent1"/>
              </a:buClr>
              <a:buSzPct val="60000"/>
            </a:pPr>
            <a:endParaRPr lang="en-US" sz="1800" dirty="0" err="1">
              <a:solidFill>
                <a:schemeClr val="tx1"/>
              </a:solidFill>
            </a:endParaRPr>
          </a:p>
        </p:txBody>
      </p:sp>
      <p:sp>
        <p:nvSpPr>
          <p:cNvPr id="8" name="fl">
            <a:extLst>
              <a:ext uri="{FF2B5EF4-FFF2-40B4-BE49-F238E27FC236}">
                <a16:creationId xmlns:a16="http://schemas.microsoft.com/office/drawing/2014/main" id="{77DD0C1B-0A68-4F01-899D-BEBB1EB34507}"/>
              </a:ext>
            </a:extLst>
          </p:cNvPr>
          <p:cNvSpPr txBox="1"/>
          <p:nvPr userDrawn="1"/>
        </p:nvSpPr>
        <p:spPr>
          <a:xfrm>
            <a:off x="0" y="6520180"/>
            <a:ext cx="12192000" cy="276999"/>
          </a:xfrm>
          <a:prstGeom prst="rect">
            <a:avLst/>
          </a:prstGeom>
          <a:noFill/>
        </p:spPr>
        <p:txBody>
          <a:bodyPr vert="horz" wrap="square" lIns="0" tIns="0" rIns="0" bIns="0" rtlCol="0">
            <a:spAutoFit/>
          </a:bodyPr>
          <a:lstStyle/>
          <a:p>
            <a:pPr algn="l">
              <a:buClr>
                <a:schemeClr val="accent1"/>
              </a:buClr>
              <a:buSzPct val="60000"/>
            </a:pPr>
            <a:endParaRPr lang="en-US" sz="1800" dirty="0" err="1">
              <a:solidFill>
                <a:schemeClr val="tx1"/>
              </a:solidFill>
            </a:endParaRPr>
          </a:p>
        </p:txBody>
      </p:sp>
    </p:spTree>
    <p:extLst>
      <p:ext uri="{BB962C8B-B14F-4D97-AF65-F5344CB8AC3E}">
        <p14:creationId xmlns:p14="http://schemas.microsoft.com/office/powerpoint/2010/main" val="2502060064"/>
      </p:ext>
    </p:extLst>
  </p:cSld>
  <p:clrMap bg1="lt1" tx1="dk1" bg2="lt2" tx2="dk2" accent1="accent1" accent2="accent2" accent3="accent3" accent4="accent4" accent5="accent5" accent6="accent6" hlink="hlink" folHlink="folHlink"/>
  <p:sldLayoutIdLst>
    <p:sldLayoutId id="2147484927" r:id="rId1"/>
    <p:sldLayoutId id="2147484928" r:id="rId2"/>
    <p:sldLayoutId id="2147484929" r:id="rId3"/>
    <p:sldLayoutId id="2147484930" r:id="rId4"/>
    <p:sldLayoutId id="2147484931" r:id="rId5"/>
    <p:sldLayoutId id="2147484932" r:id="rId6"/>
    <p:sldLayoutId id="2147484933" r:id="rId7"/>
    <p:sldLayoutId id="2147484934" r:id="rId8"/>
    <p:sldLayoutId id="2147484935" r:id="rId9"/>
    <p:sldLayoutId id="2147484936" r:id="rId10"/>
    <p:sldLayoutId id="2147484937" r:id="rId11"/>
    <p:sldLayoutId id="2147484938" r:id="rId12"/>
    <p:sldLayoutId id="2147484939" r:id="rId13"/>
    <p:sldLayoutId id="2147484940" r:id="rId14"/>
    <p:sldLayoutId id="2147484941" r:id="rId15"/>
    <p:sldLayoutId id="2147484942" r:id="rId16"/>
    <p:sldLayoutId id="2147484943" r:id="rId17"/>
    <p:sldLayoutId id="2147484944" r:id="rId18"/>
    <p:sldLayoutId id="2147484945" r:id="rId19"/>
    <p:sldLayoutId id="2147484946" r:id="rId20"/>
    <p:sldLayoutId id="2147484947" r:id="rId21"/>
    <p:sldLayoutId id="2147484948" r:id="rId22"/>
    <p:sldLayoutId id="2147484949" r:id="rId23"/>
    <p:sldLayoutId id="2147484950" r:id="rId24"/>
    <p:sldLayoutId id="2147484953" r:id="rId25"/>
  </p:sldLayoutIdLst>
  <p:transition>
    <p:fade/>
  </p:transition>
  <p:hf hdr="0" ft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6.xml"/><Relationship Id="rId1" Type="http://schemas.openxmlformats.org/officeDocument/2006/relationships/customXml" Target="../../customXml/item9.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3379A1-CAC6-4EF9-B370-94433CB7841A}"/>
              </a:ext>
            </a:extLst>
          </p:cNvPr>
          <p:cNvSpPr>
            <a:spLocks noGrp="1"/>
          </p:cNvSpPr>
          <p:nvPr>
            <p:ph type="title"/>
          </p:nvPr>
        </p:nvSpPr>
        <p:spPr>
          <a:xfrm>
            <a:off x="584199" y="2897746"/>
            <a:ext cx="9203375" cy="2118192"/>
          </a:xfrm>
        </p:spPr>
        <p:txBody>
          <a:bodyPr/>
          <a:lstStyle/>
          <a:p>
            <a:r>
              <a:rPr dirty="0"/>
              <a:t>PYNQ 501: Computer Vision</a:t>
            </a:r>
            <a:br>
              <a:rPr dirty="0"/>
            </a:br>
            <a:r>
              <a:rPr lang="en-US" dirty="0"/>
              <a:t>Presenter: Brady Schmelling</a:t>
            </a:r>
          </a:p>
          <a:p>
            <a:r>
              <a:rPr dirty="0"/>
              <a:t>PYNQ Bootcamp 2026</a:t>
            </a:r>
            <a:br>
              <a:rPr dirty="0"/>
            </a:br>
            <a:r>
              <a:rPr lang="en-US" dirty="0"/>
              <a:t>7/29 9:30 - 10:45</a:t>
            </a:r>
            <a:endParaRPr dirty="0"/>
          </a:p>
        </p:txBody>
      </p:sp>
    </p:spTree>
    <p:custDataLst>
      <p:custData r:id="rId1"/>
      <p:custData r:id="rId2"/>
    </p:custDataLst>
    <p:extLst>
      <p:ext uri="{BB962C8B-B14F-4D97-AF65-F5344CB8AC3E}">
        <p14:creationId xmlns:p14="http://schemas.microsoft.com/office/powerpoint/2010/main" val="2180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Computer Vision?</a:t>
            </a:r>
          </a:p>
        </p:txBody>
      </p:sp>
      <p:sp>
        <p:nvSpPr>
          <p:cNvPr id="3" name="TextBox 2"/>
          <p:cNvSpPr txBox="1"/>
          <p:nvPr/>
        </p:nvSpPr>
        <p:spPr>
          <a:xfrm>
            <a:off x="585216" y="1371600"/>
            <a:ext cx="7193623" cy="5175776"/>
          </a:xfrm>
          <a:prstGeom prst="rect">
            <a:avLst/>
          </a:prstGeom>
          <a:noFill/>
        </p:spPr>
        <p:txBody>
          <a:bodyPr wrap="square">
            <a:spAutoFit/>
          </a:bodyPr>
          <a:lstStyle/>
          <a:p>
            <a:pPr>
              <a:spcAft>
                <a:spcPts val="1400"/>
              </a:spcAft>
            </a:pPr>
            <a:r>
              <a:rPr sz="2400" dirty="0"/>
              <a:t>• You and I look at a picture and instantly understand it </a:t>
            </a:r>
            <a:r>
              <a:rPr lang="en-US" sz="2400" dirty="0"/>
              <a:t>- </a:t>
            </a:r>
            <a:r>
              <a:rPr sz="2400" dirty="0"/>
              <a:t>a cat, a stop sign, a friend's face</a:t>
            </a:r>
          </a:p>
          <a:p>
            <a:pPr>
              <a:spcAft>
                <a:spcPts val="1400"/>
              </a:spcAft>
            </a:pPr>
            <a:r>
              <a:rPr sz="2400" dirty="0"/>
              <a:t>• A computer just sees a grid of numbers. It has no idea what those numbers mean</a:t>
            </a:r>
          </a:p>
          <a:p>
            <a:pPr>
              <a:spcAft>
                <a:spcPts val="1400"/>
              </a:spcAft>
            </a:pPr>
            <a:r>
              <a:rPr sz="2400" dirty="0"/>
              <a:t>• Computer Vision is </a:t>
            </a:r>
            <a:r>
              <a:rPr lang="en-US" sz="2400" dirty="0"/>
              <a:t>taking that data and transforming it into something the computer can use</a:t>
            </a:r>
            <a:endParaRPr sz="2400" dirty="0"/>
          </a:p>
          <a:p>
            <a:pPr>
              <a:spcAft>
                <a:spcPts val="1400"/>
              </a:spcAft>
            </a:pPr>
            <a:r>
              <a:rPr sz="2400" dirty="0"/>
              <a:t>• </a:t>
            </a:r>
            <a:r>
              <a:rPr lang="en-US" sz="2400" dirty="0"/>
              <a:t>Difference between computer vision and CNNs</a:t>
            </a:r>
            <a:r>
              <a:rPr sz="2400" dirty="0"/>
              <a:t>:</a:t>
            </a:r>
          </a:p>
          <a:p>
            <a:pPr lvl="1">
              <a:spcAft>
                <a:spcPts val="1400"/>
              </a:spcAft>
            </a:pPr>
            <a:r>
              <a:rPr sz="2200" dirty="0"/>
              <a:t>   – </a:t>
            </a:r>
            <a:r>
              <a:rPr sz="1800" dirty="0"/>
              <a:t>Classic Computer Vision (today!) </a:t>
            </a:r>
            <a:r>
              <a:rPr lang="en-US" sz="1800" dirty="0"/>
              <a:t>- </a:t>
            </a:r>
            <a:r>
              <a:rPr sz="1800" dirty="0"/>
              <a:t>step-by-step math ‘recipes’ written by humans</a:t>
            </a:r>
          </a:p>
          <a:p>
            <a:pPr lvl="1">
              <a:spcAft>
                <a:spcPts val="1400"/>
              </a:spcAft>
            </a:pPr>
            <a:r>
              <a:rPr sz="2200" dirty="0"/>
              <a:t>   – </a:t>
            </a:r>
            <a:r>
              <a:rPr sz="1800" dirty="0"/>
              <a:t>CNNs (Convolutional Neural Networks) </a:t>
            </a:r>
            <a:r>
              <a:rPr lang="en-US" sz="1800" dirty="0"/>
              <a:t>- </a:t>
            </a:r>
            <a:r>
              <a:rPr sz="1800" dirty="0"/>
              <a:t>the computer learns the recipe itself from examples</a:t>
            </a:r>
          </a:p>
        </p:txBody>
      </p:sp>
      <p:pic>
        <p:nvPicPr>
          <p:cNvPr id="5" name="Picture 4">
            <a:extLst>
              <a:ext uri="{FF2B5EF4-FFF2-40B4-BE49-F238E27FC236}">
                <a16:creationId xmlns:a16="http://schemas.microsoft.com/office/drawing/2014/main" id="{FB82A219-2FE1-132C-BE83-B39AA18DE53D}"/>
              </a:ext>
            </a:extLst>
          </p:cNvPr>
          <p:cNvPicPr>
            <a:picLocks noChangeAspect="1"/>
          </p:cNvPicPr>
          <p:nvPr/>
        </p:nvPicPr>
        <p:blipFill>
          <a:blip r:embed="rId2"/>
          <a:stretch>
            <a:fillRect/>
          </a:stretch>
        </p:blipFill>
        <p:spPr>
          <a:xfrm>
            <a:off x="8108931" y="469089"/>
            <a:ext cx="3494806" cy="3490399"/>
          </a:xfrm>
          <a:prstGeom prst="rect">
            <a:avLst/>
          </a:prstGeom>
        </p:spPr>
      </p:pic>
      <p:sp>
        <p:nvSpPr>
          <p:cNvPr id="7" name="TextBox 6">
            <a:extLst>
              <a:ext uri="{FF2B5EF4-FFF2-40B4-BE49-F238E27FC236}">
                <a16:creationId xmlns:a16="http://schemas.microsoft.com/office/drawing/2014/main" id="{B99B0A1A-AFAF-F442-C141-B90C90CEE494}"/>
              </a:ext>
            </a:extLst>
          </p:cNvPr>
          <p:cNvSpPr txBox="1"/>
          <p:nvPr/>
        </p:nvSpPr>
        <p:spPr>
          <a:xfrm>
            <a:off x="7778839" y="4082189"/>
            <a:ext cx="4114800" cy="523220"/>
          </a:xfrm>
          <a:prstGeom prst="rect">
            <a:avLst/>
          </a:prstGeom>
          <a:noFill/>
        </p:spPr>
        <p:txBody>
          <a:bodyPr wrap="square">
            <a:spAutoFit/>
          </a:bodyPr>
          <a:lstStyle/>
          <a:p>
            <a:pPr algn="ctr"/>
            <a:r>
              <a:rPr lang="en-US" sz="1400" i="1" dirty="0"/>
              <a:t>Pixels with RGB values overlaid. We will visit this again on a later slide</a:t>
            </a:r>
            <a:endParaRPr sz="14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This Matters For the Competition</a:t>
            </a:r>
          </a:p>
        </p:txBody>
      </p:sp>
      <p:sp>
        <p:nvSpPr>
          <p:cNvPr id="3" name="TextBox 2"/>
          <p:cNvSpPr txBox="1"/>
          <p:nvPr/>
        </p:nvSpPr>
        <p:spPr>
          <a:xfrm>
            <a:off x="585216" y="1325880"/>
            <a:ext cx="6675120" cy="2585323"/>
          </a:xfrm>
          <a:prstGeom prst="rect">
            <a:avLst/>
          </a:prstGeom>
          <a:noFill/>
        </p:spPr>
        <p:txBody>
          <a:bodyPr wrap="square">
            <a:spAutoFit/>
          </a:bodyPr>
          <a:lstStyle/>
          <a:p>
            <a:pPr marL="342900" indent="-342900">
              <a:spcAft>
                <a:spcPts val="900"/>
              </a:spcAft>
              <a:buFont typeface="Arial" panose="020B0604020202020204" pitchFamily="34" charset="0"/>
              <a:buChar char="•"/>
            </a:pPr>
            <a:r>
              <a:rPr lang="en-US" sz="2100" dirty="0"/>
              <a:t>CNNs are only as good as the data you feed into them</a:t>
            </a:r>
          </a:p>
          <a:p>
            <a:pPr marL="342900" indent="-342900">
              <a:spcAft>
                <a:spcPts val="900"/>
              </a:spcAft>
              <a:buFont typeface="Arial" panose="020B0604020202020204" pitchFamily="34" charset="0"/>
              <a:buChar char="•"/>
            </a:pPr>
            <a:r>
              <a:rPr lang="en-US" sz="2100" dirty="0"/>
              <a:t>If you can help focus what the computer “sees”  the CNN will perform more faster and more reliably</a:t>
            </a:r>
          </a:p>
          <a:p>
            <a:pPr marL="342900" indent="-342900">
              <a:spcAft>
                <a:spcPts val="900"/>
              </a:spcAft>
              <a:buFont typeface="Arial" panose="020B0604020202020204" pitchFamily="34" charset="0"/>
              <a:buChar char="•"/>
            </a:pPr>
            <a:r>
              <a:rPr lang="en-US" sz="2100" dirty="0"/>
              <a:t>If you get the chance to include some of these in your project </a:t>
            </a:r>
            <a:r>
              <a:rPr lang="en-US" sz="2100"/>
              <a:t>your CNN </a:t>
            </a:r>
            <a:r>
              <a:rPr lang="en-US" sz="2100" dirty="0"/>
              <a:t>model may run faster and detect more reliably</a:t>
            </a:r>
          </a:p>
        </p:txBody>
      </p:sp>
      <p:pic>
        <p:nvPicPr>
          <p:cNvPr id="4" name="Picture 3" descr="pynq301_multi_detect.png"/>
          <p:cNvPicPr>
            <a:picLocks noChangeAspect="1"/>
          </p:cNvPicPr>
          <p:nvPr/>
        </p:nvPicPr>
        <p:blipFill>
          <a:blip r:embed="rId2"/>
          <a:stretch>
            <a:fillRect/>
          </a:stretch>
        </p:blipFill>
        <p:spPr>
          <a:xfrm>
            <a:off x="7452360" y="1554480"/>
            <a:ext cx="4114800" cy="3066317"/>
          </a:xfrm>
          <a:prstGeom prst="rect">
            <a:avLst/>
          </a:prstGeom>
        </p:spPr>
      </p:pic>
      <p:sp>
        <p:nvSpPr>
          <p:cNvPr id="5" name="TextBox 4"/>
          <p:cNvSpPr txBox="1"/>
          <p:nvPr/>
        </p:nvSpPr>
        <p:spPr>
          <a:xfrm>
            <a:off x="7452360" y="4712237"/>
            <a:ext cx="4114800" cy="640080"/>
          </a:xfrm>
          <a:prstGeom prst="rect">
            <a:avLst/>
          </a:prstGeom>
          <a:noFill/>
        </p:spPr>
        <p:txBody>
          <a:bodyPr wrap="square">
            <a:spAutoFit/>
          </a:bodyPr>
          <a:lstStyle/>
          <a:p>
            <a:pPr algn="ctr"/>
            <a:r>
              <a:rPr sz="1400" i="1" dirty="0"/>
              <a:t>Real YOLOv3 output from PYNQ 301 — one photo, three objects found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OpenCV</a:t>
            </a:r>
          </a:p>
        </p:txBody>
      </p:sp>
      <p:sp>
        <p:nvSpPr>
          <p:cNvPr id="3" name="Text Placeholder 2"/>
          <p:cNvSpPr>
            <a:spLocks noGrp="1"/>
          </p:cNvSpPr>
          <p:nvPr>
            <p:ph type="body" sz="quarter" idx="13"/>
          </p:nvPr>
        </p:nvSpPr>
        <p:spPr/>
        <p:txBody>
          <a:bodyPr wrap="square"/>
          <a:lstStyle/>
          <a:p>
            <a:pPr>
              <a:spcAft>
                <a:spcPts val="1000"/>
              </a:spcAft>
            </a:pPr>
            <a:r>
              <a:rPr sz="2000" dirty="0"/>
              <a:t>• OpenCV is a</a:t>
            </a:r>
            <a:r>
              <a:rPr lang="en-US" sz="2000" dirty="0"/>
              <a:t>n</a:t>
            </a:r>
            <a:r>
              <a:rPr sz="2000" dirty="0"/>
              <a:t> open-source toolbox of computer vision building blocks.</a:t>
            </a:r>
          </a:p>
          <a:p>
            <a:pPr>
              <a:spcAft>
                <a:spcPts val="1000"/>
              </a:spcAft>
            </a:pPr>
            <a:r>
              <a:rPr sz="2000" dirty="0"/>
              <a:t>• It's used in robots, phones, self-driving cars, drones, and video games.</a:t>
            </a:r>
          </a:p>
          <a:p>
            <a:pPr>
              <a:spcAft>
                <a:spcPts val="1000"/>
              </a:spcAft>
            </a:pPr>
            <a:r>
              <a:rPr sz="2000" dirty="0"/>
              <a:t>• Today we'll use it in Python to explore this mosaic image.</a:t>
            </a:r>
          </a:p>
          <a:p>
            <a:pPr>
              <a:spcAft>
                <a:spcPts val="1000"/>
              </a:spcAft>
            </a:pPr>
            <a:r>
              <a:rPr sz="2000" dirty="0"/>
              <a:t>• Every trick we learn works the same way on any picture </a:t>
            </a:r>
            <a:r>
              <a:rPr lang="en-US" sz="2000" dirty="0"/>
              <a:t>-</a:t>
            </a:r>
            <a:r>
              <a:rPr sz="2000" dirty="0"/>
              <a:t> or on video from a camera!</a:t>
            </a:r>
          </a:p>
        </p:txBody>
      </p:sp>
      <p:pic>
        <p:nvPicPr>
          <p:cNvPr id="4" name="Picture 3" descr="orig.png"/>
          <p:cNvPicPr>
            <a:picLocks noChangeAspect="1"/>
          </p:cNvPicPr>
          <p:nvPr/>
        </p:nvPicPr>
        <p:blipFill>
          <a:blip r:embed="rId2"/>
          <a:stretch>
            <a:fillRect/>
          </a:stretch>
        </p:blipFill>
        <p:spPr>
          <a:xfrm>
            <a:off x="582612" y="1438878"/>
            <a:ext cx="7253288" cy="48279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Pictures Are Just Numbers</a:t>
            </a:r>
          </a:p>
        </p:txBody>
      </p:sp>
      <p:sp>
        <p:nvSpPr>
          <p:cNvPr id="3" name="Text Placeholder 2"/>
          <p:cNvSpPr>
            <a:spLocks noGrp="1"/>
          </p:cNvSpPr>
          <p:nvPr>
            <p:ph type="body" sz="quarter" idx="13"/>
          </p:nvPr>
        </p:nvSpPr>
        <p:spPr/>
        <p:txBody>
          <a:bodyPr wrap="square">
            <a:normAutofit lnSpcReduction="10000"/>
          </a:bodyPr>
          <a:lstStyle/>
          <a:p>
            <a:pPr>
              <a:spcAft>
                <a:spcPts val="1000"/>
              </a:spcAft>
            </a:pPr>
            <a:r>
              <a:rPr sz="2000" dirty="0"/>
              <a:t>• Zoom in far enough and every image is a grid of tiny squares called pixels.</a:t>
            </a:r>
          </a:p>
          <a:p>
            <a:pPr>
              <a:spcAft>
                <a:spcPts val="1000"/>
              </a:spcAft>
            </a:pPr>
            <a:r>
              <a:rPr sz="2000" dirty="0"/>
              <a:t>• Each pixel stores 3 numbers: how much Red, Green, and Blue light it has (0–255).</a:t>
            </a:r>
          </a:p>
          <a:p>
            <a:pPr>
              <a:spcAft>
                <a:spcPts val="1000"/>
              </a:spcAft>
            </a:pPr>
            <a:r>
              <a:rPr sz="2000" dirty="0"/>
              <a:t>• Our full mosaic image is a grid of 426 x 640 pixels, each with 3 color numbers — that's over 800,000 numbers!</a:t>
            </a:r>
          </a:p>
          <a:p>
            <a:pPr>
              <a:spcAft>
                <a:spcPts val="1000"/>
              </a:spcAft>
            </a:pPr>
            <a:r>
              <a:rPr sz="2000" dirty="0"/>
              <a:t>• Every OpenCV trick today is </a:t>
            </a:r>
            <a:r>
              <a:rPr lang="en-US" sz="2000" dirty="0"/>
              <a:t>just</a:t>
            </a:r>
            <a:r>
              <a:rPr sz="2000" dirty="0"/>
              <a:t> math applied to this big grid of numbers.</a:t>
            </a:r>
          </a:p>
        </p:txBody>
      </p:sp>
      <p:pic>
        <p:nvPicPr>
          <p:cNvPr id="4" name="Picture 3" descr="pixel_grid.png"/>
          <p:cNvPicPr>
            <a:picLocks noChangeAspect="1"/>
          </p:cNvPicPr>
          <p:nvPr/>
        </p:nvPicPr>
        <p:blipFill>
          <a:blip r:embed="rId2"/>
          <a:stretch>
            <a:fillRect/>
          </a:stretch>
        </p:blipFill>
        <p:spPr>
          <a:xfrm>
            <a:off x="1793081" y="1436688"/>
            <a:ext cx="4832350" cy="4832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algn="ctr"/>
            <a:r>
              <a:rPr sz="1800" b="1"/>
              <a:t>Correct order: Red, Green, Blue</a:t>
            </a:r>
          </a:p>
        </p:txBody>
      </p:sp>
      <p:sp>
        <p:nvSpPr>
          <p:cNvPr id="4" name="Text Placeholder 3"/>
          <p:cNvSpPr>
            <a:spLocks noGrp="1"/>
          </p:cNvSpPr>
          <p:nvPr>
            <p:ph type="body" sz="quarter" idx="18"/>
          </p:nvPr>
        </p:nvSpPr>
        <p:spPr/>
        <p:txBody>
          <a:bodyPr/>
          <a:lstStyle/>
          <a:p>
            <a:pPr algn="ctr"/>
            <a:r>
              <a:rPr sz="1800" b="1"/>
              <a:t>Mixed up: Blue and Red swapped</a:t>
            </a:r>
          </a:p>
        </p:txBody>
      </p:sp>
      <p:sp>
        <p:nvSpPr>
          <p:cNvPr id="6" name="Title 5"/>
          <p:cNvSpPr>
            <a:spLocks noGrp="1"/>
          </p:cNvSpPr>
          <p:nvPr>
            <p:ph type="title"/>
          </p:nvPr>
        </p:nvSpPr>
        <p:spPr/>
        <p:txBody>
          <a:bodyPr/>
          <a:lstStyle/>
          <a:p>
            <a:r>
              <a:t>OpenCV's Secret: It Stores Colors Backwards!</a:t>
            </a:r>
          </a:p>
        </p:txBody>
      </p:sp>
      <p:pic>
        <p:nvPicPr>
          <p:cNvPr id="7" name="Picture 6" descr="orig.png"/>
          <p:cNvPicPr>
            <a:picLocks noChangeAspect="1"/>
          </p:cNvPicPr>
          <p:nvPr/>
        </p:nvPicPr>
        <p:blipFill>
          <a:blip r:embed="rId3"/>
          <a:stretch>
            <a:fillRect/>
          </a:stretch>
        </p:blipFill>
        <p:spPr>
          <a:xfrm>
            <a:off x="656258" y="1822077"/>
            <a:ext cx="5220236" cy="3474720"/>
          </a:xfrm>
          <a:prstGeom prst="rect">
            <a:avLst/>
          </a:prstGeom>
        </p:spPr>
      </p:pic>
      <p:pic>
        <p:nvPicPr>
          <p:cNvPr id="8" name="Picture 7" descr="channels_swapped.png"/>
          <p:cNvPicPr>
            <a:picLocks noChangeAspect="1"/>
          </p:cNvPicPr>
          <p:nvPr/>
        </p:nvPicPr>
        <p:blipFill>
          <a:blip r:embed="rId4"/>
          <a:stretch>
            <a:fillRect/>
          </a:stretch>
        </p:blipFill>
        <p:spPr>
          <a:xfrm>
            <a:off x="6312901" y="1822077"/>
            <a:ext cx="5220236" cy="3474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algn="ctr"/>
            <a:r>
              <a:rPr sz="1800" b="1"/>
              <a:t>Original (3 numbers per pixel)</a:t>
            </a:r>
          </a:p>
        </p:txBody>
      </p:sp>
      <p:sp>
        <p:nvSpPr>
          <p:cNvPr id="4" name="Text Placeholder 3"/>
          <p:cNvSpPr>
            <a:spLocks noGrp="1"/>
          </p:cNvSpPr>
          <p:nvPr>
            <p:ph type="body" sz="quarter" idx="18"/>
          </p:nvPr>
        </p:nvSpPr>
        <p:spPr/>
        <p:txBody>
          <a:bodyPr/>
          <a:lstStyle/>
          <a:p>
            <a:pPr algn="ctr"/>
            <a:r>
              <a:rPr sz="1800" b="1"/>
              <a:t>Grayscale (1 number per pixel)</a:t>
            </a:r>
          </a:p>
        </p:txBody>
      </p:sp>
      <p:sp>
        <p:nvSpPr>
          <p:cNvPr id="6" name="Title 5"/>
          <p:cNvSpPr>
            <a:spLocks noGrp="1"/>
          </p:cNvSpPr>
          <p:nvPr>
            <p:ph type="title"/>
          </p:nvPr>
        </p:nvSpPr>
        <p:spPr/>
        <p:txBody>
          <a:bodyPr/>
          <a:lstStyle/>
          <a:p>
            <a:r>
              <a:t>Grayscale: Removing the Color</a:t>
            </a:r>
          </a:p>
        </p:txBody>
      </p:sp>
      <p:pic>
        <p:nvPicPr>
          <p:cNvPr id="7" name="Picture 6" descr="orig.png"/>
          <p:cNvPicPr>
            <a:picLocks noChangeAspect="1"/>
          </p:cNvPicPr>
          <p:nvPr/>
        </p:nvPicPr>
        <p:blipFill>
          <a:blip r:embed="rId3"/>
          <a:stretch>
            <a:fillRect/>
          </a:stretch>
        </p:blipFill>
        <p:spPr>
          <a:xfrm>
            <a:off x="656258" y="1822077"/>
            <a:ext cx="5220236" cy="3474720"/>
          </a:xfrm>
          <a:prstGeom prst="rect">
            <a:avLst/>
          </a:prstGeom>
        </p:spPr>
      </p:pic>
      <p:pic>
        <p:nvPicPr>
          <p:cNvPr id="8" name="Picture 7" descr="gray.png"/>
          <p:cNvPicPr>
            <a:picLocks noChangeAspect="1"/>
          </p:cNvPicPr>
          <p:nvPr/>
        </p:nvPicPr>
        <p:blipFill>
          <a:blip r:embed="rId4"/>
          <a:stretch>
            <a:fillRect/>
          </a:stretch>
        </p:blipFill>
        <p:spPr>
          <a:xfrm>
            <a:off x="6312901" y="1822077"/>
            <a:ext cx="5220236" cy="3474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algn="ctr"/>
            <a:r>
              <a:rPr sz="1800" b="1"/>
              <a:t>RGB: Red, Green, Blue amounts</a:t>
            </a:r>
          </a:p>
        </p:txBody>
      </p:sp>
      <p:sp>
        <p:nvSpPr>
          <p:cNvPr id="4" name="Text Placeholder 3"/>
          <p:cNvSpPr>
            <a:spLocks noGrp="1"/>
          </p:cNvSpPr>
          <p:nvPr>
            <p:ph type="body" sz="quarter" idx="18"/>
          </p:nvPr>
        </p:nvSpPr>
        <p:spPr/>
        <p:txBody>
          <a:bodyPr/>
          <a:lstStyle/>
          <a:p>
            <a:pPr algn="ctr"/>
            <a:r>
              <a:rPr sz="1800" b="1" dirty="0"/>
              <a:t>HSV numbers, shown as if R,G,B</a:t>
            </a:r>
          </a:p>
        </p:txBody>
      </p:sp>
      <p:sp>
        <p:nvSpPr>
          <p:cNvPr id="6" name="Title 5"/>
          <p:cNvSpPr>
            <a:spLocks noGrp="1"/>
          </p:cNvSpPr>
          <p:nvPr>
            <p:ph type="title"/>
          </p:nvPr>
        </p:nvSpPr>
        <p:spPr/>
        <p:txBody>
          <a:bodyPr/>
          <a:lstStyle/>
          <a:p>
            <a:r>
              <a:t>HSV: A Different Way to Describe Color</a:t>
            </a:r>
          </a:p>
        </p:txBody>
      </p:sp>
      <p:pic>
        <p:nvPicPr>
          <p:cNvPr id="7" name="Picture 6" descr="orig.png"/>
          <p:cNvPicPr>
            <a:picLocks noChangeAspect="1"/>
          </p:cNvPicPr>
          <p:nvPr/>
        </p:nvPicPr>
        <p:blipFill>
          <a:blip r:embed="rId3"/>
          <a:stretch>
            <a:fillRect/>
          </a:stretch>
        </p:blipFill>
        <p:spPr>
          <a:xfrm>
            <a:off x="656258" y="1822077"/>
            <a:ext cx="5220236" cy="3474720"/>
          </a:xfrm>
          <a:prstGeom prst="rect">
            <a:avLst/>
          </a:prstGeom>
        </p:spPr>
      </p:pic>
      <p:pic>
        <p:nvPicPr>
          <p:cNvPr id="8" name="Picture 7" descr="hsv.png"/>
          <p:cNvPicPr>
            <a:picLocks noChangeAspect="1"/>
          </p:cNvPicPr>
          <p:nvPr/>
        </p:nvPicPr>
        <p:blipFill>
          <a:blip r:embed="rId4"/>
          <a:stretch>
            <a:fillRect/>
          </a:stretch>
        </p:blipFill>
        <p:spPr>
          <a:xfrm>
            <a:off x="6312901" y="1822077"/>
            <a:ext cx="5220236" cy="3474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algn="ctr"/>
            <a:r>
              <a:rPr sz="1800" b="1"/>
              <a:t>Original image</a:t>
            </a:r>
          </a:p>
        </p:txBody>
      </p:sp>
      <p:sp>
        <p:nvSpPr>
          <p:cNvPr id="4" name="Text Placeholder 3"/>
          <p:cNvSpPr>
            <a:spLocks noGrp="1"/>
          </p:cNvSpPr>
          <p:nvPr>
            <p:ph type="body" sz="quarter" idx="18"/>
          </p:nvPr>
        </p:nvSpPr>
        <p:spPr/>
        <p:txBody>
          <a:bodyPr/>
          <a:lstStyle/>
          <a:p>
            <a:pPr algn="ctr"/>
            <a:r>
              <a:rPr sz="1800" b="1"/>
              <a:t>Red dots = corners the computer found</a:t>
            </a:r>
          </a:p>
        </p:txBody>
      </p:sp>
      <p:sp>
        <p:nvSpPr>
          <p:cNvPr id="6" name="Title 5"/>
          <p:cNvSpPr>
            <a:spLocks noGrp="1"/>
          </p:cNvSpPr>
          <p:nvPr>
            <p:ph type="title"/>
          </p:nvPr>
        </p:nvSpPr>
        <p:spPr/>
        <p:txBody>
          <a:bodyPr/>
          <a:lstStyle/>
          <a:p>
            <a:r>
              <a:t>Finding Corners</a:t>
            </a:r>
          </a:p>
        </p:txBody>
      </p:sp>
      <p:pic>
        <p:nvPicPr>
          <p:cNvPr id="7" name="Picture 6" descr="orig.png"/>
          <p:cNvPicPr>
            <a:picLocks noChangeAspect="1"/>
          </p:cNvPicPr>
          <p:nvPr/>
        </p:nvPicPr>
        <p:blipFill>
          <a:blip r:embed="rId3"/>
          <a:stretch>
            <a:fillRect/>
          </a:stretch>
        </p:blipFill>
        <p:spPr>
          <a:xfrm>
            <a:off x="656258" y="1822077"/>
            <a:ext cx="5220236" cy="3474720"/>
          </a:xfrm>
          <a:prstGeom prst="rect">
            <a:avLst/>
          </a:prstGeom>
        </p:spPr>
      </p:pic>
      <p:pic>
        <p:nvPicPr>
          <p:cNvPr id="8" name="Picture 7" descr="corners.png"/>
          <p:cNvPicPr>
            <a:picLocks noChangeAspect="1"/>
          </p:cNvPicPr>
          <p:nvPr/>
        </p:nvPicPr>
        <p:blipFill>
          <a:blip r:embed="rId4"/>
          <a:stretch>
            <a:fillRect/>
          </a:stretch>
        </p:blipFill>
        <p:spPr>
          <a:xfrm>
            <a:off x="6312901" y="1822077"/>
            <a:ext cx="5220236" cy="34747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Normalizing Images</a:t>
            </a:r>
          </a:p>
        </p:txBody>
      </p:sp>
      <p:sp>
        <p:nvSpPr>
          <p:cNvPr id="3" name="Text Placeholder 2"/>
          <p:cNvSpPr>
            <a:spLocks noGrp="1"/>
          </p:cNvSpPr>
          <p:nvPr>
            <p:ph type="body" sz="quarter" idx="13"/>
          </p:nvPr>
        </p:nvSpPr>
        <p:spPr/>
        <p:txBody>
          <a:bodyPr wrap="square"/>
          <a:lstStyle/>
          <a:p>
            <a:pPr>
              <a:spcAft>
                <a:spcPts val="1000"/>
              </a:spcAft>
            </a:pPr>
            <a:r>
              <a:rPr sz="2000"/>
              <a:t>• Pixel values normally range from 0 to 255.</a:t>
            </a:r>
          </a:p>
          <a:p>
            <a:pPr>
              <a:spcAft>
                <a:spcPts val="1000"/>
              </a:spcAft>
            </a:pPr>
            <a:r>
              <a:rPr sz="2000"/>
              <a:t>• AI models often learn faster and better with small numbers centered around 0.</a:t>
            </a:r>
          </a:p>
          <a:p>
            <a:pPr>
              <a:spcAft>
                <a:spcPts val="1000"/>
              </a:spcAft>
            </a:pPr>
            <a:r>
              <a:rPr sz="2000"/>
              <a:t>• Normalizing squeezes 0–255 down into the range -1 to 1.</a:t>
            </a:r>
          </a:p>
          <a:p>
            <a:pPr>
              <a:spcAft>
                <a:spcPts val="1000"/>
              </a:spcAft>
            </a:pPr>
            <a:r>
              <a:rPr sz="2000"/>
              <a:t>• The picture looks the same to us — it's just friendlier math for the computer.</a:t>
            </a:r>
          </a:p>
        </p:txBody>
      </p:sp>
      <p:pic>
        <p:nvPicPr>
          <p:cNvPr id="4" name="Picture 3" descr="normalize.png"/>
          <p:cNvPicPr>
            <a:picLocks noChangeAspect="1"/>
          </p:cNvPicPr>
          <p:nvPr/>
        </p:nvPicPr>
        <p:blipFill>
          <a:blip r:embed="rId2"/>
          <a:stretch>
            <a:fillRect/>
          </a:stretch>
        </p:blipFill>
        <p:spPr>
          <a:xfrm>
            <a:off x="582612" y="2966350"/>
            <a:ext cx="7253288" cy="17730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Cropping &amp; Resizing</a:t>
            </a:r>
          </a:p>
        </p:txBody>
      </p:sp>
      <p:sp>
        <p:nvSpPr>
          <p:cNvPr id="3" name="Text Placeholder 2"/>
          <p:cNvSpPr>
            <a:spLocks noGrp="1"/>
          </p:cNvSpPr>
          <p:nvPr>
            <p:ph type="body" sz="quarter" idx="13"/>
          </p:nvPr>
        </p:nvSpPr>
        <p:spPr/>
        <p:txBody>
          <a:bodyPr wrap="square"/>
          <a:lstStyle/>
          <a:p>
            <a:pPr>
              <a:spcAft>
                <a:spcPts val="1000"/>
              </a:spcAft>
            </a:pPr>
            <a:r>
              <a:rPr sz="2000"/>
              <a:t>• Cropping zooms into the center of an image, cutting away the edges.</a:t>
            </a:r>
          </a:p>
          <a:p>
            <a:pPr>
              <a:spcAft>
                <a:spcPts val="1000"/>
              </a:spcAft>
            </a:pPr>
            <a:r>
              <a:rPr sz="2000"/>
              <a:t>• Resizing shrinks or grows an image — keeping its shape correct (aspect ratio) so it doesn't look stretched or squished.</a:t>
            </a:r>
          </a:p>
          <a:p>
            <a:pPr>
              <a:spcAft>
                <a:spcPts val="1000"/>
              </a:spcAft>
            </a:pPr>
            <a:r>
              <a:rPr sz="2000"/>
              <a:t>• These tricks are used constantly to prep images before feeding them into AI models.</a:t>
            </a:r>
          </a:p>
        </p:txBody>
      </p:sp>
      <p:pic>
        <p:nvPicPr>
          <p:cNvPr id="4" name="Picture 3" descr="crop_resize.png"/>
          <p:cNvPicPr>
            <a:picLocks noChangeAspect="1"/>
          </p:cNvPicPr>
          <p:nvPr/>
        </p:nvPicPr>
        <p:blipFill>
          <a:blip r:embed="rId2"/>
          <a:stretch>
            <a:fillRect/>
          </a:stretch>
        </p:blipFill>
        <p:spPr>
          <a:xfrm>
            <a:off x="582612" y="2458000"/>
            <a:ext cx="7253288" cy="278972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algn="ctr"/>
            <a:r>
              <a:rPr sz="1800" b="1"/>
              <a:t>A generated QR code</a:t>
            </a:r>
          </a:p>
        </p:txBody>
      </p:sp>
      <p:sp>
        <p:nvSpPr>
          <p:cNvPr id="4" name="Text Placeholder 3"/>
          <p:cNvSpPr>
            <a:spLocks noGrp="1"/>
          </p:cNvSpPr>
          <p:nvPr>
            <p:ph type="body" sz="quarter" idx="18"/>
          </p:nvPr>
        </p:nvSpPr>
        <p:spPr/>
        <p:txBody>
          <a:bodyPr/>
          <a:lstStyle/>
          <a:p>
            <a:pPr algn="ctr"/>
            <a:r>
              <a:rPr sz="1800" b="1"/>
              <a:t>Detected &amp; decoded: amd.com</a:t>
            </a:r>
          </a:p>
        </p:txBody>
      </p:sp>
      <p:sp>
        <p:nvSpPr>
          <p:cNvPr id="6" name="Title 5"/>
          <p:cNvSpPr>
            <a:spLocks noGrp="1"/>
          </p:cNvSpPr>
          <p:nvPr>
            <p:ph type="title"/>
          </p:nvPr>
        </p:nvSpPr>
        <p:spPr/>
        <p:txBody>
          <a:bodyPr/>
          <a:lstStyle/>
          <a:p>
            <a:r>
              <a:t>QR Codes: Not Just for Menus!</a:t>
            </a:r>
          </a:p>
        </p:txBody>
      </p:sp>
      <p:pic>
        <p:nvPicPr>
          <p:cNvPr id="7" name="Picture 6" descr="qr_code.png"/>
          <p:cNvPicPr>
            <a:picLocks noChangeAspect="1"/>
          </p:cNvPicPr>
          <p:nvPr/>
        </p:nvPicPr>
        <p:blipFill>
          <a:blip r:embed="rId3"/>
          <a:stretch>
            <a:fillRect/>
          </a:stretch>
        </p:blipFill>
        <p:spPr>
          <a:xfrm>
            <a:off x="1529016" y="1822077"/>
            <a:ext cx="3474720" cy="3474720"/>
          </a:xfrm>
          <a:prstGeom prst="rect">
            <a:avLst/>
          </a:prstGeom>
        </p:spPr>
      </p:pic>
      <p:pic>
        <p:nvPicPr>
          <p:cNvPr id="8" name="Picture 7" descr="qr_detected.png"/>
          <p:cNvPicPr>
            <a:picLocks noChangeAspect="1"/>
          </p:cNvPicPr>
          <p:nvPr/>
        </p:nvPicPr>
        <p:blipFill>
          <a:blip r:embed="rId4"/>
          <a:stretch>
            <a:fillRect/>
          </a:stretch>
        </p:blipFill>
        <p:spPr>
          <a:xfrm>
            <a:off x="7185659" y="1822077"/>
            <a:ext cx="3474720" cy="3474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pPr algn="ctr"/>
            <a:r>
              <a:rPr sz="1800" b="1"/>
              <a:t>A generated ArUco marker (id 23)</a:t>
            </a:r>
          </a:p>
        </p:txBody>
      </p:sp>
      <p:sp>
        <p:nvSpPr>
          <p:cNvPr id="4" name="Text Placeholder 3"/>
          <p:cNvSpPr>
            <a:spLocks noGrp="1"/>
          </p:cNvSpPr>
          <p:nvPr>
            <p:ph type="body" sz="quarter" idx="18"/>
          </p:nvPr>
        </p:nvSpPr>
        <p:spPr/>
        <p:txBody>
          <a:bodyPr/>
          <a:lstStyle/>
          <a:p>
            <a:pPr algn="ctr"/>
            <a:r>
              <a:rPr sz="1800" b="1"/>
              <a:t>Detected! The computer read id = 23</a:t>
            </a:r>
          </a:p>
        </p:txBody>
      </p:sp>
      <p:sp>
        <p:nvSpPr>
          <p:cNvPr id="6" name="Title 5"/>
          <p:cNvSpPr>
            <a:spLocks noGrp="1"/>
          </p:cNvSpPr>
          <p:nvPr>
            <p:ph type="title"/>
          </p:nvPr>
        </p:nvSpPr>
        <p:spPr/>
        <p:txBody>
          <a:bodyPr/>
          <a:lstStyle/>
          <a:p>
            <a:r>
              <a:t>ArUco Markers: Tags Robots Can See</a:t>
            </a:r>
          </a:p>
        </p:txBody>
      </p:sp>
      <p:pic>
        <p:nvPicPr>
          <p:cNvPr id="7" name="Picture 6" descr="aruco_marker.png"/>
          <p:cNvPicPr>
            <a:picLocks noChangeAspect="1"/>
          </p:cNvPicPr>
          <p:nvPr/>
        </p:nvPicPr>
        <p:blipFill>
          <a:blip r:embed="rId3"/>
          <a:stretch>
            <a:fillRect/>
          </a:stretch>
        </p:blipFill>
        <p:spPr>
          <a:xfrm>
            <a:off x="1529016" y="1822077"/>
            <a:ext cx="3474720" cy="3474720"/>
          </a:xfrm>
          <a:prstGeom prst="rect">
            <a:avLst/>
          </a:prstGeom>
        </p:spPr>
      </p:pic>
      <p:pic>
        <p:nvPicPr>
          <p:cNvPr id="8" name="Picture 7" descr="aruco_detected.png"/>
          <p:cNvPicPr>
            <a:picLocks noChangeAspect="1"/>
          </p:cNvPicPr>
          <p:nvPr/>
        </p:nvPicPr>
        <p:blipFill>
          <a:blip r:embed="rId4"/>
          <a:stretch>
            <a:fillRect/>
          </a:stretch>
        </p:blipFill>
        <p:spPr>
          <a:xfrm>
            <a:off x="7185659" y="1822077"/>
            <a:ext cx="3474720" cy="3474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Summary:</a:t>
            </a:r>
          </a:p>
        </p:txBody>
      </p:sp>
      <p:sp>
        <p:nvSpPr>
          <p:cNvPr id="3" name="TextBox 2"/>
          <p:cNvSpPr txBox="1"/>
          <p:nvPr/>
        </p:nvSpPr>
        <p:spPr>
          <a:xfrm>
            <a:off x="585216" y="1371600"/>
            <a:ext cx="11018520" cy="3206006"/>
          </a:xfrm>
          <a:prstGeom prst="rect">
            <a:avLst/>
          </a:prstGeom>
          <a:noFill/>
        </p:spPr>
        <p:txBody>
          <a:bodyPr wrap="square">
            <a:spAutoFit/>
          </a:bodyPr>
          <a:lstStyle/>
          <a:p>
            <a:pPr>
              <a:spcAft>
                <a:spcPts val="1400"/>
              </a:spcAft>
            </a:pPr>
            <a:r>
              <a:rPr sz="2400" dirty="0"/>
              <a:t>• Images are grids of numbers </a:t>
            </a:r>
            <a:r>
              <a:rPr lang="en-US" sz="2400" dirty="0"/>
              <a:t>-</a:t>
            </a:r>
            <a:r>
              <a:rPr sz="2400" dirty="0"/>
              <a:t> that's all a computer sees.</a:t>
            </a:r>
          </a:p>
          <a:p>
            <a:pPr>
              <a:spcAft>
                <a:spcPts val="1400"/>
              </a:spcAft>
            </a:pPr>
            <a:r>
              <a:rPr sz="2400" dirty="0"/>
              <a:t>• We </a:t>
            </a:r>
            <a:r>
              <a:rPr lang="en-US" sz="2400" dirty="0"/>
              <a:t>converted between color spaces: RGB, Grayscale, and HSV.</a:t>
            </a:r>
          </a:p>
          <a:p>
            <a:pPr>
              <a:spcAft>
                <a:spcPts val="1400"/>
              </a:spcAft>
            </a:pPr>
            <a:r>
              <a:rPr sz="2400" dirty="0"/>
              <a:t>• We found corners in an image using the Harris Corner Detector.</a:t>
            </a:r>
          </a:p>
          <a:p>
            <a:pPr>
              <a:spcAft>
                <a:spcPts val="1400"/>
              </a:spcAft>
            </a:pPr>
            <a:r>
              <a:rPr sz="2400" dirty="0"/>
              <a:t>• We normalized, cropped, and resized images to prep them for AI models.</a:t>
            </a:r>
          </a:p>
          <a:p>
            <a:pPr>
              <a:spcAft>
                <a:spcPts val="1400"/>
              </a:spcAft>
            </a:pPr>
            <a:r>
              <a:rPr sz="2400" dirty="0"/>
              <a:t>• We detected </a:t>
            </a:r>
            <a:r>
              <a:rPr sz="2400" dirty="0" err="1"/>
              <a:t>ArUco</a:t>
            </a:r>
            <a:r>
              <a:rPr sz="2400" dirty="0"/>
              <a:t> markers and read their ids </a:t>
            </a:r>
            <a:r>
              <a:rPr lang="en-US" sz="2400" dirty="0"/>
              <a:t>-</a:t>
            </a:r>
            <a:r>
              <a:rPr sz="2400" dirty="0"/>
              <a:t> like a robot's barcode.</a:t>
            </a:r>
          </a:p>
          <a:p>
            <a:pPr>
              <a:spcAft>
                <a:spcPts val="1400"/>
              </a:spcAft>
            </a:pPr>
            <a:r>
              <a:rPr sz="2400" dirty="0"/>
              <a:t>• We detected and decoded QR codes hidden inside an image.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AMD Corporate Template_Dark">
  <a:themeElements>
    <a:clrScheme name="AMD Corporate">
      <a:dk1>
        <a:srgbClr val="000000"/>
      </a:dk1>
      <a:lt1>
        <a:srgbClr val="FFFFFF"/>
      </a:lt1>
      <a:dk2>
        <a:srgbClr val="5E5E5E"/>
      </a:dk2>
      <a:lt2>
        <a:srgbClr val="9D9FA2"/>
      </a:lt2>
      <a:accent1>
        <a:srgbClr val="636466"/>
      </a:accent1>
      <a:accent2>
        <a:srgbClr val="9D9FA2"/>
      </a:accent2>
      <a:accent3>
        <a:srgbClr val="EAEAEA"/>
      </a:accent3>
      <a:accent4>
        <a:srgbClr val="F26522"/>
      </a:accent4>
      <a:accent5>
        <a:srgbClr val="ED1C24"/>
      </a:accent5>
      <a:accent6>
        <a:srgbClr val="007C97"/>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blank.potx" id="{FBDE1E0E-6997-4B95-9702-0A873F1F55E6}" vid="{99FFCE2B-845B-4D44-BE68-1AECEB47D5E9}"/>
    </a:ext>
  </a:extLst>
</a:theme>
</file>

<file path=ppt/theme/theme2.xml><?xml version="1.0" encoding="utf-8"?>
<a:theme xmlns:a="http://schemas.openxmlformats.org/drawingml/2006/main" name="AMD Corporate Template_Light">
  <a:themeElements>
    <a:clrScheme name="AMD Corporate">
      <a:dk1>
        <a:srgbClr val="000000"/>
      </a:dk1>
      <a:lt1>
        <a:srgbClr val="FFFFFF"/>
      </a:lt1>
      <a:dk2>
        <a:srgbClr val="5E5E5E"/>
      </a:dk2>
      <a:lt2>
        <a:srgbClr val="9D9FA2"/>
      </a:lt2>
      <a:accent1>
        <a:srgbClr val="636466"/>
      </a:accent1>
      <a:accent2>
        <a:srgbClr val="9D9FA2"/>
      </a:accent2>
      <a:accent3>
        <a:srgbClr val="EAEAEA"/>
      </a:accent3>
      <a:accent4>
        <a:srgbClr val="F26522"/>
      </a:accent4>
      <a:accent5>
        <a:srgbClr val="ED1C24"/>
      </a:accent5>
      <a:accent6>
        <a:srgbClr val="007C97"/>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err="1" smtClean="0"/>
        </a:defPPr>
      </a:lstStyle>
    </a:txDef>
  </a:objectDefaults>
  <a:extraClrSchemeLst/>
  <a:extLst>
    <a:ext uri="{05A4C25C-085E-4340-85A3-A5531E510DB2}">
      <thm15:themeFamily xmlns:thm15="http://schemas.microsoft.com/office/thememl/2012/main" name="blank.potx" id="{FBDE1E0E-6997-4B95-9702-0A873F1F55E6}" vid="{D20CE3A5-81B9-4785-BFA6-69CCD1392DF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TemplafySlideTemplateConfiguration><![CDATA[{"slideVersion":1,"isValidatorEnabled":false,"isLocked":false,"elementsMetadata":[],"slideId":"637629098780810453","enableDocumentContentUpdater":true,"version":"2.0"}]]></TemplafySlideTemplateConfiguration>
</file>

<file path=customXml/item2.xml><?xml version="1.0" encoding="utf-8"?>
<TemplafySlideFormConfiguration><![CDATA[{"formFields":[],"formDataEntries":[]}]]></TemplafySlideFormConfiguration>
</file>

<file path=customXml/item3.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4.xml><?xml version="1.0" encoding="utf-8"?>
<TemplafySlideTemplateConfiguration><![CDATA[{"slideVersion":1,"isValidatorEnabled":false,"isLocked":false,"elementsMetadata":[],"slideId":"637629098780864969","enableDocumentContentUpdater":true,"version":"2.0"}]]></TemplafySlide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p:properties xmlns:p="http://schemas.microsoft.com/office/2006/metadata/properties" xmlns:xsi="http://www.w3.org/2001/XMLSchema-instance" xmlns:pc="http://schemas.microsoft.com/office/infopath/2007/PartnerControls">
  <documentManagement>
    <TaxCatchAll xmlns="e4776192-1a25-4b9d-9dfd-4a24ac707398" xsi:nil="true"/>
    <lcf76f155ced4ddcb4097134ff3c332f xmlns="ad4c44a0-8515-4b30-865f-6280822f3d42">
      <Terms xmlns="http://schemas.microsoft.com/office/infopath/2007/PartnerControls"/>
    </lcf76f155ced4ddcb4097134ff3c332f>
  </documentManagement>
</p:properties>
</file>

<file path=customXml/item8.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9.xml><?xml version="1.0" encoding="utf-8"?>
<TemplafySlideTemplateConfiguration><![CDATA[{"slideVersion":1,"isValidatorEnabled":false,"isLocked":false,"elementsMetadata":[],"slideId":"637629098780802172","enableDocumentContentUpdater":true,"version":"2.0"}]]></TemplafySlideTemplateConfiguration>
</file>

<file path=customXml/item10.xml><?xml version="1.0" encoding="utf-8"?>
<TemplafySlideTemplateConfiguration><![CDATA[{"slideVersion":1,"isValidatorEnabled":false,"isLocked":false,"elementsMetadata":[],"slideId":"637629098780808397","enableDocumentContentUpdater":true,"version":"2.0"}]]></TemplafySlideTemplateConfiguration>
</file>

<file path=customXml/item11.xml><?xml version="1.0" encoding="utf-8"?>
<TemplafySlideTemplateConfiguration><![CDATA[{"slideVersion":1,"isValidatorEnabled":false,"isLocked":false,"elementsMetadata":[],"slideId":"637629098780864969","enableDocumentContentUpdater":true,"version":"2.0"}]]></TemplafySlideTemplateConfiguration>
</file>

<file path=customXml/item12.xml><?xml version="1.0" encoding="utf-8"?>
<TemplafySlideFormConfiguration><![CDATA[{"formFields":[],"formDataEntries":[]}]]></TemplafySlideFormConfiguration>
</file>

<file path=customXml/item13.xml><?xml version="1.0" encoding="utf-8"?>
<?mso-contentType ?>
<FormTemplates xmlns="http://schemas.microsoft.com/sharepoint/v3/contenttype/forms">
  <Display>DocumentLibraryForm</Display>
  <Edit>DocumentLibraryForm</Edit>
  <New>DocumentLibraryForm</New>
</FormTemplates>
</file>

<file path=customXml/item14.xml><?xml version="1.0" encoding="utf-8"?>
<TemplafySlideFormConfiguration><![CDATA[{"formFields":[],"formDataEntries":[]}]]></TemplafySlideFormConfiguration>
</file>

<file path=customXml/item15.xml><?xml version="1.0" encoding="utf-8"?>
<ct:contentTypeSchema xmlns:ct="http://schemas.microsoft.com/office/2006/metadata/contentType" xmlns:ma="http://schemas.microsoft.com/office/2006/metadata/properties/metaAttributes" ct:_="" ma:_="" ma:contentTypeName="Document" ma:contentTypeID="0x0101007FD972CB5F48E542B4BB13E72638E2D3" ma:contentTypeVersion="14" ma:contentTypeDescription="Create a new document." ma:contentTypeScope="" ma:versionID="86312d769f1bd4b70626d60651c08223">
  <xsd:schema xmlns:xsd="http://www.w3.org/2001/XMLSchema" xmlns:xs="http://www.w3.org/2001/XMLSchema" xmlns:p="http://schemas.microsoft.com/office/2006/metadata/properties" xmlns:ns2="ad4c44a0-8515-4b30-865f-6280822f3d42" xmlns:ns3="e4776192-1a25-4b9d-9dfd-4a24ac707398" targetNamespace="http://schemas.microsoft.com/office/2006/metadata/properties" ma:root="true" ma:fieldsID="12b08f8e5abc659d934bec7e9c5f1e8a" ns2:_="" ns3:_="">
    <xsd:import namespace="ad4c44a0-8515-4b30-865f-6280822f3d42"/>
    <xsd:import namespace="e4776192-1a25-4b9d-9dfd-4a24ac707398"/>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bjectDetectorVersions" minOccurs="0"/>
                <xsd:element ref="ns2:MediaServiceOCR"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4c44a0-8515-4b30-865f-6280822f3d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4acc8d3-66d8-4f7f-ac2f-7fccaf6b6ed8"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776192-1a25-4b9d-9dfd-4a24ac70739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c7b6ab1-08ca-4091-8486-61a450efa2db}" ma:internalName="TaxCatchAll" ma:showField="CatchAllData" ma:web="e4776192-1a25-4b9d-9dfd-4a24ac707398">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0A47AF-9F38-B148-A7C2-2E9081B1C4B3}">
  <ds:schemaRefs/>
</ds:datastoreItem>
</file>

<file path=customXml/itemProps2.xml><?xml version="1.0" encoding="utf-8"?>
<ds:datastoreItem xmlns:ds="http://schemas.openxmlformats.org/officeDocument/2006/customXml" ds:itemID="{7783670E-8C92-D74F-A012-D9892B30BFBD}">
  <ds:schemaRefs/>
</ds:datastoreItem>
</file>

<file path=customXml/itemProps3.xml><?xml version="1.0" encoding="utf-8"?>
<ds:datastoreItem xmlns:ds="http://schemas.openxmlformats.org/officeDocument/2006/customXml" ds:itemID="{6291F803-2EF0-4E47-96D6-4796950CE6BD}">
  <ds:schemaRefs/>
</ds:datastoreItem>
</file>

<file path=customXml/itemProps4.xml><?xml version="1.0" encoding="utf-8"?>
<ds:datastoreItem xmlns:ds="http://schemas.openxmlformats.org/officeDocument/2006/customXml" ds:itemID="{3FBDB0A1-2695-4765-81D0-CF05EE3F2942}">
  <ds:schemaRefs/>
</ds:datastoreItem>
</file>

<file path=customXml/itemProps5.xml><?xml version="1.0" encoding="utf-8"?>
<ds:datastoreItem xmlns:ds="http://schemas.openxmlformats.org/officeDocument/2006/customXml" ds:itemID="{1E6080C5-8558-EA47-9338-EA3558B4B25C}">
  <ds:schemaRefs/>
</ds:datastoreItem>
</file>

<file path=customXml/itemProps6.xml><?xml version="1.0" encoding="utf-8"?>
<ds:datastoreItem xmlns:ds="http://schemas.openxmlformats.org/officeDocument/2006/customXml" ds:itemID="{C5DD1971-334A-45E9-9D2B-FB6BD8AAE58A}">
  <ds:schemaRefs/>
</ds:datastoreItem>
</file>

<file path=customXml/itemProps7.xml><?xml version="1.0" encoding="utf-8"?>
<ds:datastoreItem xmlns:ds="http://schemas.openxmlformats.org/officeDocument/2006/customXml" ds:itemID="{F990F116-B58F-4255-B05B-DA3808E0E5C6}">
  <ds:schemaRefs>
    <ds:schemaRef ds:uri="http://schemas.microsoft.com/office/2006/metadata/properties"/>
    <ds:schemaRef ds:uri="http://schemas.microsoft.com/office/infopath/2007/PartnerControls"/>
    <ds:schemaRef ds:uri="e4aa919a-b200-49cb-beca-4c7e0810321e"/>
    <ds:schemaRef ds:uri="http://schemas.microsoft.com/sharepoint/v3"/>
    <ds:schemaRef ds:uri="http://purl.org/dc/terms/"/>
    <ds:schemaRef ds:uri="06670dda-0291-4061-b6e0-f6c0cb392c51"/>
    <ds:schemaRef ds:uri="http://schemas.microsoft.com/office/2006/documentManagement/types"/>
    <ds:schemaRef ds:uri="http://schemas.openxmlformats.org/package/2006/metadata/core-properties"/>
    <ds:schemaRef ds:uri="http://purl.org/dc/elements/1.1/"/>
    <ds:schemaRef ds:uri="http://www.w3.org/XML/1998/namespace"/>
    <ds:schemaRef ds:uri="http://purl.org/dc/dcmitype/"/>
    <ds:schemaRef ds:uri="e4776192-1a25-4b9d-9dfd-4a24ac707398"/>
    <ds:schemaRef ds:uri="ad4c44a0-8515-4b30-865f-6280822f3d42"/>
  </ds:schemaRefs>
</ds:datastoreItem>
</file>

<file path=customXml/itemProps8.xml><?xml version="1.0" encoding="utf-8"?>
<ds:datastoreItem xmlns:ds="http://schemas.openxmlformats.org/officeDocument/2006/customXml" ds:itemID="{43BC5722-1D5B-4915-8247-E6D5F513E549}">
  <ds:schemaRefs/>
</ds:datastoreItem>
</file>

<file path=customXml/itemProps9.xml><?xml version="1.0" encoding="utf-8"?>
<ds:datastoreItem xmlns:ds="http://schemas.openxmlformats.org/officeDocument/2006/customXml" ds:itemID="{BE3BB7DD-0C86-4747-A387-5C5D191BB970}">
  <ds:schemaRefs/>
</ds:datastoreItem>
</file>

<file path=customXml/itemProps10.xml><?xml version="1.0" encoding="utf-8"?>
<ds:datastoreItem xmlns:ds="http://schemas.openxmlformats.org/officeDocument/2006/customXml" ds:itemID="{DF03CB52-54FC-3F4A-8F05-1F4F87FE813E}">
  <ds:schemaRefs/>
</ds:datastoreItem>
</file>

<file path=customXml/itemProps11.xml><?xml version="1.0" encoding="utf-8"?>
<ds:datastoreItem xmlns:ds="http://schemas.openxmlformats.org/officeDocument/2006/customXml" ds:itemID="{B7066F7B-EA61-4071-B961-E1FA19724DC0}">
  <ds:schemaRefs/>
</ds:datastoreItem>
</file>

<file path=customXml/itemProps12.xml><?xml version="1.0" encoding="utf-8"?>
<ds:datastoreItem xmlns:ds="http://schemas.openxmlformats.org/officeDocument/2006/customXml" ds:itemID="{75BD4175-2A6A-457D-B03C-89D272FF4835}">
  <ds:schemaRefs/>
</ds:datastoreItem>
</file>

<file path=customXml/itemProps13.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14.xml><?xml version="1.0" encoding="utf-8"?>
<ds:datastoreItem xmlns:ds="http://schemas.openxmlformats.org/officeDocument/2006/customXml" ds:itemID="{BDAF6CF2-4FB3-45BE-8C10-FDB4EF47B634}">
  <ds:schemaRefs/>
</ds:datastoreItem>
</file>

<file path=customXml/itemProps15.xml><?xml version="1.0" encoding="utf-8"?>
<ds:datastoreItem xmlns:ds="http://schemas.openxmlformats.org/officeDocument/2006/customXml" ds:itemID="{25B3EFD3-A7A6-4E84-9DCF-340A4BA475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4c44a0-8515-4b30-865f-6280822f3d42"/>
    <ds:schemaRef ds:uri="e4776192-1a25-4b9d-9dfd-4a24ac7073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4e4cbe8-b4f6-45dc-bcba-6123dfd2d8bf}" enabled="1" method="Privileged" siteId="{3dd8961f-e488-4e60-8e11-a82d994e183d}" contentBits="0" removed="0"/>
</clbl:labelList>
</file>

<file path=docProps/app.xml><?xml version="1.0" encoding="utf-8"?>
<Properties xmlns="http://schemas.openxmlformats.org/officeDocument/2006/extended-properties" xmlns:vt="http://schemas.openxmlformats.org/officeDocument/2006/docPropsVTypes">
  <Template>blank</Template>
  <TotalTime>3605</TotalTime>
  <Words>1305</Words>
  <Application>Microsoft Office PowerPoint</Application>
  <PresentationFormat>Widescreen</PresentationFormat>
  <Paragraphs>70</Paragraphs>
  <Slides>15</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15</vt:i4>
      </vt:variant>
    </vt:vector>
  </HeadingPairs>
  <TitlesOfParts>
    <vt:vector size="19" baseType="lpstr">
      <vt:lpstr>Arial</vt:lpstr>
      <vt:lpstr>Segoe UI</vt:lpstr>
      <vt:lpstr>AMD Corporate Template_Dark</vt:lpstr>
      <vt:lpstr>AMD Corporate Template_Light</vt:lpstr>
      <vt:lpstr>PYNQ 501: Computer Vision Presenter: Brady Schmelling PYNQ Bootcamp 2026 7/29 9:30 - 10:45</vt:lpstr>
      <vt:lpstr>What is Computer Vision?</vt:lpstr>
      <vt:lpstr>Why This Matters For the Competition</vt:lpstr>
      <vt:lpstr>Meet OpenCV</vt:lpstr>
      <vt:lpstr>Pictures Are Just Numbers</vt:lpstr>
      <vt:lpstr>OpenCV's Secret: It Stores Colors Backwards!</vt:lpstr>
      <vt:lpstr>Grayscale: Removing the Color</vt:lpstr>
      <vt:lpstr>HSV: A Different Way to Describe Color</vt:lpstr>
      <vt:lpstr>Finding Corners</vt:lpstr>
      <vt:lpstr>Normalizing Images</vt:lpstr>
      <vt:lpstr>Cropping &amp; Resizing</vt:lpstr>
      <vt:lpstr>QR Codes: Not Just for Menus!</vt:lpstr>
      <vt:lpstr>ArUco Markers: Tags Robots Can See</vt:lpstr>
      <vt:lpstr>Summary:</vt:lpstr>
      <vt:lpstr>PowerPoint Presentation</vt:lpstr>
    </vt:vector>
  </TitlesOfParts>
  <Manager>&lt;Comms manager name here&gt;</Manager>
  <Company>AMD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AMD Corporate Powerpoint Template</dc:subject>
  <dc:creator>Goyal, Vikhyat</dc:creator>
  <cp:keywords/>
  <dc:description/>
  <cp:lastModifiedBy>Schmelling, Brady</cp:lastModifiedBy>
  <cp:revision>303</cp:revision>
  <cp:lastPrinted>2020-04-30T18:59:47Z</cp:lastPrinted>
  <dcterms:created xsi:type="dcterms:W3CDTF">2023-07-21T22:03:36Z</dcterms:created>
  <dcterms:modified xsi:type="dcterms:W3CDTF">2026-07-22T21:24:30Z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ClassificationContentMarkingHeaderLocations">
    <vt:lpwstr>AMD Corporate Template_Dark:6\AMD Corporate Template_Light:6</vt:lpwstr>
  </property>
  <property fmtid="{D5CDD505-2E9C-101B-9397-08002B2CF9AE}" pid="7" name="ClassificationContentMarkingHeaderText">
    <vt:lpwstr>[AMD Official Use Only]</vt:lpwstr>
  </property>
  <property fmtid="{D5CDD505-2E9C-101B-9397-08002B2CF9AE}" pid="8" name="MSIP_Label_64e4cbe8-b4f6-45dc-bcba-6123dfd2d8bf_Enabled">
    <vt:lpwstr>true</vt:lpwstr>
  </property>
  <property fmtid="{D5CDD505-2E9C-101B-9397-08002B2CF9AE}" pid="9" name="MSIP_Label_64e4cbe8-b4f6-45dc-bcba-6123dfd2d8bf_SetDate">
    <vt:lpwstr>2023-07-22T17:33:11Z</vt:lpwstr>
  </property>
  <property fmtid="{D5CDD505-2E9C-101B-9397-08002B2CF9AE}" pid="10" name="MSIP_Label_64e4cbe8-b4f6-45dc-bcba-6123dfd2d8bf_Method">
    <vt:lpwstr>Privileged</vt:lpwstr>
  </property>
  <property fmtid="{D5CDD505-2E9C-101B-9397-08002B2CF9AE}" pid="11" name="MSIP_Label_64e4cbe8-b4f6-45dc-bcba-6123dfd2d8bf_Name">
    <vt:lpwstr>Non-Business-AIP 2.0</vt:lpwstr>
  </property>
  <property fmtid="{D5CDD505-2E9C-101B-9397-08002B2CF9AE}" pid="12" name="MSIP_Label_64e4cbe8-b4f6-45dc-bcba-6123dfd2d8bf_SiteId">
    <vt:lpwstr>3dd8961f-e488-4e60-8e11-a82d994e183d</vt:lpwstr>
  </property>
  <property fmtid="{D5CDD505-2E9C-101B-9397-08002B2CF9AE}" pid="13" name="MSIP_Label_64e4cbe8-b4f6-45dc-bcba-6123dfd2d8bf_ActionId">
    <vt:lpwstr>86632291-e0fb-4461-88d5-457c6204a074</vt:lpwstr>
  </property>
  <property fmtid="{D5CDD505-2E9C-101B-9397-08002B2CF9AE}" pid="14" name="MSIP_Label_64e4cbe8-b4f6-45dc-bcba-6123dfd2d8bf_ContentBits">
    <vt:lpwstr>0</vt:lpwstr>
  </property>
  <property fmtid="{D5CDD505-2E9C-101B-9397-08002B2CF9AE}" pid="15" name="ContentTypeId">
    <vt:lpwstr>0x0101007FD972CB5F48E542B4BB13E72638E2D3</vt:lpwstr>
  </property>
  <property fmtid="{D5CDD505-2E9C-101B-9397-08002B2CF9AE}" pid="16" name="MediaServiceImageTags">
    <vt:lpwstr/>
  </property>
</Properties>
</file>