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99" d="100"/>
          <a:sy n="199" d="100"/>
        </p:scale>
        <p:origin x="3222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A5DF14-D254-47F5-BB5F-C6178FA0D5DA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7DBACC-62A5-49DE-A93A-164E70A1F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982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dirty="0">
                <a:solidFill>
                  <a:srgbClr val="475669"/>
                </a:solidFill>
                <a:latin typeface="Calibri"/>
              </a:rPr>
              <a:t>A trick — the app quietly re-sends the whole conversation every single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7DBACC-62A5-49DE-A93A-164E70A1FCA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828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65176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iamond 2"/>
          <p:cNvSpPr/>
          <p:nvPr/>
        </p:nvSpPr>
        <p:spPr>
          <a:xfrm>
            <a:off x="502920" y="502920"/>
            <a:ext cx="411480" cy="411480"/>
          </a:xfrm>
          <a:prstGeom prst="diamond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30352" y="502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8BDF8"/>
                </a:solidFill>
                <a:latin typeface="Calibri"/>
              </a:rPr>
              <a:t>PYNQ Bootcamp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How AI Really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7EDF5"/>
                </a:solidFill>
                <a:latin typeface="Calibri"/>
              </a:rPr>
              <a:t>A friendly tour of the ideas behind ChatGPT and every AI chatbot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43200"/>
            <a:ext cx="8229600" cy="3200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7AB"/>
                </a:solidFill>
                <a:latin typeface="Calibri"/>
              </a:rPr>
              <a:t>No coding needed — just the big ideas, with everyday examples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66160"/>
            <a:ext cx="2606040" cy="109728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703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886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EDF5"/>
                </a:solidFill>
                <a:latin typeface="Calibri"/>
              </a:rPr>
              <a:t>What AI 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46120" y="3566160"/>
            <a:ext cx="2606040" cy="109728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383279" y="3703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3886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EDF5"/>
                </a:solidFill>
                <a:latin typeface="Calibri"/>
              </a:rPr>
              <a:t>How it remembers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3566160"/>
            <a:ext cx="2606040" cy="109728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72200" y="370332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libri"/>
              </a:rPr>
              <a:t>⚠️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886200"/>
            <a:ext cx="1691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7EDF5"/>
                </a:solidFill>
                <a:latin typeface="Calibri"/>
              </a:rPr>
              <a:t>When it's wrong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🔑 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E2A4A"/>
                </a:solidFill>
                <a:latin typeface="Calibri"/>
              </a:rPr>
              <a:t>Every time you use AI, three things happen: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74519"/>
            <a:ext cx="251460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201168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1E2A4A"/>
                </a:solidFill>
                <a:latin typeface="Calibri"/>
              </a:rPr>
              <a:t>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7432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563EB"/>
                </a:solidFill>
                <a:latin typeface="Calibri"/>
              </a:rPr>
              <a:t>You 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127248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475669"/>
                </a:solidFill>
                <a:latin typeface="Calibri"/>
              </a:rPr>
              <a:t>Your question or</a:t>
            </a:r>
          </a:p>
          <a:p>
            <a:pPr algn="ctr"/>
            <a:r>
              <a:rPr sz="1250" b="0" i="0">
                <a:solidFill>
                  <a:srgbClr val="475669"/>
                </a:solidFill>
                <a:latin typeface="Calibri"/>
              </a:rPr>
              <a:t>instruction is called</a:t>
            </a:r>
          </a:p>
          <a:p>
            <a:pPr algn="ctr"/>
            <a:r>
              <a:rPr sz="1250" b="0" i="0">
                <a:solidFill>
                  <a:srgbClr val="475669"/>
                </a:solidFill>
                <a:latin typeface="Calibri"/>
              </a:rPr>
              <a:t>a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651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1874519"/>
            <a:ext cx="2514600" cy="214884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2011680"/>
            <a:ext cx="2514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1E2A4A"/>
                </a:solidFill>
                <a:latin typeface="Calibri"/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4320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8BDF8"/>
                </a:solidFill>
                <a:latin typeface="Calibri"/>
              </a:rPr>
              <a:t>The AI 'brain'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127248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E7EDF5"/>
                </a:solidFill>
                <a:latin typeface="Calibri"/>
              </a:rPr>
              <a:t>A giant guessing</a:t>
            </a:r>
          </a:p>
          <a:p>
            <a:pPr algn="ctr"/>
            <a:r>
              <a:rPr sz="1250" b="0" i="0">
                <a:solidFill>
                  <a:srgbClr val="E7EDF5"/>
                </a:solidFill>
                <a:latin typeface="Calibri"/>
              </a:rPr>
              <a:t>machine that read</a:t>
            </a:r>
          </a:p>
          <a:p>
            <a:pPr algn="ctr"/>
            <a:r>
              <a:rPr sz="1250" b="0" i="0">
                <a:solidFill>
                  <a:srgbClr val="E7EDF5"/>
                </a:solidFill>
                <a:latin typeface="Calibri"/>
              </a:rPr>
              <a:t>the whole internet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651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563EB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1874519"/>
            <a:ext cx="201168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0" y="20116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1E2A4A"/>
                </a:solidFill>
                <a:latin typeface="Calibri"/>
              </a:rPr>
              <a:t>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2C55E"/>
                </a:solidFill>
                <a:latin typeface="Calibri"/>
              </a:rPr>
              <a:t>You 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127248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475669"/>
                </a:solidFill>
                <a:latin typeface="Calibri"/>
              </a:rPr>
              <a:t>An ANSWER,</a:t>
            </a:r>
          </a:p>
          <a:p>
            <a:pPr algn="ctr"/>
            <a:r>
              <a:rPr sz="1250" b="0" i="0">
                <a:solidFill>
                  <a:srgbClr val="475669"/>
                </a:solidFill>
                <a:latin typeface="Calibri"/>
              </a:rPr>
              <a:t>written fresh</a:t>
            </a:r>
          </a:p>
          <a:p>
            <a:pPr algn="ctr"/>
            <a:r>
              <a:rPr sz="1250" b="0" i="0">
                <a:solidFill>
                  <a:srgbClr val="475669"/>
                </a:solidFill>
                <a:latin typeface="Calibri"/>
              </a:rPr>
              <a:t>just for you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251960"/>
            <a:ext cx="8412480" cy="566928"/>
          </a:xfrm>
          <a:prstGeom prst="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4370832"/>
            <a:ext cx="822960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 dirty="0">
                <a:solidFill>
                  <a:srgbClr val="1E3A5F"/>
                </a:solidFill>
                <a:latin typeface="Calibri"/>
              </a:rPr>
              <a:t>💡 A better PROMPT gives a better ANSWER </a:t>
            </a:r>
            <a:r>
              <a:rPr lang="en-US" sz="1250" b="1" i="0" dirty="0">
                <a:solidFill>
                  <a:srgbClr val="1E3A5F"/>
                </a:solidFill>
                <a:latin typeface="Calibri"/>
              </a:rPr>
              <a:t>:</a:t>
            </a:r>
            <a:r>
              <a:rPr sz="1250" b="1" i="0" dirty="0">
                <a:solidFill>
                  <a:srgbClr val="1E3A5F"/>
                </a:solidFill>
                <a:latin typeface="Calibri"/>
              </a:rPr>
              <a:t> that's the whole secret. We'll learn how the brain works next!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🧠 What Is an AI Chatbot?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>
                <a:solidFill>
                  <a:srgbClr val="1E2A4A"/>
                </a:solidFill>
                <a:latin typeface="Calibri"/>
              </a:rPr>
              <a:t>A giant guessing machine</a:t>
            </a:r>
            <a:r>
              <a:rPr lang="en-US" sz="1700" b="1" i="0" dirty="0">
                <a:solidFill>
                  <a:srgbClr val="1E2A4A"/>
                </a:solidFill>
                <a:latin typeface="Calibri"/>
              </a:rPr>
              <a:t>,</a:t>
            </a:r>
            <a:r>
              <a:rPr sz="1700" b="1" i="0" dirty="0">
                <a:solidFill>
                  <a:srgbClr val="1E2A4A"/>
                </a:solidFill>
                <a:latin typeface="Calibri"/>
              </a:rPr>
              <a:t> it predicts the next word, over and over.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83080"/>
            <a:ext cx="475488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90195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Calibri"/>
              </a:rPr>
              <a:t>🗣️ You do this too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2A4A"/>
                </a:solidFill>
                <a:latin typeface="Calibri"/>
              </a:rPr>
              <a:t>"Better late than ___"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475669"/>
                </a:solidFill>
                <a:latin typeface="Calibri"/>
              </a:rPr>
              <a:t>Your brain instantly fills in: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  <a:latin typeface="Calibri"/>
              </a:rPr>
              <a:t>never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54480" y="3154679"/>
            <a:ext cx="2516428" cy="1828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43814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  <a:latin typeface="Calibri"/>
              </a:rPr>
              <a:t>sorry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54480" y="3483863"/>
            <a:ext cx="526694" cy="1828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37673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A4A"/>
                </a:solidFill>
                <a:latin typeface="Calibri"/>
              </a:rPr>
              <a:t>done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3813048"/>
            <a:ext cx="263347" cy="1828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49240" y="1783080"/>
            <a:ext cx="3429000" cy="228600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32120" y="1901952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🚀 Just way smarter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32120" y="2331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7EDF5"/>
                </a:solidFill>
                <a:latin typeface="Calibri"/>
              </a:rPr>
              <a:t>The AI has read: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32120" y="2724912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📚  Millions of books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3108960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🌐  Billions of web pages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3493008"/>
            <a:ext cx="3108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  <a:latin typeface="Calibri"/>
              </a:rPr>
              <a:t>💻  Mountains of code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297680"/>
            <a:ext cx="8412480" cy="548640"/>
          </a:xfrm>
          <a:prstGeom prst="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4407408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🌍 Real life:  Netflix guessing your next show, YouTube's autoplay — same idea, predicting what comes next.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🧩 AI Reads in Puzzle Pieces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7EDF5"/>
                </a:solidFill>
                <a:latin typeface="Calibri"/>
              </a:rPr>
              <a:t>AI breaks every word into little chunks called tokens.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7451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97AB"/>
                </a:solidFill>
                <a:latin typeface="Calibri"/>
              </a:rPr>
              <a:t>The word "unbelievable" becomes: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286000"/>
            <a:ext cx="822960" cy="548640"/>
          </a:xfrm>
          <a:prstGeom prst="rect">
            <a:avLst/>
          </a:prstGeom>
          <a:solidFill>
            <a:srgbClr val="3B5B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2395728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un</a:t>
            </a:r>
          </a:p>
        </p:txBody>
      </p:sp>
      <p:sp>
        <p:nvSpPr>
          <p:cNvPr id="8" name="Rectangle 7"/>
          <p:cNvSpPr/>
          <p:nvPr/>
        </p:nvSpPr>
        <p:spPr>
          <a:xfrm>
            <a:off x="1353312" y="2286000"/>
            <a:ext cx="1554480" cy="548640"/>
          </a:xfrm>
          <a:prstGeom prst="rect">
            <a:avLst/>
          </a:prstGeom>
          <a:solidFill>
            <a:srgbClr val="DB2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53312" y="239572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believ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72384" y="2286000"/>
            <a:ext cx="1188720" cy="548640"/>
          </a:xfrm>
          <a:prstGeom prst="rect">
            <a:avLst/>
          </a:prstGeom>
          <a:solidFill>
            <a:srgbClr val="05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72384" y="239572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632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97AB"/>
                </a:solidFill>
                <a:latin typeface="Calibri"/>
              </a:rPr>
              <a:t>Simple words = 1 chunk.  Long words = more chunks.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566160"/>
            <a:ext cx="4114800" cy="105156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703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The AI's memory limit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069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7EDF5"/>
                </a:solidFill>
                <a:latin typeface="Calibri"/>
              </a:rPr>
              <a:t>It can only hold so many chunks at once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3566160"/>
            <a:ext cx="4114800" cy="105156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00600" y="370332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3703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  <a:latin typeface="Calibri"/>
              </a:rPr>
              <a:t>How AI is priced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40690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7EDF5"/>
                </a:solidFill>
                <a:latin typeface="Calibri"/>
              </a:rPr>
              <a:t>Paid apps charge per chunk — longer = pricier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💬 How Does AI Remember You?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A4A"/>
                </a:solidFill>
                <a:latin typeface="Calibri"/>
              </a:rPr>
              <a:t>Surprise: it doesn't! The AI forgets everything the moment it answers.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481328"/>
            <a:ext cx="84124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475669"/>
                </a:solidFill>
                <a:latin typeface="Calibri"/>
              </a:rPr>
              <a:t>So how do chatbots remember your name? 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895584"/>
            <a:ext cx="41148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03274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563EB"/>
                </a:solidFill>
                <a:latin typeface="Calibri"/>
              </a:rPr>
              <a:t>🐠 Like a goldfish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44224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669"/>
                </a:solidFill>
                <a:latin typeface="Calibri"/>
              </a:rPr>
              <a:t>Every message, the AI starts fresh with no memory at all.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84304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669"/>
                </a:solidFill>
                <a:latin typeface="Calibri"/>
              </a:rPr>
              <a:t>The app fixes this by pasting the whole chat history back in each turn.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895584"/>
            <a:ext cx="4114800" cy="196596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46320" y="2032744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  <a:latin typeface="Calibri"/>
              </a:rPr>
              <a:t>📝 Like a whiteboard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444224"/>
            <a:ext cx="374903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669"/>
                </a:solidFill>
                <a:latin typeface="Calibri"/>
              </a:rPr>
              <a:t>There's only so much room. In a very long chat, the oldest messages get erased to make space.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267184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75669"/>
                </a:solidFill>
                <a:latin typeface="Calibri"/>
              </a:rPr>
              <a:t>That's why AI sometimes 'forgets' what you said way at the start.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480560"/>
            <a:ext cx="8412480" cy="502920"/>
          </a:xfrm>
          <a:prstGeom prst="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🌍 Real life:  Ever notice a long ChatGPT chat forgets your earlier questions? Now you know why.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✍️ What Is a Prompt?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7EDF5"/>
                </a:solidFill>
                <a:latin typeface="Calibri"/>
              </a:rPr>
              <a:t>A prompt is what you type to the AI. Ask clearly, get better answers.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920240"/>
            <a:ext cx="3931920" cy="2148840"/>
          </a:xfrm>
          <a:prstGeom prst="rect">
            <a:avLst/>
          </a:prstGeom>
          <a:solidFill>
            <a:srgbClr val="2A1A1A"/>
          </a:solidFill>
          <a:ln w="19050">
            <a:solidFill>
              <a:srgbClr val="7F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057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87171"/>
                </a:solidFill>
                <a:latin typeface="Calibri"/>
              </a:rPr>
              <a:t>🙁 Vague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E7EDF5"/>
                </a:solidFill>
                <a:latin typeface="Calibri"/>
              </a:rPr>
              <a:t>"Help me with my trip."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87171"/>
                </a:solidFill>
                <a:latin typeface="Calibri"/>
              </a:rPr>
              <a:t>→ a random, unhelpful answer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920240"/>
            <a:ext cx="3931920" cy="2148840"/>
          </a:xfrm>
          <a:prstGeom prst="rect">
            <a:avLst/>
          </a:prstGeom>
          <a:solidFill>
            <a:srgbClr val="142A1A"/>
          </a:solidFill>
          <a:ln w="19050">
            <a:solidFill>
              <a:srgbClr val="2F7F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2057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2C55E"/>
                </a:solidFill>
                <a:latin typeface="Calibri"/>
              </a:rPr>
              <a:t>🙂 Clear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56032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E7EDF5"/>
                </a:solidFill>
                <a:latin typeface="Calibri"/>
              </a:rPr>
              <a:t>"Plan a 3-day trip to Tokyo on a student budget."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337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2C55E"/>
                </a:solidFill>
                <a:latin typeface="Calibri"/>
              </a:rPr>
              <a:t>→ exactly what you needed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34340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8BDF8"/>
                </a:solidFill>
                <a:latin typeface="Calibri"/>
              </a:rPr>
              <a:t>💡 It's like a search bar — the better your words, the better your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⚠️ AI Can Be Confidently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51560"/>
            <a:ext cx="841248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 dirty="0">
                <a:solidFill>
                  <a:srgbClr val="1E2A4A"/>
                </a:solidFill>
                <a:latin typeface="Calibri"/>
              </a:rPr>
              <a:t>AI is powerful</a:t>
            </a:r>
            <a:r>
              <a:rPr lang="en-US" sz="1500" b="1" i="0" dirty="0">
                <a:solidFill>
                  <a:srgbClr val="1E2A4A"/>
                </a:solidFill>
                <a:latin typeface="Calibri"/>
              </a:rPr>
              <a:t>,</a:t>
            </a:r>
            <a:r>
              <a:rPr sz="1500" b="1" i="0" dirty="0">
                <a:solidFill>
                  <a:srgbClr val="1E2A4A"/>
                </a:solidFill>
                <a:latin typeface="Calibri"/>
              </a:rPr>
              <a:t> but it's not always right. Three things to watch for: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600200"/>
            <a:ext cx="27432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79" y="1783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E2A4A"/>
                </a:solidFill>
                <a:latin typeface="Calibri"/>
              </a:rPr>
              <a:t>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B91C1C"/>
                </a:solidFill>
                <a:latin typeface="Calibri"/>
              </a:rPr>
              <a:t>Makes stuff 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8803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669"/>
                </a:solidFill>
                <a:latin typeface="Calibri"/>
              </a:rPr>
              <a:t>States false things — with total confidence.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27432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37560" y="1783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E2A4A"/>
                </a:solidFill>
                <a:latin typeface="Calibri"/>
              </a:rPr>
              <a:t>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D4ED8"/>
                </a:solidFill>
                <a:latin typeface="Calibri"/>
              </a:rPr>
              <a:t>Stuck in the past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8803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669"/>
                </a:solidFill>
                <a:latin typeface="Calibri"/>
              </a:rPr>
              <a:t>Doesn't know anything recent.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600200"/>
            <a:ext cx="274320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7830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1E2A4A"/>
                </a:solidFill>
                <a:latin typeface="Calibri"/>
              </a:rPr>
              <a:t>⚖️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4688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6D28D9"/>
                </a:solidFill>
                <a:latin typeface="Calibri"/>
              </a:rPr>
              <a:t>Can be biased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88036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669"/>
                </a:solidFill>
                <a:latin typeface="Calibri"/>
              </a:rPr>
              <a:t>Repeats biases from what it read.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114800"/>
            <a:ext cx="8595360" cy="777240"/>
          </a:xfrm>
          <a:prstGeom prst="rect">
            <a:avLst/>
          </a:prstGeom>
          <a:solidFill>
            <a:srgbClr val="FEF9EE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4206240"/>
            <a:ext cx="8229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1E2A4A"/>
                </a:solidFill>
                <a:latin typeface="Calibri"/>
              </a:rPr>
              <a:t>✨ Golden Rule:  Use AI as a smart first draft</a:t>
            </a:r>
            <a:r>
              <a:rPr lang="en-US" sz="1400" b="1" i="0" dirty="0">
                <a:solidFill>
                  <a:srgbClr val="1E2A4A"/>
                </a:solidFill>
                <a:latin typeface="Calibri"/>
              </a:rPr>
              <a:t>, </a:t>
            </a:r>
            <a:r>
              <a:rPr sz="1400" b="1" i="0" dirty="0">
                <a:solidFill>
                  <a:srgbClr val="1E2A4A"/>
                </a:solidFill>
                <a:latin typeface="Calibri"/>
              </a:rPr>
              <a:t>never as the final truth.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5262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669"/>
                </a:solidFill>
                <a:latin typeface="Calibri"/>
              </a:rPr>
              <a:t>Always double-check anything important. (Lawyers have been fined for trusting AI-invented court cases!)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🔀 Bigger Isn't Always Better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E7EDF5"/>
                </a:solidFill>
                <a:latin typeface="Calibri"/>
              </a:rPr>
              <a:t>AI comes in different sizes. Bigger models are smarter but slower.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737360"/>
            <a:ext cx="2697480" cy="228600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87451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2C55E"/>
                </a:solidFill>
                <a:latin typeface="Calibri"/>
              </a:rPr>
              <a:t>Calculator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992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8BDF8"/>
                </a:solidFill>
                <a:latin typeface="Calibri"/>
              </a:rPr>
              <a:t>Small &amp;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64992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E7EDF5"/>
                </a:solidFill>
                <a:latin typeface="Calibri"/>
              </a:rPr>
              <a:t>Great for quick, simple answers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737360"/>
            <a:ext cx="2697480" cy="228600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37560" y="187451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6060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BBF24"/>
                </a:solidFill>
                <a:latin typeface="Calibri"/>
              </a:rPr>
              <a:t>Laptop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9992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8BDF8"/>
                </a:solidFill>
                <a:latin typeface="Calibri"/>
              </a:rPr>
              <a:t>Balanced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364992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E7EDF5"/>
                </a:solidFill>
                <a:latin typeface="Calibri"/>
              </a:rPr>
              <a:t>Handles most everyday work well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737360"/>
            <a:ext cx="2697480" cy="228600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1874519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  <a:latin typeface="Calibri"/>
              </a:rPr>
              <a:t>🖥️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606040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A78BFA"/>
                </a:solidFill>
                <a:latin typeface="Calibri"/>
              </a:rPr>
              <a:t>Supercomputer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9992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8BDF8"/>
                </a:solidFill>
                <a:latin typeface="Calibri"/>
              </a:rPr>
              <a:t>Big &amp; powerful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364992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E7EDF5"/>
                </a:solidFill>
                <a:latin typeface="Calibri"/>
              </a:rPr>
              <a:t>Slow, but tackles the hardest problems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297680"/>
            <a:ext cx="841248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8A97AB"/>
                </a:solidFill>
                <a:latin typeface="Calibri"/>
              </a:rPr>
              <a:t>🌍 Real life:  It's like your phone's </a:t>
            </a:r>
            <a:r>
              <a:rPr lang="en-US" sz="1300" b="0" i="0" dirty="0">
                <a:solidFill>
                  <a:srgbClr val="8A97AB"/>
                </a:solidFill>
                <a:latin typeface="Calibri"/>
              </a:rPr>
              <a:t>battery;</a:t>
            </a:r>
            <a:r>
              <a:rPr sz="1300" b="0" i="0" dirty="0">
                <a:solidFill>
                  <a:srgbClr val="8A97AB"/>
                </a:solidFill>
                <a:latin typeface="Calibri"/>
              </a:rPr>
              <a:t> </a:t>
            </a:r>
            <a:endParaRPr lang="en-US" sz="1300" b="0" i="0" dirty="0">
              <a:solidFill>
                <a:srgbClr val="8A97AB"/>
              </a:solidFill>
              <a:latin typeface="Calibri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sz="1300" b="0" i="0" dirty="0">
                <a:solidFill>
                  <a:srgbClr val="8A97AB"/>
                </a:solidFill>
                <a:latin typeface="Calibri"/>
              </a:rPr>
              <a:t>more power means better results but faster drain. </a:t>
            </a:r>
            <a:endParaRPr lang="en-US" sz="1300" b="0" i="0" dirty="0">
              <a:solidFill>
                <a:srgbClr val="8A97AB"/>
              </a:solidFill>
              <a:latin typeface="Calibri"/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sz="1300" b="0" i="0" dirty="0">
                <a:solidFill>
                  <a:srgbClr val="8A97AB"/>
                </a:solidFill>
                <a:latin typeface="Calibri"/>
              </a:rPr>
              <a:t>Pick the right size for the job.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03120"/>
          </a:xfrm>
          <a:prstGeom prst="rect">
            <a:avLst/>
          </a:prstGeom>
          <a:solidFill>
            <a:srgbClr val="171E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🎓 The Big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8BDF8"/>
                </a:solidFill>
                <a:latin typeface="Calibri"/>
              </a:rPr>
              <a:t>You now understand what's really happening inside every AI chatbot.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4023360" cy="658368"/>
          </a:xfrm>
          <a:prstGeom prst="rect">
            <a:avLst/>
          </a:prstGeom>
          <a:solidFill>
            <a:srgbClr val="1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250545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53288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7EDF5"/>
                </a:solidFill>
                <a:latin typeface="Calibri"/>
              </a:rPr>
              <a:t>AI guesses the next word, over and 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2377440"/>
            <a:ext cx="4023360" cy="658368"/>
          </a:xfrm>
          <a:prstGeom prst="rect">
            <a:avLst/>
          </a:prstGeom>
          <a:solidFill>
            <a:srgbClr val="1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83480" y="250545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253288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7EDF5"/>
                </a:solidFill>
                <a:latin typeface="Calibri"/>
              </a:rPr>
              <a:t>It reads in tokens — little word chunks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54680"/>
            <a:ext cx="4023360" cy="658368"/>
          </a:xfrm>
          <a:prstGeom prst="rect">
            <a:avLst/>
          </a:prstGeom>
          <a:solidFill>
            <a:srgbClr val="1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28269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31012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7EDF5"/>
                </a:solidFill>
                <a:latin typeface="Calibri"/>
              </a:rPr>
              <a:t>It only 'remembers' what's in the conversation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3154680"/>
            <a:ext cx="4023360" cy="658368"/>
          </a:xfrm>
          <a:prstGeom prst="rect">
            <a:avLst/>
          </a:prstGeom>
          <a:solidFill>
            <a:srgbClr val="1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83480" y="3282696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331012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7EDF5"/>
                </a:solidFill>
                <a:latin typeface="Calibri"/>
              </a:rPr>
              <a:t>Clear prompts get better answers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31920"/>
            <a:ext cx="4023360" cy="658368"/>
          </a:xfrm>
          <a:prstGeom prst="rect">
            <a:avLst/>
          </a:prstGeom>
          <a:solidFill>
            <a:srgbClr val="1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85800" y="4059935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⚠️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8736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7EDF5"/>
                </a:solidFill>
                <a:latin typeface="Calibri"/>
              </a:rPr>
              <a:t>It can be confidently wrong — always verify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3931920"/>
            <a:ext cx="4023360" cy="658368"/>
          </a:xfrm>
          <a:prstGeom prst="rect">
            <a:avLst/>
          </a:prstGeom>
          <a:solidFill>
            <a:srgbClr val="1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83480" y="4059935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Calibri"/>
              </a:rPr>
              <a:t>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4087368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7EDF5"/>
                </a:solidFill>
                <a:latin typeface="Calibri"/>
              </a:rPr>
              <a:t>Bigger models are smarter but slower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A97AB"/>
                </a:solidFill>
                <a:latin typeface="Calibri"/>
              </a:rPr>
              <a:t>Most people use AI like a magic box. Now you know what's inside. 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146304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🚀 Now Let's Get Hands-On!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A4A"/>
                </a:solidFill>
                <a:latin typeface="Calibri"/>
              </a:rPr>
              <a:t>Time to open the notebook and try it all yourself — with real AI and fun games.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916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Diamond 5"/>
          <p:cNvSpPr/>
          <p:nvPr/>
        </p:nvSpPr>
        <p:spPr>
          <a:xfrm>
            <a:off x="484632" y="1892808"/>
            <a:ext cx="420624" cy="420624"/>
          </a:xfrm>
          <a:prstGeom prst="diamond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84632" y="1911095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E2A4A"/>
                </a:solidFill>
                <a:latin typeface="Calibri"/>
              </a:rPr>
              <a:t>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8013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2A4A"/>
                </a:solidFill>
                <a:latin typeface="Calibri"/>
              </a:rPr>
              <a:t>Predict the Next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1305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  <a:latin typeface="Calibri"/>
              </a:rPr>
              <a:t>Be the AI — guess what word comes next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69164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Diamond 10"/>
          <p:cNvSpPr/>
          <p:nvPr/>
        </p:nvSpPr>
        <p:spPr>
          <a:xfrm>
            <a:off x="4828032" y="1892808"/>
            <a:ext cx="420624" cy="420624"/>
          </a:xfrm>
          <a:prstGeom prst="diamond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28032" y="1911095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E2A4A"/>
                </a:solidFill>
                <a:latin typeface="Calibri"/>
              </a:rPr>
              <a:t>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8013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2A4A"/>
                </a:solidFill>
                <a:latin typeface="Calibri"/>
              </a:rPr>
              <a:t>Live Token Counter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13055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  <a:latin typeface="Calibri"/>
              </a:rPr>
              <a:t>Type anything, watch it split into chunks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65176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Diamond 15"/>
          <p:cNvSpPr/>
          <p:nvPr/>
        </p:nvSpPr>
        <p:spPr>
          <a:xfrm>
            <a:off x="484632" y="2852928"/>
            <a:ext cx="420624" cy="420624"/>
          </a:xfrm>
          <a:prstGeom prst="diamond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84632" y="2871216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E2A4A"/>
                </a:solidFill>
                <a:latin typeface="Calibri"/>
              </a:rPr>
              <a:t>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7614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2A4A"/>
                </a:solidFill>
                <a:latin typeface="Calibri"/>
              </a:rPr>
              <a:t>Memory ON vs 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30906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  <a:latin typeface="Calibri"/>
              </a:rPr>
              <a:t>See the AI remember — then forget you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65176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Diamond 20"/>
          <p:cNvSpPr/>
          <p:nvPr/>
        </p:nvSpPr>
        <p:spPr>
          <a:xfrm>
            <a:off x="4828032" y="2852928"/>
            <a:ext cx="420624" cy="420624"/>
          </a:xfrm>
          <a:prstGeom prst="diamond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28032" y="2871216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E2A4A"/>
                </a:solidFill>
                <a:latin typeface="Calibri"/>
              </a:rPr>
              <a:t>⚔️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0" y="27614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2A4A"/>
                </a:solidFill>
                <a:latin typeface="Calibri"/>
              </a:rPr>
              <a:t>Prompt Duel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309067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  <a:latin typeface="Calibri"/>
              </a:rPr>
              <a:t>Weak vs strong prompt — which one wins?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118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iamond 25"/>
          <p:cNvSpPr/>
          <p:nvPr/>
        </p:nvSpPr>
        <p:spPr>
          <a:xfrm>
            <a:off x="484632" y="3813048"/>
            <a:ext cx="420624" cy="420624"/>
          </a:xfrm>
          <a:prstGeom prst="diamond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" y="3831336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E2A4A"/>
                </a:solidFill>
                <a:latin typeface="Calibri"/>
              </a:rPr>
              <a:t>🕵️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72160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2A4A"/>
                </a:solidFill>
                <a:latin typeface="Calibri"/>
              </a:rPr>
              <a:t>Fact or Fiction?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4050791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  <a:latin typeface="Calibri"/>
              </a:rPr>
              <a:t>Catch the AI making things 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60" y="36118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Diamond 30"/>
          <p:cNvSpPr/>
          <p:nvPr/>
        </p:nvSpPr>
        <p:spPr>
          <a:xfrm>
            <a:off x="4828032" y="3813048"/>
            <a:ext cx="420624" cy="420624"/>
          </a:xfrm>
          <a:prstGeom prst="diamond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28032" y="3831336"/>
            <a:ext cx="4206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1E2A4A"/>
                </a:solidFill>
                <a:latin typeface="Calibri"/>
              </a:rPr>
              <a:t>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372160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E2A4A"/>
                </a:solidFill>
                <a:latin typeface="Calibri"/>
              </a:rPr>
              <a:t>Chat with Real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4050791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75669"/>
                </a:solidFill>
                <a:latin typeface="Calibri"/>
              </a:rPr>
              <a:t>Ask anything — even upload a picture!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4645152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E3A5F"/>
                </a:solidFill>
                <a:latin typeface="Calibri"/>
              </a:rPr>
              <a:t>👉 Open  PYNQ_505_AI_Prompt_Engineering.ipynb  and run the first cell to begin!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39aa4b3-b62d-42bf-8097-75e2c573ddfa}" enabled="1" method="Privileged" siteId="{3dd8961f-e488-4e60-8e11-a82d994e183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842</Words>
  <Application>Microsoft Office PowerPoint</Application>
  <PresentationFormat>On-screen Show (16:9)</PresentationFormat>
  <Paragraphs>145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Rachapalli, Nikhitha</cp:lastModifiedBy>
  <cp:revision>3</cp:revision>
  <dcterms:created xsi:type="dcterms:W3CDTF">2013-01-27T09:14:16Z</dcterms:created>
  <dcterms:modified xsi:type="dcterms:W3CDTF">2026-07-22T23:49:51Z</dcterms:modified>
  <cp:category/>
</cp:coreProperties>
</file>