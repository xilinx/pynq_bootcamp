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9" d="100"/>
          <a:sy n="119" d="100"/>
        </p:scale>
        <p:origin x="41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91D0EB-4C09-7755-53B3-B1689046791C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750888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FF">
                    <a:alpha val="50000"/>
                  </a:srgbClr>
                </a:solidFill>
                <a:latin typeface="Aptos" panose="020B0004020202020204" pitchFamily="34" charset="0"/>
              </a:rPr>
              <a:t>AMD General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2560320"/>
          </a:xfrm>
          <a:prstGeom prst="rect">
            <a:avLst/>
          </a:prstGeom>
          <a:solidFill>
            <a:srgbClr val="171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Diamond 3"/>
          <p:cNvSpPr/>
          <p:nvPr/>
        </p:nvSpPr>
        <p:spPr>
          <a:xfrm>
            <a:off x="502920" y="502920"/>
            <a:ext cx="411480" cy="411480"/>
          </a:xfrm>
          <a:prstGeom prst="diamond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41148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8BDF8"/>
                </a:solidFill>
                <a:latin typeface="Calibri"/>
              </a:rPr>
              <a:t>PYNQ Bootcamp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AI Language Models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E7EDF5"/>
                </a:solidFill>
                <a:latin typeface="Calibri"/>
              </a:rPr>
              <a:t>&amp; Prompt Engineering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697480"/>
            <a:ext cx="8229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2880360"/>
            <a:ext cx="82296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8A97AB"/>
                </a:solidFill>
                <a:latin typeface="Calibri"/>
              </a:rPr>
              <a:t>Session </a:t>
            </a:r>
            <a:r>
              <a:rPr lang="en-US" sz="1300" dirty="0">
                <a:solidFill>
                  <a:srgbClr val="8A97AB"/>
                </a:solidFill>
                <a:latin typeface="Calibri"/>
              </a:rPr>
              <a:t>505</a:t>
            </a:r>
            <a:r>
              <a:rPr sz="1300" b="0" i="0" dirty="0">
                <a:solidFill>
                  <a:srgbClr val="8A97AB"/>
                </a:solidFill>
                <a:latin typeface="Calibri"/>
              </a:rPr>
              <a:t>  ·  KV260 Strix  ·  Python + AI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520440"/>
            <a:ext cx="2697480" cy="1188720"/>
          </a:xfrm>
          <a:prstGeom prst="rect">
            <a:avLst/>
          </a:prstGeom>
          <a:solidFill>
            <a:srgbClr val="171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36118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8BDF8"/>
                </a:solidFill>
                <a:latin typeface="Calibri"/>
              </a:rPr>
              <a:t>What you'll run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913632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7EDF5"/>
                </a:solidFill>
                <a:latin typeface="Calibri"/>
              </a:rPr>
              <a:t>LLM on your own hardware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02152" y="3520440"/>
            <a:ext cx="2697480" cy="1188720"/>
          </a:xfrm>
          <a:prstGeom prst="rect">
            <a:avLst/>
          </a:prstGeom>
          <a:solidFill>
            <a:srgbClr val="171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39312" y="36118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8BDF8"/>
                </a:solidFill>
                <a:latin typeface="Calibri"/>
              </a:rPr>
              <a:t>Language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9312" y="3913632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7EDF5"/>
                </a:solidFill>
                <a:latin typeface="Calibri"/>
              </a:rPr>
              <a:t>Python  ·  Jupyter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47104" y="3520440"/>
            <a:ext cx="2697480" cy="1188720"/>
          </a:xfrm>
          <a:prstGeom prst="rect">
            <a:avLst/>
          </a:prstGeom>
          <a:solidFill>
            <a:srgbClr val="171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84264" y="36118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8BDF8"/>
                </a:solidFill>
                <a:latin typeface="Calibri"/>
              </a:rPr>
              <a:t>Duration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84264" y="3913632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7EDF5"/>
                </a:solidFill>
                <a:latin typeface="Calibri"/>
              </a:rPr>
              <a:t>~90 minutes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What We'll Cover Today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43000"/>
            <a:ext cx="28346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iamond 4"/>
          <p:cNvSpPr/>
          <p:nvPr/>
        </p:nvSpPr>
        <p:spPr>
          <a:xfrm>
            <a:off x="384048" y="1252728"/>
            <a:ext cx="347472" cy="347472"/>
          </a:xfrm>
          <a:prstGeom prst="diamond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84048" y="125272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1252728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A4A"/>
                </a:solidFill>
                <a:latin typeface="Calibri"/>
              </a:rPr>
              <a:t>What Is an LLM?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1709928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669"/>
                </a:solidFill>
                <a:latin typeface="Calibri"/>
              </a:rPr>
              <a:t>Next-token prediction, parameters, temperature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6120" y="1143000"/>
            <a:ext cx="28346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Diamond 9"/>
          <p:cNvSpPr/>
          <p:nvPr/>
        </p:nvSpPr>
        <p:spPr>
          <a:xfrm>
            <a:off x="3355848" y="1252728"/>
            <a:ext cx="347472" cy="347472"/>
          </a:xfrm>
          <a:prstGeom prst="diamond">
            <a:avLst/>
          </a:prstGeom>
          <a:solidFill>
            <a:srgbClr val="059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55848" y="125272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59" y="1252728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A4A"/>
                </a:solidFill>
                <a:latin typeface="Calibri"/>
              </a:rPr>
              <a:t>Tokens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55848" y="1709928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669"/>
                </a:solidFill>
                <a:latin typeface="Calibri"/>
              </a:rPr>
              <a:t>How the model reads text · tok/s · context limits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143000"/>
            <a:ext cx="28346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Diamond 14"/>
          <p:cNvSpPr/>
          <p:nvPr/>
        </p:nvSpPr>
        <p:spPr>
          <a:xfrm>
            <a:off x="6327648" y="1252728"/>
            <a:ext cx="347472" cy="347472"/>
          </a:xfrm>
          <a:prstGeom prst="diamond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27648" y="125272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59" y="1252728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A4A"/>
                </a:solidFill>
                <a:latin typeface="Calibri"/>
              </a:rPr>
              <a:t>Context &amp; Memory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7648" y="1709928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669"/>
                </a:solidFill>
                <a:latin typeface="Calibri"/>
              </a:rPr>
              <a:t>The history list · sliding window · New chat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2926080"/>
            <a:ext cx="28346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Diamond 19"/>
          <p:cNvSpPr/>
          <p:nvPr/>
        </p:nvSpPr>
        <p:spPr>
          <a:xfrm>
            <a:off x="384048" y="3035808"/>
            <a:ext cx="347472" cy="347472"/>
          </a:xfrm>
          <a:prstGeom prst="diamond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84048" y="303580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59" y="3035808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A4A"/>
                </a:solidFill>
                <a:latin typeface="Calibri"/>
              </a:rPr>
              <a:t>Prompt Engineering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3493008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669"/>
                </a:solidFill>
                <a:latin typeface="Calibri"/>
              </a:rPr>
              <a:t>Zero-shot · One-shot · Few-shot · CoT · Role prompting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46120" y="2926080"/>
            <a:ext cx="28346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Diamond 24"/>
          <p:cNvSpPr/>
          <p:nvPr/>
        </p:nvSpPr>
        <p:spPr>
          <a:xfrm>
            <a:off x="3355848" y="3035808"/>
            <a:ext cx="347472" cy="347472"/>
          </a:xfrm>
          <a:prstGeom prst="diamond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355848" y="303580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94759" y="3035808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A4A"/>
                </a:solidFill>
                <a:latin typeface="Calibri"/>
              </a:rPr>
              <a:t>Limits &amp; Responsible Use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55848" y="3493008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669"/>
                </a:solidFill>
                <a:latin typeface="Calibri"/>
              </a:rPr>
              <a:t>Hallucinations · knowledge cutoff · verify everything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2926080"/>
            <a:ext cx="28346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Diamond 29"/>
          <p:cNvSpPr/>
          <p:nvPr/>
        </p:nvSpPr>
        <p:spPr>
          <a:xfrm>
            <a:off x="6327648" y="3035808"/>
            <a:ext cx="347472" cy="347472"/>
          </a:xfrm>
          <a:prstGeom prst="diamond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27648" y="303580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59" y="3035808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A4A"/>
                </a:solidFill>
                <a:latin typeface="Calibri"/>
              </a:rPr>
              <a:t>Hands-On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27648" y="3493008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669"/>
                </a:solidFill>
                <a:latin typeface="Calibri"/>
              </a:rPr>
              <a:t>Build your own helper · image upload · model comparison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What Is an LLM?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51560"/>
            <a:ext cx="2697480" cy="1691640"/>
          </a:xfrm>
          <a:prstGeom prst="rect">
            <a:avLst/>
          </a:prstGeom>
          <a:solidFill>
            <a:srgbClr val="171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8BDF8"/>
                </a:solidFill>
                <a:latin typeface="Calibri"/>
              </a:rPr>
              <a:t>Large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2423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Trained on billions
of sentences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12848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A97AB"/>
                </a:solidFill>
                <a:latin typeface="Calibri"/>
              </a:rPr>
              <a:t>More data → better patterns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1051560"/>
            <a:ext cx="2697480" cy="1691640"/>
          </a:xfrm>
          <a:prstGeom prst="rect">
            <a:avLst/>
          </a:prstGeom>
          <a:solidFill>
            <a:srgbClr val="171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337560" y="109728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8BDF8"/>
                </a:solidFill>
                <a:latin typeface="Calibri"/>
              </a:rPr>
              <a:t>Language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1508760"/>
            <a:ext cx="2423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Reads and writes
human 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2212848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A97AB"/>
                </a:solidFill>
                <a:latin typeface="Calibri"/>
              </a:rPr>
              <a:t>Web pages, books, code, articles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80759" y="1051560"/>
            <a:ext cx="2697480" cy="1691640"/>
          </a:xfrm>
          <a:prstGeom prst="rect">
            <a:avLst/>
          </a:prstGeom>
          <a:solidFill>
            <a:srgbClr val="171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17920" y="109728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8BDF8"/>
                </a:solidFill>
                <a:latin typeface="Calibri"/>
              </a:rPr>
              <a:t>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508760"/>
            <a:ext cx="2423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A math function
that learned patterns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212848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A97AB"/>
                </a:solidFill>
                <a:latin typeface="Calibri"/>
              </a:rPr>
              <a:t>8B parameters on your Strix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288036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8BDF8"/>
                </a:solidFill>
                <a:latin typeface="Calibri"/>
              </a:rPr>
              <a:t>The one trick: predict the next token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337560"/>
            <a:ext cx="5303520" cy="1463040"/>
          </a:xfrm>
          <a:prstGeom prst="rect">
            <a:avLst/>
          </a:prstGeom>
          <a:solidFill>
            <a:srgbClr val="171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33832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A97AB"/>
                </a:solidFill>
                <a:latin typeface="Calibri"/>
              </a:rPr>
              <a:t>"To load a DPU overlay, the first thing you call is ___"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822191"/>
            <a:ext cx="2304288" cy="201168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852928" y="381304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7EDF5"/>
                </a:solidFill>
                <a:latin typeface="Calibri"/>
              </a:rPr>
              <a:t>overlay = DpuOverlay(...)  72%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4123944"/>
            <a:ext cx="576072" cy="20116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24712" y="411480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7EDF5"/>
                </a:solidFill>
                <a:latin typeface="Calibri"/>
              </a:rPr>
              <a:t>dpu.load()  18%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425696"/>
            <a:ext cx="224028" cy="20116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2668" y="441655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7EDF5"/>
                </a:solidFill>
                <a:latin typeface="Calibri"/>
              </a:rPr>
              <a:t>import pynq  7%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0" y="333756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7EDF5"/>
                </a:solidFill>
                <a:latin typeface="Calibri"/>
              </a:rPr>
              <a:t>It picks one, adds it, runs again. Repeat ~30× = full answer.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Tokens — How the Model Reads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51560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A4A"/>
                </a:solidFill>
                <a:latin typeface="Calibri"/>
              </a:rPr>
              <a:t>The model doesn't read words — it reads tokens (chunks of text).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41732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475669"/>
                </a:solidFill>
                <a:latin typeface="Calibri"/>
              </a:rPr>
              <a:t>Rule of thumb:  1 token ≈ ¾ of an English word  ·  100 words ≈ 133 tokens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87451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669"/>
                </a:solidFill>
                <a:latin typeface="Calibri"/>
              </a:rPr>
              <a:t>"DpuOverlay" becomes: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2212848"/>
            <a:ext cx="466344" cy="34747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02336" y="2240280"/>
            <a:ext cx="411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23544" y="2212848"/>
            <a:ext cx="301751" cy="347472"/>
          </a:xfrm>
          <a:prstGeom prst="round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2240280"/>
            <a:ext cx="24688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u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16736" y="2212848"/>
            <a:ext cx="795528" cy="347472"/>
          </a:xfrm>
          <a:prstGeom prst="roundRect">
            <a:avLst/>
          </a:prstGeom>
          <a:solidFill>
            <a:srgbClr val="059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353312" y="2240280"/>
            <a:ext cx="7406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Over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03704" y="2212848"/>
            <a:ext cx="630936" cy="347472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240280" y="2240280"/>
            <a:ext cx="5760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lay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2743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A4A"/>
                </a:solidFill>
                <a:latin typeface="Calibri"/>
              </a:rPr>
              <a:t>Why tokens matter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127248"/>
            <a:ext cx="8412480" cy="402336"/>
          </a:xfrm>
          <a:prstGeom prst="rect">
            <a:avLst/>
          </a:prstGeom>
          <a:solidFill>
            <a:srgbClr val="EE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318211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A4A"/>
                </a:solidFill>
                <a:latin typeface="Calibri"/>
              </a:rPr>
              <a:t>Context window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318211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669"/>
                </a:solidFill>
                <a:latin typeface="Calibri"/>
              </a:rPr>
              <a:t>128,000 tokens max on your Strix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584448"/>
            <a:ext cx="8412480" cy="402336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20" y="363931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A4A"/>
                </a:solidFill>
                <a:latin typeface="Calibri"/>
              </a:rPr>
              <a:t>Speed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363931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669"/>
                </a:solidFill>
                <a:latin typeface="Calibri"/>
              </a:rPr>
              <a:t>Measured in tokens/second (tok/s)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041648"/>
            <a:ext cx="8412480" cy="402336"/>
          </a:xfrm>
          <a:prstGeom prst="rect">
            <a:avLst/>
          </a:prstGeom>
          <a:solidFill>
            <a:srgbClr val="EE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2920" y="4096511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A4A"/>
                </a:solidFill>
                <a:latin typeface="Calibri"/>
              </a:rPr>
              <a:t>Cost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096511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669"/>
                </a:solidFill>
                <a:latin typeface="Calibri"/>
              </a:rPr>
              <a:t>Billed per token on paid APIs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2563EB"/>
                </a:solidFill>
                <a:latin typeface="Calibri"/>
              </a:rPr>
              <a:t>👀 Watch the "answered in X.Xs" line in the chat — that's token time live!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Context &amp; Memory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BBF24"/>
                </a:solidFill>
                <a:latin typeface="Calibri"/>
              </a:rPr>
              <a:t>The AI has NO built-in memory. Every call starts fresh.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508760"/>
            <a:ext cx="4114800" cy="2743200"/>
          </a:xfrm>
          <a:prstGeom prst="rect">
            <a:avLst/>
          </a:prstGeom>
          <a:solidFill>
            <a:srgbClr val="171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57276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Calibri"/>
              </a:rPr>
              <a:t>Turn 1  →  we send: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01952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E7EDF5"/>
                </a:solidFill>
                <a:latin typeface="Calibri"/>
              </a:rPr>
              <a:t>["User: I am at the PYNQ Bootcamp
 working on pose detection."]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87168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Calibri"/>
              </a:rPr>
              <a:t>We get: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61488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4ADE80"/>
                </a:solidFill>
                <a:latin typeface="Calibri"/>
              </a:rPr>
              <a:t>"Cool! Are you using a webcam
 with the KV260?"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1508760"/>
            <a:ext cx="4114800" cy="2743200"/>
          </a:xfrm>
          <a:prstGeom prst="rect">
            <a:avLst/>
          </a:prstGeom>
          <a:solidFill>
            <a:srgbClr val="171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46320" y="157276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Calibri"/>
              </a:rPr>
              <a:t>Turn 2  →  we send: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1874519"/>
            <a:ext cx="37490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E7EDF5"/>
                </a:solidFill>
                <a:latin typeface="Calibri"/>
              </a:rPr>
              <a:t>["User: PYNQ Bootcamp, pose detection.",
 "AI: Using a webcam with KV260?",
 "User: My overlay won't load."]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272491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BBF24"/>
                </a:solidFill>
                <a:latin typeface="Calibri"/>
              </a:rPr>
              <a:t>← full history every time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301752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Calibri"/>
              </a:rPr>
              <a:t>We get: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3291840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4ADE80"/>
                </a:solidFill>
                <a:latin typeface="Calibri"/>
              </a:rPr>
              <a:t>"That's a DPU resource conflict.
Try Kernel → Shutdown All."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62272" y="2651760"/>
            <a:ext cx="228600" cy="365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53128" y="2606040"/>
            <a:ext cx="2560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563EB"/>
                </a:solidFill>
                <a:latin typeface="Calibri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437083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  <a:latin typeface="Calibri"/>
              </a:rPr>
              <a:t>✦ New chat button = empties the list = AI forgets everything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Prompt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24128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75669"/>
                </a:solidFill>
                <a:latin typeface="Calibri"/>
              </a:rPr>
              <a:t>Writing and refining prompts to get better, more useful answers — an iterative, test-driven process.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536192"/>
            <a:ext cx="1371600" cy="329184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93192" y="157276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Ingredient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1719072" y="1536192"/>
            <a:ext cx="2286000" cy="329184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792224" y="157276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Purpose</a:t>
            </a:r>
          </a:p>
        </p:txBody>
      </p:sp>
      <p:sp>
        <p:nvSpPr>
          <p:cNvPr id="9" name="Rectangle 8"/>
          <p:cNvSpPr/>
          <p:nvPr/>
        </p:nvSpPr>
        <p:spPr>
          <a:xfrm>
            <a:off x="4041648" y="1536192"/>
            <a:ext cx="4389120" cy="329184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800" y="1572768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Example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901952"/>
            <a:ext cx="1371600" cy="530352"/>
          </a:xfrm>
          <a:prstGeom prst="rect">
            <a:avLst/>
          </a:prstGeom>
          <a:solidFill>
            <a:srgbClr val="EEF1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719072" y="1901952"/>
            <a:ext cx="2286000" cy="530352"/>
          </a:xfrm>
          <a:prstGeom prst="rect">
            <a:avLst/>
          </a:prstGeom>
          <a:solidFill>
            <a:srgbClr val="EEF1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041648" y="1901952"/>
            <a:ext cx="4389120" cy="530352"/>
          </a:xfrm>
          <a:prstGeom prst="rect">
            <a:avLst/>
          </a:prstGeom>
          <a:solidFill>
            <a:srgbClr val="EEF1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1479" y="1975104"/>
            <a:ext cx="1234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A4A"/>
                </a:solidFill>
                <a:latin typeface="Calibri"/>
              </a:rPr>
              <a:t>🎭 Role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10512" y="1975104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A4A"/>
                </a:solidFill>
                <a:latin typeface="Calibri"/>
              </a:rPr>
              <a:t>Sets persona, tone, expertise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33087" y="1975104"/>
            <a:ext cx="42519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A4A"/>
                </a:solidFill>
                <a:latin typeface="Calibri"/>
              </a:rPr>
              <a:t>You are an experienced hardware engineer.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468880"/>
            <a:ext cx="13716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719072" y="2468880"/>
            <a:ext cx="22860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041648" y="2468880"/>
            <a:ext cx="43891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11479" y="2542032"/>
            <a:ext cx="1234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A4A"/>
                </a:solidFill>
                <a:latin typeface="Calibri"/>
              </a:rPr>
              <a:t>📝 Task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10512" y="2542032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A4A"/>
                </a:solidFill>
                <a:latin typeface="Calibri"/>
              </a:rPr>
              <a:t>States exactly what you want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33087" y="2542032"/>
            <a:ext cx="42519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A4A"/>
                </a:solidFill>
                <a:latin typeface="Calibri"/>
              </a:rPr>
              <a:t>Explain how an FPGA differs from a CPU.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3035808"/>
            <a:ext cx="1371600" cy="530352"/>
          </a:xfrm>
          <a:prstGeom prst="rect">
            <a:avLst/>
          </a:prstGeom>
          <a:solidFill>
            <a:srgbClr val="EEF1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719072" y="3035808"/>
            <a:ext cx="2286000" cy="530352"/>
          </a:xfrm>
          <a:prstGeom prst="rect">
            <a:avLst/>
          </a:prstGeom>
          <a:solidFill>
            <a:srgbClr val="EEF1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041648" y="3035808"/>
            <a:ext cx="4389120" cy="530352"/>
          </a:xfrm>
          <a:prstGeom prst="rect">
            <a:avLst/>
          </a:prstGeom>
          <a:solidFill>
            <a:srgbClr val="EEF1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11479" y="3108960"/>
            <a:ext cx="1234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A4A"/>
                </a:solidFill>
                <a:latin typeface="Calibri"/>
              </a:rPr>
              <a:t>📋 Format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10512" y="3108960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A4A"/>
                </a:solidFill>
                <a:latin typeface="Calibri"/>
              </a:rPr>
              <a:t>How to structure the answer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33087" y="3108960"/>
            <a:ext cx="42519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A4A"/>
                </a:solidFill>
                <a:latin typeface="Calibri"/>
              </a:rPr>
              <a:t>Give your answer in 3 bullet points.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602736"/>
            <a:ext cx="13716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1719072" y="3602736"/>
            <a:ext cx="22860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041648" y="3602736"/>
            <a:ext cx="43891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11479" y="3675887"/>
            <a:ext cx="1234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A4A"/>
                </a:solidFill>
                <a:latin typeface="Calibri"/>
              </a:rPr>
              <a:t>👥 Audience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10512" y="3675887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A4A"/>
                </a:solidFill>
                <a:latin typeface="Calibri"/>
              </a:rPr>
              <a:t>Adjusts vocabulary &amp; detail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33087" y="3675887"/>
            <a:ext cx="42519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A4A"/>
                </a:solidFill>
                <a:latin typeface="Calibri"/>
              </a:rPr>
              <a:t>Write for a high school student.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4169664"/>
            <a:ext cx="1371600" cy="530352"/>
          </a:xfrm>
          <a:prstGeom prst="rect">
            <a:avLst/>
          </a:prstGeom>
          <a:solidFill>
            <a:srgbClr val="EEF1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1719072" y="4169664"/>
            <a:ext cx="2286000" cy="530352"/>
          </a:xfrm>
          <a:prstGeom prst="rect">
            <a:avLst/>
          </a:prstGeom>
          <a:solidFill>
            <a:srgbClr val="EEF1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041648" y="4169664"/>
            <a:ext cx="4389120" cy="530352"/>
          </a:xfrm>
          <a:prstGeom prst="rect">
            <a:avLst/>
          </a:prstGeom>
          <a:solidFill>
            <a:srgbClr val="EEF1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11479" y="4242816"/>
            <a:ext cx="1234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A4A"/>
                </a:solidFill>
                <a:latin typeface="Calibri"/>
              </a:rPr>
              <a:t>⛓ Constraints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810512" y="4242816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A4A"/>
                </a:solidFill>
                <a:latin typeface="Calibri"/>
              </a:rPr>
              <a:t>Sets limits or rules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33087" y="4242816"/>
            <a:ext cx="42519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A4A"/>
                </a:solidFill>
                <a:latin typeface="Calibri"/>
              </a:rPr>
              <a:t>Keep your answer under 100 words.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Types of Prompting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24128"/>
            <a:ext cx="2697480" cy="1691640"/>
          </a:xfrm>
          <a:prstGeom prst="rect">
            <a:avLst/>
          </a:prstGeom>
          <a:solidFill>
            <a:srgbClr val="171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" y="1024128"/>
            <a:ext cx="2697480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84048" y="107899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Zero-Shot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499616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7EDF5"/>
                </a:solidFill>
                <a:latin typeface="Calibri"/>
              </a:rPr>
              <a:t>Ask directly — no examples.
Best for common, well-known tasks.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1024128"/>
            <a:ext cx="2697480" cy="1691640"/>
          </a:xfrm>
          <a:prstGeom prst="rect">
            <a:avLst/>
          </a:prstGeom>
          <a:solidFill>
            <a:srgbClr val="171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00400" y="1024128"/>
            <a:ext cx="2697480" cy="384048"/>
          </a:xfrm>
          <a:prstGeom prst="rect">
            <a:avLst/>
          </a:prstGeom>
          <a:solidFill>
            <a:srgbClr val="059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10128" y="107899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One-Shot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1499616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7EDF5"/>
                </a:solidFill>
                <a:latin typeface="Calibri"/>
              </a:rPr>
              <a:t>Give one example to set
the format or style.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024128"/>
            <a:ext cx="2697480" cy="1691640"/>
          </a:xfrm>
          <a:prstGeom prst="rect">
            <a:avLst/>
          </a:prstGeom>
          <a:solidFill>
            <a:srgbClr val="171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26480" y="1024128"/>
            <a:ext cx="2697480" cy="38404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36208" y="107899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Few-Shot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1499616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7EDF5"/>
                </a:solidFill>
                <a:latin typeface="Calibri"/>
              </a:rPr>
              <a:t>2-5 examples for format
control and consistency.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737360" y="2944368"/>
            <a:ext cx="2697480" cy="1691640"/>
          </a:xfrm>
          <a:prstGeom prst="rect">
            <a:avLst/>
          </a:prstGeom>
          <a:solidFill>
            <a:srgbClr val="171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737360" y="2944368"/>
            <a:ext cx="2697480" cy="38404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847088" y="299923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Chain-of-Thought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47088" y="3419856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7EDF5"/>
                </a:solidFill>
                <a:latin typeface="Calibri"/>
              </a:rPr>
              <a:t>Add 'Think step by step.'
Great for debugging &amp; maths.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63440" y="2944368"/>
            <a:ext cx="2697480" cy="1691640"/>
          </a:xfrm>
          <a:prstGeom prst="rect">
            <a:avLst/>
          </a:prstGeom>
          <a:solidFill>
            <a:srgbClr val="171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663440" y="2944368"/>
            <a:ext cx="2697480" cy="384048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773168" y="299923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Role Prompting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73168" y="3419856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7EDF5"/>
                </a:solidFill>
                <a:latin typeface="Calibri"/>
              </a:rPr>
              <a:t>'You are a PYNQ expert.'
Controls tone &amp; vocabulary.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" y="4828032"/>
            <a:ext cx="8503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97AB"/>
                </a:solidFill>
                <a:latin typeface="Calibri"/>
              </a:rPr>
              <a:t>Source: Google Cloud Prompt Engineering Guide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Limits &amp; Responsible Use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51560"/>
            <a:ext cx="269748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" y="1051560"/>
            <a:ext cx="2697480" cy="43891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84048" y="10972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⚠  Hallucinations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572768"/>
            <a:ext cx="2468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75669"/>
                </a:solidFill>
                <a:latin typeface="Calibri"/>
              </a:rPr>
              <a:t>The model states false things with confidence.
It predicts likely-sounding text, not verified facts.
Happens with specific numbers, citations, obscure details.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1051560"/>
            <a:ext cx="269748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00400" y="1051560"/>
            <a:ext cx="2697480" cy="43891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10128" y="10972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📅  Knowledge Cutoff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1572768"/>
            <a:ext cx="2468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75669"/>
                </a:solidFill>
                <a:latin typeface="Calibri"/>
              </a:rPr>
              <a:t>Training stopped at a fixed date.
No awareness of anything after that — new PYNQ releases,
recent research, news events.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051560"/>
            <a:ext cx="269748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26480" y="1051560"/>
            <a:ext cx="2697480" cy="43891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36208" y="10972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⚖  Bias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1572768"/>
            <a:ext cx="2468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75669"/>
                </a:solidFill>
                <a:latin typeface="Calibri"/>
              </a:rPr>
              <a:t>Trained on human-written text, which has human biases.
It can reproduce and amplify them in outputs.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4041648"/>
            <a:ext cx="8503920" cy="713232"/>
          </a:xfrm>
          <a:prstGeom prst="rect">
            <a:avLst/>
          </a:prstGeom>
          <a:solidFill>
            <a:srgbClr val="FEF9EE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4105656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A4A"/>
                </a:solidFill>
                <a:latin typeface="Calibri"/>
              </a:rPr>
              <a:t>💡  Golden Rule: Use AI as a smart first draft and thinking partner,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37083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A4A"/>
                </a:solidFill>
                <a:latin typeface="Calibri"/>
              </a:rPr>
              <a:t>     not a source of truth. Always verify important answers yourself.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What You'll Build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24128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7AB"/>
                </a:solidFill>
                <a:latin typeface="Calibri"/>
              </a:rPr>
              <a:t>Everything runs on your KV260 — no internet, no cloud, your own hardware.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508760"/>
            <a:ext cx="2697480" cy="1508760"/>
          </a:xfrm>
          <a:prstGeom prst="rect">
            <a:avLst/>
          </a:prstGeom>
          <a:solidFill>
            <a:srgbClr val="171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84048" y="160020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18488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  <a:latin typeface="Calibri"/>
              </a:rPr>
              <a:t>Live AI Chat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2130552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7EDF5"/>
                </a:solidFill>
                <a:latin typeface="Calibri"/>
              </a:rPr>
              <a:t>launch_chat() — full panel
with image upload &amp; streaming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508760"/>
            <a:ext cx="2697480" cy="1508760"/>
          </a:xfrm>
          <a:prstGeom prst="rect">
            <a:avLst/>
          </a:prstGeom>
          <a:solidFill>
            <a:srgbClr val="171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10128" y="160020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1618488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  <a:latin typeface="Calibri"/>
              </a:rPr>
              <a:t>Prompt Experiments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10128" y="2130552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7EDF5"/>
                </a:solidFill>
                <a:latin typeface="Calibri"/>
              </a:rPr>
              <a:t>Zero-shot vs. few-shot
CoT debugging · role personas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508760"/>
            <a:ext cx="2697480" cy="1508760"/>
          </a:xfrm>
          <a:prstGeom prst="rect">
            <a:avLst/>
          </a:prstGeom>
          <a:solidFill>
            <a:srgbClr val="171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36208" y="160020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1618488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  <a:latin typeface="Calibri"/>
              </a:rPr>
              <a:t>Your Own Helper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8" y="2130552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7EDF5"/>
                </a:solidFill>
                <a:latin typeface="Calibri"/>
              </a:rPr>
              <a:t>Design a custom role + rules
PYNQ debugger, quiz bot, etc.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246120"/>
            <a:ext cx="2697480" cy="1508760"/>
          </a:xfrm>
          <a:prstGeom prst="rect">
            <a:avLst/>
          </a:prstGeom>
          <a:solidFill>
            <a:srgbClr val="171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84048" y="333756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355848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  <a:latin typeface="Calibri"/>
              </a:rPr>
              <a:t>Image Understanding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" y="3867911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7EDF5"/>
                </a:solidFill>
                <a:latin typeface="Calibri"/>
              </a:rPr>
              <a:t>Upload a photo of your project
— Quick Helper describes it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0" y="3246120"/>
            <a:ext cx="2697480" cy="1508760"/>
          </a:xfrm>
          <a:prstGeom prst="rect">
            <a:avLst/>
          </a:prstGeom>
          <a:solidFill>
            <a:srgbClr val="171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310128" y="333756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3355848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  <a:latin typeface="Calibri"/>
              </a:rPr>
              <a:t>Model Comparison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10128" y="3867911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7EDF5"/>
                </a:solidFill>
                <a:latin typeface="Calibri"/>
              </a:rPr>
              <a:t>8B vs 30B — same question,
different speed &amp; quality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3246120"/>
            <a:ext cx="2697480" cy="1508760"/>
          </a:xfrm>
          <a:prstGeom prst="rect">
            <a:avLst/>
          </a:prstGeom>
          <a:solidFill>
            <a:srgbClr val="171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36208" y="333756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3355848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  <a:latin typeface="Calibri"/>
              </a:rPr>
              <a:t>Memory Demo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36208" y="3867911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7EDF5"/>
                </a:solidFill>
                <a:latin typeface="Calibri"/>
              </a:rPr>
              <a:t>Watch the AI forget
when you clear the context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2286000"/>
          </a:xfrm>
          <a:prstGeom prst="rect">
            <a:avLst/>
          </a:prstGeom>
          <a:solidFill>
            <a:srgbClr val="171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Calibri"/>
              </a:rPr>
              <a:t>Let's Get Started!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23160"/>
            <a:ext cx="8229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 dirty="0">
                <a:solidFill>
                  <a:srgbClr val="38BDF8"/>
                </a:solidFill>
                <a:latin typeface="Calibri"/>
              </a:rPr>
              <a:t>Open  PYNQ_</a:t>
            </a:r>
            <a:r>
              <a:rPr lang="en-US" sz="1600" b="0" i="0" dirty="0">
                <a:solidFill>
                  <a:srgbClr val="38BDF8"/>
                </a:solidFill>
                <a:latin typeface="Calibri"/>
              </a:rPr>
              <a:t>5</a:t>
            </a:r>
            <a:r>
              <a:rPr sz="1600" b="0" i="0" dirty="0">
                <a:solidFill>
                  <a:srgbClr val="38BDF8"/>
                </a:solidFill>
                <a:latin typeface="Calibri"/>
              </a:rPr>
              <a:t>0</a:t>
            </a:r>
            <a:r>
              <a:rPr lang="en-US" sz="1600" b="0" i="0" dirty="0">
                <a:solidFill>
                  <a:srgbClr val="38BDF8"/>
                </a:solidFill>
                <a:latin typeface="Calibri"/>
              </a:rPr>
              <a:t>5</a:t>
            </a:r>
            <a:r>
              <a:rPr sz="1600" b="0" i="0" dirty="0">
                <a:solidFill>
                  <a:srgbClr val="38BDF8"/>
                </a:solidFill>
                <a:latin typeface="Calibri"/>
              </a:rPr>
              <a:t>_AI_Language_Models.ipynb  and run the setup cell.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063240"/>
            <a:ext cx="2560320" cy="1645920"/>
          </a:xfrm>
          <a:prstGeom prst="rect">
            <a:avLst/>
          </a:prstGeom>
          <a:solidFill>
            <a:srgbClr val="171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Diamond 5"/>
          <p:cNvSpPr/>
          <p:nvPr/>
        </p:nvSpPr>
        <p:spPr>
          <a:xfrm>
            <a:off x="841248" y="3182112"/>
            <a:ext cx="347472" cy="347472"/>
          </a:xfrm>
          <a:prstGeom prst="diamond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318211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200400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Run the setup cell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3611880"/>
            <a:ext cx="2331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A97AB"/>
                </a:solidFill>
                <a:latin typeface="Calibri"/>
              </a:rPr>
              <a:t>from bootcamp_ai import launch_chat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66160" y="3063240"/>
            <a:ext cx="2560320" cy="1645920"/>
          </a:xfrm>
          <a:prstGeom prst="rect">
            <a:avLst/>
          </a:prstGeom>
          <a:solidFill>
            <a:srgbClr val="171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Diamond 10"/>
          <p:cNvSpPr/>
          <p:nvPr/>
        </p:nvSpPr>
        <p:spPr>
          <a:xfrm>
            <a:off x="3675888" y="3182112"/>
            <a:ext cx="347472" cy="347472"/>
          </a:xfrm>
          <a:prstGeom prst="diamond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75888" y="318211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3200400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Check models are listed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75888" y="3611880"/>
            <a:ext cx="2331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A97AB"/>
                </a:solidFill>
                <a:latin typeface="Calibri"/>
              </a:rPr>
              <a:t>You should see 3 models from the Strix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3063240"/>
            <a:ext cx="2560320" cy="1645920"/>
          </a:xfrm>
          <a:prstGeom prst="rect">
            <a:avLst/>
          </a:prstGeom>
          <a:solidFill>
            <a:srgbClr val="171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Diamond 15"/>
          <p:cNvSpPr/>
          <p:nvPr/>
        </p:nvSpPr>
        <p:spPr>
          <a:xfrm>
            <a:off x="6510528" y="3182112"/>
            <a:ext cx="347472" cy="347472"/>
          </a:xfrm>
          <a:prstGeom prst="diamond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10528" y="318211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3200400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Run launch_chat()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0528" y="3611880"/>
            <a:ext cx="2331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A97AB"/>
                </a:solidFill>
                <a:latin typeface="Calibri"/>
              </a:rPr>
              <a:t>A chat panel appears — ask your first question!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77316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8A97AB"/>
                </a:solidFill>
                <a:latin typeface="Calibri"/>
              </a:rPr>
              <a:t>Ask an instructor if anything doesn't connect — we'll get you sorted! 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198e8dea-a4f3-4850-b16a-fd6d2b1302b4}" enabled="1" method="Privileged" siteId="{3dd8961f-e488-4e60-8e11-a82d994e183d}" contentBits="1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911</Words>
  <Application>Microsoft Office PowerPoint</Application>
  <PresentationFormat>On-screen Show (16:9)</PresentationFormat>
  <Paragraphs>147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Rachapalli, Nikhitha</dc:creator>
  <cp:keywords/>
  <dc:description>generated using python-pptx</dc:description>
  <cp:lastModifiedBy>Rachapalli, Nikhitha</cp:lastModifiedBy>
  <cp:revision>2</cp:revision>
  <dcterms:created xsi:type="dcterms:W3CDTF">2013-01-27T09:14:16Z</dcterms:created>
  <dcterms:modified xsi:type="dcterms:W3CDTF">2026-07-22T13:58:46Z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HeaderLocations">
    <vt:lpwstr>Office Theme:8</vt:lpwstr>
  </property>
  <property fmtid="{D5CDD505-2E9C-101B-9397-08002B2CF9AE}" pid="3" name="ClassificationContentMarkingHeaderText">
    <vt:lpwstr>AMD General</vt:lpwstr>
  </property>
</Properties>
</file>