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1" r:id="rId3"/>
    <p:sldId id="257" r:id="rId4"/>
    <p:sldId id="258" r:id="rId5"/>
    <p:sldId id="259" r:id="rId6"/>
    <p:sldId id="260" r:id="rId7"/>
    <p:sldId id="264" r:id="rId8"/>
    <p:sldId id="263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2296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Today we're going to look under the hood of the MNIST notebook before running it. This is a quick 10-15 min conceptual primer.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physical parts before booting the notebook, so students recognize them on the desk.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AI = AI connected to sensors and actuators in the real world, not just a chatbot on a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MNIST is a huge collection of handwritten digits people wrote by hand, used to teach computers to recognize numbers. It's called the Hello World of ML because it's the classic first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picture shows: input digit -&gt; hidden layers of the network -&gt; output guess (0-9). Emphasize the model is pre-trained; students are not training it live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pass through vocabulary. Don't linger; tell them it's here for reference and in the notebook's cheat sheet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example only — not real output. Shows why softmax matters: the model's confidence, not just a single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this quickly as a map of what's coming so nothing in the notebook feels random.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for questions here before switching over to the live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Transition slide into opening the live PYNQ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B0F99E-C49E-0128-DE12-0A9CA2B6EED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7508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AMD General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731520"/>
            <a:ext cx="2377440" cy="2377440"/>
          </a:xfrm>
          <a:prstGeom prst="ellipse">
            <a:avLst/>
          </a:prstGeom>
          <a:solidFill>
            <a:srgbClr val="6C4CE0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4754880"/>
            <a:ext cx="2926080" cy="2926080"/>
          </a:xfrm>
          <a:prstGeom prst="ellipse">
            <a:avLst/>
          </a:prstGeom>
          <a:solidFill>
            <a:srgbClr val="2FE6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AI BOOTCAMP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Meet MNIST: Teaching a Computer to Read Handwriting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tour of the ideas behind this session’s notebook.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868680" cy="868680"/>
          </a:xfrm>
          <a:prstGeom prst="ellipse">
            <a:avLst/>
          </a:prstGeom>
          <a:solidFill>
            <a:srgbClr val="6C4C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0" y="4926330"/>
            <a:ext cx="434340" cy="4343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57400" y="4709160"/>
            <a:ext cx="868680" cy="868680"/>
          </a:xfrm>
          <a:prstGeom prst="ellipse">
            <a:avLst/>
          </a:prstGeom>
          <a:solidFill>
            <a:srgbClr val="FF5C9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4570" y="4926330"/>
            <a:ext cx="434340" cy="4343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91840" y="4709160"/>
            <a:ext cx="868680" cy="868680"/>
          </a:xfrm>
          <a:prstGeom prst="ellipse">
            <a:avLst/>
          </a:prstGeom>
          <a:solidFill>
            <a:srgbClr val="2FE6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9010" y="4926330"/>
            <a:ext cx="434340" cy="4343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526280" y="4709160"/>
            <a:ext cx="868680" cy="868680"/>
          </a:xfrm>
          <a:prstGeom prst="ellipse">
            <a:avLst/>
          </a:prstGeom>
          <a:solidFill>
            <a:srgbClr val="FFC9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3450" y="4926330"/>
            <a:ext cx="434340" cy="4343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Today's Hardware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peripherals you'll connect to the board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4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/sessions/sleepy-optimistic-knuth/mnt/outputs/nb_images/cell4_camer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2103120"/>
            <a:ext cx="29718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4572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Camera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49377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 picture of your handwritten digit.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89120" y="18288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4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/sessions/sleepy-optimistic-knuth/mnt/outputs/nb_images/cell6_pmodada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2103120"/>
            <a:ext cx="2971800" cy="2286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4572000"/>
            <a:ext cx="3065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PMOD (Peripheral Module) Adapter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63440" y="49377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small “Grove” peripherals to the board.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138160" y="18288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4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/sessions/sleepy-optimistic-knuth/mnt/outputs/nb_images/cell8_ledbar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12480" y="2103120"/>
            <a:ext cx="2971800" cy="2286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412480" y="4572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LED Stick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412480" y="49377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 up to show the model's predicted digit.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is “Physical AI”?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doesn't just live on a screen — it sees, hears, and reacts to the real world.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4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6C4C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22631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57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SENSORS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3774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camera to “see” your handwriting, just like eyes.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3383280"/>
            <a:ext cx="640080" cy="640080"/>
          </a:xfrm>
          <a:prstGeom prst="ellipse">
            <a:avLst/>
          </a:prstGeom>
          <a:solidFill>
            <a:srgbClr val="FF5C9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" y="35433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37360" y="3337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a BRAIN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737360" y="36576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model that recognizes patterns — the FPGA does the thinking.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914400" y="4663440"/>
            <a:ext cx="640080" cy="640080"/>
          </a:xfrm>
          <a:prstGeom prst="ellipse">
            <a:avLst/>
          </a:prstGeom>
          <a:solidFill>
            <a:srgbClr val="FFC9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" y="482346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37360" y="4617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ACTS in the real world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737360" y="49377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lights up an LED to show its answer — not just text on a screen.</a:t>
            </a:r>
            <a:endParaRPr lang="en-US" sz="1250" dirty="0"/>
          </a:p>
        </p:txBody>
      </p:sp>
      <p:pic>
        <p:nvPicPr>
          <p:cNvPr id="17" name="Image 3" descr="/sessions/sleepy-optimistic-knuth/mnt/outputs/nb_images/cell0_MNISTdatabas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0800" y="1965960"/>
            <a:ext cx="5120640" cy="28803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0" y="498348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example: a board that reads handwritten digits using a camera, a trained AI model, and an LED display.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MNIST Database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the world of machine learning</a:t>
            </a:r>
            <a:endParaRPr lang="en-US" sz="1600" dirty="0"/>
          </a:p>
        </p:txBody>
      </p:sp>
      <p:pic>
        <p:nvPicPr>
          <p:cNvPr id="4" name="Image 0" descr="/sessions/sleepy-optimistic-knuth/mnt/outputs/nb_images/cell0_MNISTdatabas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737360"/>
            <a:ext cx="6035040" cy="4800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040880" y="1737360"/>
            <a:ext cx="4480560" cy="1417320"/>
          </a:xfrm>
          <a:prstGeom prst="roundRect">
            <a:avLst>
              <a:gd name="adj" fmla="val 7742"/>
            </a:avLst>
          </a:prstGeom>
          <a:solidFill>
            <a:srgbClr val="1B2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269480" y="173736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E6D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70,000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9026769" y="1737360"/>
            <a:ext cx="240323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8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digit images (0–9)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040880" y="3429000"/>
            <a:ext cx="4480560" cy="1417320"/>
          </a:xfrm>
          <a:prstGeom prst="roundRect">
            <a:avLst>
              <a:gd name="adj" fmla="val 7742"/>
            </a:avLst>
          </a:prstGeom>
          <a:solidFill>
            <a:srgbClr val="1B2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269480" y="342900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E6D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28 x 28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144000" y="34290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8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per image — tiny, but enough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040880" y="5120640"/>
            <a:ext cx="4480560" cy="1417320"/>
          </a:xfrm>
          <a:prstGeom prst="roundRect">
            <a:avLst>
              <a:gd name="adj" fmla="val 7742"/>
            </a:avLst>
          </a:prstGeom>
          <a:solidFill>
            <a:srgbClr val="1B2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269480" y="5120640"/>
            <a:ext cx="1828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E6D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9144000" y="512064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8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answers: the digits 0 through 9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does the computer “learn” to read digits?</a:t>
            </a:r>
            <a:endParaRPr lang="en-US" sz="2800" dirty="0"/>
          </a:p>
        </p:txBody>
      </p:sp>
      <p:pic>
        <p:nvPicPr>
          <p:cNvPr id="3" name="Image 0" descr="/sessions/sleepy-optimistic-knuth/mnt/outputs/nb_images/cell1_MNISTmode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371600"/>
            <a:ext cx="4937760" cy="4709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35040" y="1508760"/>
            <a:ext cx="594360" cy="594360"/>
          </a:xfrm>
          <a:prstGeom prst="ellipse">
            <a:avLst/>
          </a:prstGeom>
          <a:solidFill>
            <a:srgbClr val="6C4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03504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858000" y="1463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called a CNN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0" y="185623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 — a program modeled loosely on how brains recognize patterns.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35040" y="2926080"/>
            <a:ext cx="594360" cy="594360"/>
          </a:xfrm>
          <a:prstGeom prst="ellipse">
            <a:avLst/>
          </a:prstGeom>
          <a:solidFill>
            <a:srgbClr val="FF5C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3504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858000" y="2880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studies thousands of examples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0" y="327355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training, it looks at labeled digits and adjusts internal “weights” until its guesses get better.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35040" y="4343400"/>
            <a:ext cx="594360" cy="594360"/>
          </a:xfrm>
          <a:prstGeom prst="ellipse">
            <a:avLst/>
          </a:prstGeom>
          <a:solidFill>
            <a:srgbClr val="2FE6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35040" y="4343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858000" y="4297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already trained for you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58000" y="4690872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you'll use today already learned from the MNIST dataset — you're just asking it questions!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Quick Vocab Check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you'll see pop up in the notebook today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B215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6C4C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22631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214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(Field Programmable Gate Array)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reprogrammable chip — like circuits we can rewire with code instead of a soldering iron.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846052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B2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2103120"/>
            <a:ext cx="640080" cy="640080"/>
          </a:xfrm>
          <a:prstGeom prst="ellipse">
            <a:avLst/>
          </a:prstGeom>
          <a:solidFill>
            <a:srgbClr val="FF5C9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22631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21214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DPU (Data Processing Unit)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63440" y="2926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Unit — the part of the FPGA built to run AI models fast.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82880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B2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12480" y="2103120"/>
            <a:ext cx="640080" cy="640080"/>
          </a:xfrm>
          <a:prstGeom prst="ellipse">
            <a:avLst/>
          </a:prstGeom>
          <a:solidFill>
            <a:srgbClr val="2FE6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226314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35440" y="21214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12480" y="29260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design we load onto the FPGA to make it act like a DPU.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4348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B2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14400" y="4709160"/>
            <a:ext cx="640080" cy="640080"/>
          </a:xfrm>
          <a:prstGeom prst="ellipse">
            <a:avLst/>
          </a:prstGeom>
          <a:solidFill>
            <a:srgbClr val="FFC9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4420" y="48691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7274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14400" y="5532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 — the model type that recognizes image patterns.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89120" y="44348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B2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63440" y="4709160"/>
            <a:ext cx="640080" cy="640080"/>
          </a:xfrm>
          <a:prstGeom prst="ellipse">
            <a:avLst/>
          </a:prstGeom>
          <a:solidFill>
            <a:srgbClr val="6C4C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3460" y="486918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0" y="47274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4663440" y="5532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word for a list/grid of numbers — how images are stored.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38160" y="44348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B21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412480" y="4709160"/>
            <a:ext cx="640080" cy="640080"/>
          </a:xfrm>
          <a:prstGeom prst="ellipse">
            <a:avLst/>
          </a:prstGeom>
          <a:solidFill>
            <a:srgbClr val="FF5C9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0" y="486918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35440" y="472744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8412480" y="55321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the model's raw output into probabilities for each digit, 0–9.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confident is the model?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doesn't just say “7” — it gives a probability for every digit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5270602"/>
            <a:ext cx="918972" cy="32918"/>
          </a:xfrm>
          <a:prstGeom prst="rect">
            <a:avLst/>
          </a:prstGeom>
          <a:solidFill>
            <a:srgbClr val="6C4CE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5394960"/>
            <a:ext cx="918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79092" y="5237683"/>
            <a:ext cx="918972" cy="65837"/>
          </a:xfrm>
          <a:prstGeom prst="rect">
            <a:avLst/>
          </a:prstGeom>
          <a:solidFill>
            <a:srgbClr val="6C4CE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79092" y="5394960"/>
            <a:ext cx="918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35224" y="5270602"/>
            <a:ext cx="918972" cy="32918"/>
          </a:xfrm>
          <a:prstGeom prst="rect">
            <a:avLst/>
          </a:prstGeom>
          <a:solidFill>
            <a:srgbClr val="6C4CE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35224" y="5394960"/>
            <a:ext cx="918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991356" y="5237683"/>
            <a:ext cx="918972" cy="65837"/>
          </a:xfrm>
          <a:prstGeom prst="rect">
            <a:avLst/>
          </a:prstGeom>
          <a:solidFill>
            <a:srgbClr val="6C4CE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91356" y="5394960"/>
            <a:ext cx="918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47488" y="5270602"/>
            <a:ext cx="918972" cy="32918"/>
          </a:xfrm>
          <a:prstGeom prst="rect">
            <a:avLst/>
          </a:prstGeom>
          <a:solidFill>
            <a:srgbClr val="6C4CE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47488" y="5394960"/>
            <a:ext cx="918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03620" y="5237683"/>
            <a:ext cx="918972" cy="65837"/>
          </a:xfrm>
          <a:prstGeom prst="rect">
            <a:avLst/>
          </a:prstGeom>
          <a:solidFill>
            <a:srgbClr val="6C4CE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03620" y="5394960"/>
            <a:ext cx="918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59752" y="5270602"/>
            <a:ext cx="918972" cy="32918"/>
          </a:xfrm>
          <a:prstGeom prst="rect">
            <a:avLst/>
          </a:prstGeom>
          <a:solidFill>
            <a:srgbClr val="6C4CE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59752" y="5394960"/>
            <a:ext cx="918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15884" y="2472538"/>
            <a:ext cx="918972" cy="2830982"/>
          </a:xfrm>
          <a:prstGeom prst="rect">
            <a:avLst/>
          </a:prstGeom>
          <a:solidFill>
            <a:srgbClr val="2FE6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15884" y="5394960"/>
            <a:ext cx="918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78724" y="2106778"/>
            <a:ext cx="11932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E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272016" y="5237683"/>
            <a:ext cx="918972" cy="65837"/>
          </a:xfrm>
          <a:prstGeom prst="rect">
            <a:avLst/>
          </a:prstGeom>
          <a:solidFill>
            <a:srgbClr val="6C4CE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72016" y="5394960"/>
            <a:ext cx="918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328148" y="5237683"/>
            <a:ext cx="918972" cy="65837"/>
          </a:xfrm>
          <a:prstGeom prst="rect">
            <a:avLst/>
          </a:prstGeom>
          <a:solidFill>
            <a:srgbClr val="6C4CE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328148" y="5394960"/>
            <a:ext cx="9189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57607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D8D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called SOFTMAX — it turns raw model output into probabilities that add up to 100%. The highest bar wins!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we'll do in the notebook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from power-on to prediction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3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6C4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9476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overlay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6517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the FPGA to become a DPU.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3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0" y="1920240"/>
            <a:ext cx="502920" cy="502920"/>
          </a:xfrm>
          <a:prstGeom prst="ellipse">
            <a:avLst/>
          </a:prstGeom>
          <a:solidFill>
            <a:srgbClr val="FFC9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212080" y="19476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LED stick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0" y="26517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our “answer display” ready.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3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75320" y="1920240"/>
            <a:ext cx="502920" cy="502920"/>
          </a:xfrm>
          <a:prstGeom prst="ellipse">
            <a:avLst/>
          </a:prstGeom>
          <a:solidFill>
            <a:srgbClr val="FF5C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753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15400" y="19476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model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75320" y="265176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in the pre-trained MNIST classifier.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0690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3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68680" y="4297680"/>
            <a:ext cx="502920" cy="502920"/>
          </a:xfrm>
          <a:prstGeom prst="ellipse">
            <a:avLst/>
          </a:prstGeom>
          <a:solidFill>
            <a:srgbClr val="2FE6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686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43251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test images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8680" y="50292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+ reshape digit pictures.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3400" y="40690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3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0" y="4297680"/>
            <a:ext cx="502920" cy="502920"/>
          </a:xfrm>
          <a:prstGeom prst="ellipse">
            <a:avLst/>
          </a:prstGeom>
          <a:solidFill>
            <a:srgbClr val="6C4C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12080" y="43251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picture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0" y="50292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USB camera on your own handwriting.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46720" y="40690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4F3FF"/>
          </a:solidFill>
          <a:ln/>
          <a:effectLst>
            <a:outerShdw blurRad="762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75320" y="4297680"/>
            <a:ext cx="502920" cy="502920"/>
          </a:xfrm>
          <a:prstGeom prst="ellipse">
            <a:avLst/>
          </a:prstGeom>
          <a:solidFill>
            <a:srgbClr val="FF5C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7532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15400" y="43251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prediction!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75320" y="502920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guesses the digit; LED lights up to match.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F4F3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Quick Recap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4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897380" y="2148840"/>
            <a:ext cx="1005840" cy="1005840"/>
          </a:xfrm>
          <a:prstGeom prst="ellipse">
            <a:avLst/>
          </a:prstGeom>
          <a:solidFill>
            <a:srgbClr val="6C4C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24003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429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+ CNN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 handwritten digits trained a model to recognize numbers 0–9.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4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646420" y="2148840"/>
            <a:ext cx="1005840" cy="1005840"/>
          </a:xfrm>
          <a:prstGeom prst="ellipse">
            <a:avLst/>
          </a:prstGeom>
          <a:solidFill>
            <a:srgbClr val="FF5C9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4003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429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+ DPU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09160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Reprogrammable hardware runs the AI model super fast.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4F3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95460" y="2148840"/>
            <a:ext cx="1005840" cy="1005840"/>
          </a:xfrm>
          <a:prstGeom prst="ellipse">
            <a:avLst/>
          </a:prstGeom>
          <a:solidFill>
            <a:srgbClr val="2FE6D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0" y="240030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4290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LED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AI: it sees your handwriting and shows its answer with light.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008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before we dive into the notebook?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4389120"/>
            <a:ext cx="2926080" cy="2926080"/>
          </a:xfrm>
          <a:prstGeom prst="ellipse">
            <a:avLst/>
          </a:prstGeom>
          <a:solidFill>
            <a:srgbClr val="FF5C9E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-1097280"/>
            <a:ext cx="2560320" cy="2560320"/>
          </a:xfrm>
          <a:prstGeom prst="ellipse">
            <a:avLst/>
          </a:prstGeom>
          <a:solidFill>
            <a:srgbClr val="2FE6D9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166360" y="1645920"/>
            <a:ext cx="1828800" cy="1828800"/>
          </a:xfrm>
          <a:prstGeom prst="ellipse">
            <a:avLst/>
          </a:prstGeom>
          <a:solidFill>
            <a:srgbClr val="6C4C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1031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65760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Let's Go!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737360" y="47091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open the notebook, connect the hardware, and see your own handwriting classified in real </a:t>
            </a:r>
            <a:r>
              <a:rPr lang="en-US" sz="1600" i="1">
                <a:solidFill>
                  <a:srgbClr val="C9C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98e8dea-a4f3-4850-b16a-fd6d2b1302b4}" enabled="1" method="Privileged" siteId="{3dd8961f-e488-4e60-8e11-a82d994e183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859</Words>
  <Application>Microsoft Office PowerPoint</Application>
  <PresentationFormat>Widescreen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MNIST &amp; Physical AI - Intro</dc:title>
  <dc:subject>PptxGenJS Presentation</dc:subject>
  <dc:creator>PYNQ Bootcamp</dc:creator>
  <cp:lastModifiedBy>Lang, James</cp:lastModifiedBy>
  <cp:revision>9</cp:revision>
  <dcterms:created xsi:type="dcterms:W3CDTF">2026-07-16T18:08:20Z</dcterms:created>
  <dcterms:modified xsi:type="dcterms:W3CDTF">2026-07-22T19:30:18Z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AMD General</vt:lpwstr>
  </property>
</Properties>
</file>