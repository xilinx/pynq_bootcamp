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5" d="100"/>
          <a:sy n="135" d="100"/>
        </p:scale>
        <p:origin x="78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3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498079" y="3200400"/>
            <a:ext cx="2743200" cy="2743200"/>
          </a:xfrm>
          <a:prstGeom prst="ellipse">
            <a:avLst/>
          </a:prstGeom>
          <a:solidFill>
            <a:srgbClr val="3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0" y="-457200"/>
            <a:ext cx="1828800" cy="182880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4114800"/>
            <a:ext cx="1371600" cy="1371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2011680" cy="1463040"/>
          </a:xfrm>
          <a:prstGeom prst="rect">
            <a:avLst/>
          </a:prstGeom>
          <a:solidFill>
            <a:srgbClr val="3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188720"/>
            <a:ext cx="2011680" cy="1920240"/>
          </a:xfrm>
          <a:prstGeom prst="rect">
            <a:avLst/>
          </a:prstGeom>
          <a:solidFill>
            <a:srgbClr val="3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E795"/>
                </a:solidFill>
                <a:latin typeface="Calibri"/>
              </a:rPr>
              <a:t>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103120"/>
            <a:ext cx="1188720" cy="6400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03520" y="2286000"/>
            <a:ext cx="118872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9E795"/>
                </a:solidFill>
                <a:latin typeface="Calibri"/>
              </a:rPr>
              <a:t>→ 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9488"/>
                </a:solidFill>
                <a:latin typeface="Calibri"/>
              </a:rPr>
              <a:t>←  Response</a:t>
            </a:r>
          </a:p>
        </p:txBody>
      </p:sp>
      <p:sp>
        <p:nvSpPr>
          <p:cNvPr id="15" name="Oval 14"/>
          <p:cNvSpPr/>
          <p:nvPr/>
        </p:nvSpPr>
        <p:spPr>
          <a:xfrm>
            <a:off x="3749039" y="1737360"/>
            <a:ext cx="1645920" cy="1005840"/>
          </a:xfrm>
          <a:prstGeom prst="ellipse">
            <a:avLst/>
          </a:prstGeom>
          <a:solidFill>
            <a:srgbClr val="455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49039" y="169164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2860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How Computers Talk
to Each Other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805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9E795"/>
                </a:solidFill>
                <a:latin typeface="Calibri"/>
              </a:rPr>
              <a:t>Client-Server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🤔  Question: Playing Fortnite or Roblox?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34747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FFFFF"/>
                </a:solidFill>
                <a:latin typeface="Calibri"/>
              </a:rPr>
              <a:t>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175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F3C7E"/>
                </a:solidFill>
                <a:latin typeface="Calibri"/>
              </a:rPr>
              <a:t>Fortnite / Roblox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5204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132"/>
                </a:solidFill>
                <a:latin typeface="Calibri"/>
              </a:rPr>
              <a:t>Millions of players online
at the same time!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143000"/>
            <a:ext cx="466344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2801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F3C7E"/>
                </a:solidFill>
                <a:latin typeface="Calibri"/>
              </a:rPr>
              <a:t>Think about it: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1783080"/>
            <a:ext cx="347472" cy="347472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7830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132"/>
                </a:solidFill>
                <a:latin typeface="Calibri"/>
              </a:rPr>
              <a:t>Where does the game world
live — on your device or
somewhere else?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2651760"/>
            <a:ext cx="347472" cy="347472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2651760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651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132"/>
                </a:solidFill>
                <a:latin typeface="Calibri"/>
              </a:rPr>
              <a:t>Can thousands of players
play at once?</a:t>
            </a:r>
          </a:p>
        </p:txBody>
      </p:sp>
      <p:sp>
        <p:nvSpPr>
          <p:cNvPr id="16" name="Oval 15"/>
          <p:cNvSpPr/>
          <p:nvPr/>
        </p:nvSpPr>
        <p:spPr>
          <a:xfrm>
            <a:off x="4389120" y="3520439"/>
            <a:ext cx="347472" cy="347472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3520439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520439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132"/>
                </a:solidFill>
                <a:latin typeface="Calibri"/>
              </a:rPr>
              <a:t>What if YOU turn off
your device?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6167"/>
                </a:solidFill>
                <a:latin typeface="Calibri"/>
              </a:rPr>
              <a:t>✋  Raise your hand with your answers!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3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🎮  This is Client-Server!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3931920" cy="3611880"/>
          </a:xfrm>
          <a:prstGeom prst="roundRect">
            <a:avLst>
              <a:gd name="adj" fmla="val 5000"/>
            </a:avLst>
          </a:prstGeom>
          <a:solidFill>
            <a:srgbClr val="3A4A9A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E795"/>
                </a:solidFill>
                <a:latin typeface="Calibri"/>
              </a:rPr>
              <a:t>YOU  (Client)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51760"/>
            <a:ext cx="274320" cy="2743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6090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Your phone or computer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090672"/>
            <a:ext cx="274320" cy="2743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0906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9981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Sends your moves / requests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529584"/>
            <a:ext cx="274320" cy="2743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52958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3872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Sees the game /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1097280"/>
            <a:ext cx="3931920" cy="3611880"/>
          </a:xfrm>
          <a:prstGeom prst="roundRect">
            <a:avLst>
              <a:gd name="adj" fmla="val 5000"/>
            </a:avLst>
          </a:prstGeom>
          <a:solidFill>
            <a:srgbClr val="3A4A9A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143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148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Game Server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0" y="2651760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26517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66090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Stores the whole world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0" y="3090672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30906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09981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Handles EVERYONE's moves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0" y="3529584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0" y="352958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53872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Does all the hard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E795"/>
                </a:solidFill>
                <a:latin typeface="Calibri"/>
              </a:rPr>
              <a:t>⚡  The server is super powerful!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Client-Server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97280"/>
            <a:ext cx="2788920" cy="3566160"/>
          </a:xfrm>
          <a:prstGeom prst="roundRect">
            <a:avLst>
              <a:gd name="adj" fmla="val 5000"/>
            </a:avLst>
          </a:prstGeom>
          <a:solidFill>
            <a:srgbClr val="FEF0F0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2788920" cy="5486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6420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2132"/>
                </a:solidFill>
                <a:latin typeface="Calibri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132"/>
                </a:solidFill>
                <a:latin typeface="Calibri"/>
              </a:rPr>
              <a:t>Asks for something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63347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132"/>
                </a:solidFill>
                <a:latin typeface="Calibri"/>
              </a:rPr>
              <a:t>Your phone, gaming console,
laptop, tablet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097280"/>
            <a:ext cx="2788920" cy="3566160"/>
          </a:xfrm>
          <a:prstGeom prst="roundRect">
            <a:avLst>
              <a:gd name="adj" fmla="val 5000"/>
            </a:avLst>
          </a:prstGeom>
          <a:solidFill>
            <a:srgbClr val="E6F7F5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097280"/>
            <a:ext cx="278892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115568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66420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2132"/>
                </a:solidFill>
                <a:latin typeface="Calibri"/>
              </a:rPr>
              <a:t>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7627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132"/>
                </a:solidFill>
                <a:latin typeface="Calibri"/>
              </a:rPr>
              <a:t>Provides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3347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132"/>
                </a:solidFill>
                <a:latin typeface="Calibri"/>
              </a:rPr>
              <a:t>Fortnite, TikTok, Netflix
servers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097280"/>
            <a:ext cx="2788920" cy="3566160"/>
          </a:xfrm>
          <a:prstGeom prst="roundRect">
            <a:avLst>
              <a:gd name="adj" fmla="val 5000"/>
            </a:avLst>
          </a:prstGeom>
          <a:solidFill>
            <a:srgbClr val="FEFBE8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79" y="1097280"/>
            <a:ext cx="278892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79" y="1115568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166420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2132"/>
                </a:solidFill>
                <a:latin typeface="Calibri"/>
              </a:rPr>
              <a:t>KEY IDEA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7627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132"/>
                </a:solidFill>
                <a:latin typeface="Calibri"/>
              </a:rPr>
              <a:t>Server does the hard work!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19" y="263347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132"/>
                </a:solidFill>
                <a:latin typeface="Calibri"/>
              </a:rPr>
              <a:t>Your device just sends requests
and gets results 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🌐  Client → Request → Server → Response → 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3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3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920240" cy="2194560"/>
          </a:xfrm>
          <a:prstGeom prst="roundRect">
            <a:avLst>
              <a:gd name="adj" fmla="val 5000"/>
            </a:avLst>
          </a:prstGeom>
          <a:solidFill>
            <a:srgbClr val="3A4A9A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E795"/>
                </a:solidFill>
                <a:latin typeface="Calibri"/>
              </a:rPr>
              <a:t>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D8"/>
                </a:solidFill>
                <a:latin typeface="Calibri"/>
              </a:rPr>
              <a:t>(Phone)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325880"/>
            <a:ext cx="1920240" cy="1737360"/>
          </a:xfrm>
          <a:prstGeom prst="roundRect">
            <a:avLst>
              <a:gd name="adj" fmla="val 5000"/>
            </a:avLst>
          </a:prstGeom>
          <a:solidFill>
            <a:srgbClr val="3A4A9A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137160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1488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E795"/>
                </a:solidFill>
                <a:latin typeface="Calibri"/>
              </a:rPr>
              <a:t>INTERNET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097280"/>
            <a:ext cx="1920240" cy="2194560"/>
          </a:xfrm>
          <a:prstGeom prst="roundRect">
            <a:avLst>
              <a:gd name="adj" fmla="val 5000"/>
            </a:avLst>
          </a:prstGeom>
          <a:solidFill>
            <a:srgbClr val="3A4A9A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11430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0574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77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D8"/>
                </a:solidFill>
                <a:latin typeface="Calibri"/>
              </a:rPr>
              <a:t>(TikTok)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103120"/>
            <a:ext cx="1234440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93008" y="19842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96167"/>
                </a:solidFill>
                <a:latin typeface="Calibri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1755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96167"/>
                </a:solidFill>
                <a:latin typeface="Calibri"/>
              </a:rPr>
              <a:t>① "Show me videos"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2103120"/>
            <a:ext cx="1234440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47688" y="19842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96167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2468880"/>
            <a:ext cx="12344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76672" y="235000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9488"/>
                </a:solidFill>
                <a:latin typeface="Calibri"/>
              </a:rPr>
              <a:t>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9488"/>
                </a:solidFill>
                <a:latin typeface="Calibri"/>
              </a:rPr>
              <a:t>② Sends videos 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2468880"/>
            <a:ext cx="12344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31136" y="235000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9488"/>
                </a:solidFill>
                <a:latin typeface="Calibri"/>
              </a:rPr>
              <a:t>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52044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3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56616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6167"/>
                </a:solidFill>
                <a:latin typeface="Calibri"/>
              </a:rPr>
              <a:t>📤  Step 1 —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950208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Your phone asks the server for content
(like a customer ordering food)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352044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3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0" y="356616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📥  Step 2 — 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950208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 server finds the data and sends
it back to you — fast!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🤔  Question: What about texting a friend?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365760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560320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2587752"/>
            <a:ext cx="17190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FFFFFF"/>
                </a:solidFill>
                <a:latin typeface="Calibri"/>
              </a:rPr>
              <a:t>"Meet </a:t>
            </a:r>
            <a:r>
              <a:rPr lang="en-US" sz="1100" dirty="0">
                <a:solidFill>
                  <a:srgbClr val="FFFFFF"/>
                </a:solidFill>
                <a:latin typeface="Calibri"/>
              </a:rPr>
              <a:t>yo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u at the park!"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90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3C7E"/>
                </a:solidFill>
                <a:latin typeface="Calibri"/>
              </a:rPr>
              <a:t>You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560320"/>
            <a:ext cx="1417320" cy="5029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50592" y="2587752"/>
            <a:ext cx="13533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FFFFFF"/>
                </a:solidFill>
                <a:latin typeface="Calibri"/>
              </a:rPr>
              <a:t>"</a:t>
            </a:r>
            <a:r>
              <a:rPr lang="en-US" sz="1100" dirty="0">
                <a:solidFill>
                  <a:srgbClr val="FFFFFF"/>
                </a:solidFill>
                <a:latin typeface="Calibri"/>
              </a:rPr>
              <a:t>On my way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! 🏃"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090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     Your Friend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E2132"/>
                </a:solidFill>
                <a:latin typeface="Calibri"/>
              </a:rPr>
              <a:t>Is your friend a server like TikTok?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143000"/>
            <a:ext cx="457200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280160"/>
            <a:ext cx="4251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F3C7E"/>
                </a:solidFill>
                <a:latin typeface="Calibri"/>
              </a:rPr>
              <a:t>👥  Turn to your partner: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801368"/>
            <a:ext cx="411480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80560" y="1965960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96596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1993391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132"/>
                </a:solidFill>
                <a:latin typeface="Calibri"/>
              </a:rPr>
              <a:t>How is texting DIFFERENT
from using TikTok?</a:t>
            </a:r>
          </a:p>
        </p:txBody>
      </p:sp>
      <p:sp>
        <p:nvSpPr>
          <p:cNvPr id="19" name="Oval 18"/>
          <p:cNvSpPr/>
          <p:nvPr/>
        </p:nvSpPr>
        <p:spPr>
          <a:xfrm>
            <a:off x="4480560" y="2816352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281635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2843784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132"/>
                </a:solidFill>
                <a:latin typeface="Calibri"/>
              </a:rPr>
              <a:t>How is texting the SAME?</a:t>
            </a:r>
          </a:p>
        </p:txBody>
      </p:sp>
      <p:sp>
        <p:nvSpPr>
          <p:cNvPr id="22" name="Oval 21"/>
          <p:cNvSpPr/>
          <p:nvPr/>
        </p:nvSpPr>
        <p:spPr>
          <a:xfrm>
            <a:off x="4480560" y="3666744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3666744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3694176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132"/>
                </a:solidFill>
                <a:latin typeface="Calibri"/>
              </a:rPr>
              <a:t>Hint: think about where
the messages go!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73659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6167"/>
                </a:solidFill>
                <a:latin typeface="Calibri"/>
              </a:rPr>
              <a:t>🙋  Share your answers with the class!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8079" y="3474720"/>
            <a:ext cx="2560320" cy="2560320"/>
          </a:xfrm>
          <a:prstGeom prst="ellipse">
            <a:avLst/>
          </a:prstGeom>
          <a:solidFill>
            <a:srgbClr val="3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📱  PYNQ Board-to-Board Messaging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50392"/>
            <a:ext cx="841248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0040" y="1051560"/>
            <a:ext cx="1920240" cy="1920240"/>
          </a:xfrm>
          <a:prstGeom prst="roundRect">
            <a:avLst>
              <a:gd name="adj" fmla="val 5000"/>
            </a:avLst>
          </a:prstGeom>
          <a:solidFill>
            <a:srgbClr val="3A4A9A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E795"/>
                </a:solidFill>
                <a:latin typeface="Calibri"/>
              </a:rPr>
              <a:t>Board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677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D8"/>
                </a:solidFill>
                <a:latin typeface="Calibri"/>
              </a:rPr>
              <a:t>(Client)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51560"/>
            <a:ext cx="1920240" cy="1920240"/>
          </a:xfrm>
          <a:prstGeom prst="roundRect">
            <a:avLst>
              <a:gd name="adj" fmla="val 5000"/>
            </a:avLst>
          </a:prstGeom>
          <a:solidFill>
            <a:srgbClr val="3A4A9A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0972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9202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6167"/>
                </a:solidFill>
                <a:latin typeface="Calibri"/>
              </a:rPr>
              <a:t>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6167"/>
                </a:solidFill>
                <a:latin typeface="Calibri"/>
              </a:rPr>
              <a:t>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051560"/>
            <a:ext cx="1920240" cy="1920240"/>
          </a:xfrm>
          <a:prstGeom prst="roundRect">
            <a:avLst>
              <a:gd name="adj" fmla="val 5000"/>
            </a:avLst>
          </a:prstGeom>
          <a:solidFill>
            <a:srgbClr val="3A4A9A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0972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9202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E795"/>
                </a:solidFill>
                <a:latin typeface="Calibri"/>
              </a:rPr>
              <a:t>Board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2677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D8"/>
                </a:solidFill>
                <a:latin typeface="Calibri"/>
              </a:rPr>
              <a:t>(Client)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1947672"/>
            <a:ext cx="1371600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93008" y="1837943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96167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1947672"/>
            <a:ext cx="1371600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84848" y="1837943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96167"/>
                </a:solidFill>
                <a:latin typeface="Calibri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3246120"/>
            <a:ext cx="8503920" cy="1554480"/>
          </a:xfrm>
          <a:prstGeom prst="roundRect">
            <a:avLst>
              <a:gd name="adj" fmla="val 5000"/>
            </a:avLst>
          </a:prstGeom>
          <a:solidFill>
            <a:srgbClr val="3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31012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795"/>
                </a:solidFill>
                <a:latin typeface="Calibri"/>
              </a:rPr>
              <a:t>💡  Still Client-Server!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49039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The server is like a MAILMAN 📮 — it takes letters from Board A
and delivers them to Board B. Both boards are clients!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Two Ways to Use Client-Server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2132"/>
                </a:solidFill>
                <a:latin typeface="Calibri"/>
              </a:rPr>
              <a:t>Today you'll use BOTH: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402336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4023360" cy="65836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91056"/>
            <a:ext cx="3794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1️⃣  P2P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428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132"/>
                </a:solidFill>
                <a:latin typeface="Calibri"/>
              </a:rPr>
              <a:t>📮 Mailman</a:t>
            </a:r>
          </a:p>
        </p:txBody>
      </p:sp>
      <p:sp>
        <p:nvSpPr>
          <p:cNvPr id="9" name="Oval 8"/>
          <p:cNvSpPr/>
          <p:nvPr/>
        </p:nvSpPr>
        <p:spPr>
          <a:xfrm>
            <a:off x="475488" y="2834640"/>
            <a:ext cx="274320" cy="2743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2834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8529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132"/>
                </a:solidFill>
                <a:latin typeface="Calibri"/>
              </a:rPr>
              <a:t>Send messages between your PYNQ boards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" y="3310128"/>
            <a:ext cx="274320" cy="2743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331012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32841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132"/>
                </a:solidFill>
                <a:latin typeface="Calibri"/>
              </a:rPr>
              <a:t>Each board is a CLIENT</a:t>
            </a:r>
          </a:p>
        </p:txBody>
      </p:sp>
      <p:sp>
        <p:nvSpPr>
          <p:cNvPr id="15" name="Oval 14"/>
          <p:cNvSpPr/>
          <p:nvPr/>
        </p:nvSpPr>
        <p:spPr>
          <a:xfrm>
            <a:off x="475488" y="3785616"/>
            <a:ext cx="274320" cy="2743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3785616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0390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132"/>
                </a:solidFill>
                <a:latin typeface="Calibri"/>
              </a:rPr>
              <a:t>Server delivers messages like a post office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4074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6167"/>
                </a:solidFill>
                <a:latin typeface="Calibri"/>
              </a:rPr>
              <a:t>📡  Board A  →  Server  →  Board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1554480"/>
            <a:ext cx="402336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8100" dist="25400" dir="2700000" algn="tl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00600" y="1554480"/>
            <a:ext cx="4023360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1591056"/>
            <a:ext cx="3794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2️⃣  Genesis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30428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132"/>
                </a:solidFill>
                <a:latin typeface="Calibri"/>
              </a:rPr>
              <a:t>🦾 Physics Engine</a:t>
            </a:r>
          </a:p>
        </p:txBody>
      </p:sp>
      <p:sp>
        <p:nvSpPr>
          <p:cNvPr id="23" name="Oval 22"/>
          <p:cNvSpPr/>
          <p:nvPr/>
        </p:nvSpPr>
        <p:spPr>
          <a:xfrm>
            <a:off x="4956048" y="2834640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56048" y="2834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28529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132"/>
                </a:solidFill>
                <a:latin typeface="Calibri"/>
              </a:rPr>
              <a:t>Control a robot arm</a:t>
            </a:r>
          </a:p>
        </p:txBody>
      </p:sp>
      <p:sp>
        <p:nvSpPr>
          <p:cNvPr id="26" name="Oval 25"/>
          <p:cNvSpPr/>
          <p:nvPr/>
        </p:nvSpPr>
        <p:spPr>
          <a:xfrm>
            <a:off x="4956048" y="331012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56048" y="331012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8" y="332841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132"/>
                </a:solidFill>
                <a:latin typeface="Calibri"/>
              </a:rPr>
              <a:t>Your board sends commands</a:t>
            </a:r>
          </a:p>
        </p:txBody>
      </p:sp>
      <p:sp>
        <p:nvSpPr>
          <p:cNvPr id="29" name="Oval 28"/>
          <p:cNvSpPr/>
          <p:nvPr/>
        </p:nvSpPr>
        <p:spPr>
          <a:xfrm>
            <a:off x="4956048" y="3785616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56048" y="3785616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8" y="380390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132"/>
                </a:solidFill>
                <a:latin typeface="Calibri"/>
              </a:rPr>
              <a:t>Server does the heavy physics math!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4074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/>
              </a:rPr>
              <a:t>🤖  Board  →  Server  →  Robot moves!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💡  Same idea (client-server), different jobs!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5029200" cy="5029200"/>
          </a:xfrm>
          <a:prstGeom prst="ellipse">
            <a:avLst/>
          </a:prstGeom>
          <a:solidFill>
            <a:srgbClr val="3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3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498079" y="-731520"/>
            <a:ext cx="2286000" cy="228600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74320" y="3474720"/>
            <a:ext cx="1828800" cy="1828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0" y="4572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mbria"/>
              </a:rPr>
              <a:t>Let's Build It!</a:t>
            </a:r>
          </a:p>
        </p:txBody>
      </p:sp>
      <p:sp>
        <p:nvSpPr>
          <p:cNvPr id="8" name="Oval 7"/>
          <p:cNvSpPr/>
          <p:nvPr/>
        </p:nvSpPr>
        <p:spPr>
          <a:xfrm>
            <a:off x="2926080" y="2788920"/>
            <a:ext cx="3291840" cy="164592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9E795"/>
                </a:solidFill>
                <a:latin typeface="Calibri"/>
              </a:rPr>
              <a:t>Time to send messages and control robots!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2377440" cy="777240"/>
          </a:xfrm>
          <a:prstGeom prst="roundRect">
            <a:avLst>
              <a:gd name="adj" fmla="val 5000"/>
            </a:avLst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💻 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840480"/>
            <a:ext cx="2377440" cy="77724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3886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🌐 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3840480"/>
            <a:ext cx="2377440" cy="77724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79" y="3886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🖥️ 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39aa4b3-b62d-42bf-8097-75e2c573ddfa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504</Words>
  <Application>Microsoft Office PowerPoint</Application>
  <PresentationFormat>On-screen Show (16:9)</PresentationFormat>
  <Paragraphs>127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Balgi, Trapti Damodar</dc:creator>
  <cp:keywords/>
  <dc:description>generated using python-pptx</dc:description>
  <cp:lastModifiedBy>Balgi, Trapti Damodar</cp:lastModifiedBy>
  <cp:revision>2</cp:revision>
  <dcterms:created xsi:type="dcterms:W3CDTF">2013-01-27T09:14:16Z</dcterms:created>
  <dcterms:modified xsi:type="dcterms:W3CDTF">2026-07-17T03:09:36Z</dcterms:modified>
  <cp:category/>
</cp:coreProperties>
</file>