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5" r:id="rId10"/>
    <p:sldId id="269"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10"/>
  </p:normalViewPr>
  <p:slideViewPr>
    <p:cSldViewPr snapToGrid="0" snapToObjects="1">
      <p:cViewPr varScale="1">
        <p:scale>
          <a:sx n="146" d="100"/>
          <a:sy n="146" d="100"/>
        </p:scale>
        <p:origin x="576"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lgi, Trapti Damodar" userId="d0201a02-049b-4973-8f78-cafd9f5223ce" providerId="ADAL" clId="{40F2BF6D-5042-4A7D-98CD-79CB202BF6AC}"/>
    <pc:docChg chg="delSld">
      <pc:chgData name="Balgi, Trapti Damodar" userId="d0201a02-049b-4973-8f78-cafd9f5223ce" providerId="ADAL" clId="{40F2BF6D-5042-4A7D-98CD-79CB202BF6AC}" dt="2026-07-22T11:17:03.955" v="4" actId="47"/>
      <pc:docMkLst>
        <pc:docMk/>
      </pc:docMkLst>
      <pc:sldChg chg="del">
        <pc:chgData name="Balgi, Trapti Damodar" userId="d0201a02-049b-4973-8f78-cafd9f5223ce" providerId="ADAL" clId="{40F2BF6D-5042-4A7D-98CD-79CB202BF6AC}" dt="2026-07-22T11:16:55.588" v="0" actId="47"/>
        <pc:sldMkLst>
          <pc:docMk/>
          <pc:sldMk cId="0" sldId="264"/>
        </pc:sldMkLst>
      </pc:sldChg>
      <pc:sldChg chg="del">
        <pc:chgData name="Balgi, Trapti Damodar" userId="d0201a02-049b-4973-8f78-cafd9f5223ce" providerId="ADAL" clId="{40F2BF6D-5042-4A7D-98CD-79CB202BF6AC}" dt="2026-07-22T11:16:58.531" v="1" actId="47"/>
        <pc:sldMkLst>
          <pc:docMk/>
          <pc:sldMk cId="0" sldId="266"/>
        </pc:sldMkLst>
      </pc:sldChg>
      <pc:sldChg chg="del">
        <pc:chgData name="Balgi, Trapti Damodar" userId="d0201a02-049b-4973-8f78-cafd9f5223ce" providerId="ADAL" clId="{40F2BF6D-5042-4A7D-98CD-79CB202BF6AC}" dt="2026-07-22T11:16:59.756" v="2" actId="47"/>
        <pc:sldMkLst>
          <pc:docMk/>
          <pc:sldMk cId="0" sldId="267"/>
        </pc:sldMkLst>
      </pc:sldChg>
      <pc:sldChg chg="del">
        <pc:chgData name="Balgi, Trapti Damodar" userId="d0201a02-049b-4973-8f78-cafd9f5223ce" providerId="ADAL" clId="{40F2BF6D-5042-4A7D-98CD-79CB202BF6AC}" dt="2026-07-22T11:17:00.673" v="3" actId="47"/>
        <pc:sldMkLst>
          <pc:docMk/>
          <pc:sldMk cId="0" sldId="268"/>
        </pc:sldMkLst>
      </pc:sldChg>
      <pc:sldChg chg="del">
        <pc:chgData name="Balgi, Trapti Damodar" userId="d0201a02-049b-4973-8f78-cafd9f5223ce" providerId="ADAL" clId="{40F2BF6D-5042-4A7D-98CD-79CB202BF6AC}" dt="2026-07-22T11:17:03.955" v="4" actId="47"/>
        <pc:sldMkLst>
          <pc:docMk/>
          <pc:sldMk cId="0" sldId="2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42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Raise your hand if you've ever ordered something from Amazon. How long did it take to arrive? Have you ever wondered who packed your order? Do you think it was a person, or maybe a robot? Pause for answers before moving on. This hooks students into the topic and creates curiosity.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answers from students. Explain that robots are everywhere, even if they don't look like people. A Roomba is a robot. A self-checkout machine has robotic elements. Ask: What do all these robots have in common? (They follow instructions, sense the world, and act on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Franka Emika Panda — popular in research labs worldwide. Point out the joints: shoulder (base rotation), elbow (middle), wrist (end joint), gripper (fingers). Ask: What parts of your body does this remind you of? Robots have joints just like humans! Key insight: this robot has 7 degrees of freedom — just like your arm.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two cubes. Task: pick up Cube A and place it on top of Cube B. Ask 'Easy?' Everyone says yes. Then: 'Great — explain EVERY SINGLE STEP to the robot, like it has never seen a cube before.' Pause. Let them think. This sets up the next slide perfectly.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step slowly. What takes a human 2 seconds takes a robot 9 explicit steps — and each step has sub-steps. Humans skip details because our brains do them automatically — this is 'tacit knowledge.' Robots don't have tacit knowledge — they need precise instructions for everything. Ask: What other simple tasks might be harder than they look?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could go wrong with our stacking task? Accept answers, then reveal these scenarios. Key concept: 'robustness' — a robot's ability to handle unexpected situations. Real robots constantly sense their environment and adapt. This is why robotics is such an interesting engineering challenge!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vote by raising hands: A (real robot) or B (simulation). A real Franka Panda costs $30,000-$100,000 USD. Full system can exceed $1M. When students crash real robots: bent joints, broken sensors, expensive recalibration. That's exactly why simulation exists — the safe playground before the real thing.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simulation to a video game — when you die, you respawn. When a simulated robot crashes — restart! Key selling point: simulation lets you run the SAME task thousands of times overnight and collect data. Real robots would need months of real time. This is how AI for robots is actually trained today — in simulation.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430,000x speed stat — it's mind-blowing. A year of training overnight! Companies like Boston Dynamics, Tesla (Optimus robot), and Google DeepMind all use simulation extensively. The 'sim-to-real gap' is a real challenge: making skills from simulation work on real hardware. That's an active area of research!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student answers! Let them get creative. Write the most interesting ones on the board. Drill down on ONE suggestion: 'OK, you said fold laundry — what's the very FIRST step? Pick up the shirt? But HOW does the robot know where the shirt is? How does it know it's a shirt and not a sock?' Encourage wildest ideas — that's how real robotics research starts!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829"/>
        </a:solidFill>
        <a:effectLst/>
      </p:bgPr>
    </p:bg>
    <p:spTree>
      <p:nvGrpSpPr>
        <p:cNvPr id="1" name=""/>
        <p:cNvGrpSpPr/>
        <p:nvPr/>
      </p:nvGrpSpPr>
      <p:grpSpPr>
        <a:xfrm>
          <a:off x="0" y="0"/>
          <a:ext cx="0" cy="0"/>
          <a:chOff x="0" y="0"/>
          <a:chExt cx="0" cy="0"/>
        </a:xfrm>
      </p:grpSpPr>
      <p:sp>
        <p:nvSpPr>
          <p:cNvPr id="2" name="Shape 0"/>
          <p:cNvSpPr/>
          <p:nvPr/>
        </p:nvSpPr>
        <p:spPr>
          <a:xfrm>
            <a:off x="0" y="685800"/>
            <a:ext cx="9144000" cy="4453128"/>
          </a:xfrm>
          <a:prstGeom prst="rect">
            <a:avLst/>
          </a:prstGeom>
          <a:solidFill>
            <a:srgbClr val="111E2E"/>
          </a:solidFill>
          <a:ln w="12700">
            <a:solidFill>
              <a:srgbClr val="111E2E"/>
            </a:solidFill>
            <a:prstDash val="solid"/>
          </a:ln>
        </p:spPr>
        <p:txBody>
          <a:bodyPr/>
          <a:lstStyle/>
          <a:p>
            <a:endParaRPr lang="en-US"/>
          </a:p>
        </p:txBody>
      </p:sp>
      <p:sp>
        <p:nvSpPr>
          <p:cNvPr id="3" name="Shape 1"/>
          <p:cNvSpPr/>
          <p:nvPr/>
        </p:nvSpPr>
        <p:spPr>
          <a:xfrm>
            <a:off x="182880" y="914400"/>
            <a:ext cx="8778240" cy="73152"/>
          </a:xfrm>
          <a:prstGeom prst="rect">
            <a:avLst/>
          </a:prstGeom>
          <a:solidFill>
            <a:srgbClr val="3A5068"/>
          </a:solidFill>
          <a:ln w="12700">
            <a:solidFill>
              <a:srgbClr val="3A5068"/>
            </a:solidFill>
            <a:prstDash val="solid"/>
          </a:ln>
        </p:spPr>
        <p:txBody>
          <a:bodyPr/>
          <a:lstStyle/>
          <a:p>
            <a:endParaRPr lang="en-US"/>
          </a:p>
        </p:txBody>
      </p:sp>
      <p:sp>
        <p:nvSpPr>
          <p:cNvPr id="4" name="Shape 2"/>
          <p:cNvSpPr/>
          <p:nvPr/>
        </p:nvSpPr>
        <p:spPr>
          <a:xfrm>
            <a:off x="256032" y="1005840"/>
            <a:ext cx="868680" cy="457200"/>
          </a:xfrm>
          <a:prstGeom prst="roundRect">
            <a:avLst>
              <a:gd name="adj" fmla="val 6000"/>
            </a:avLst>
          </a:prstGeom>
          <a:solidFill>
            <a:srgbClr val="CC4400"/>
          </a:solidFill>
          <a:ln w="12700">
            <a:solidFill>
              <a:srgbClr val="FFFFFF">
                <a:alpha val="30000"/>
              </a:srgbClr>
            </a:solidFill>
            <a:prstDash val="solid"/>
          </a:ln>
        </p:spPr>
        <p:txBody>
          <a:bodyPr/>
          <a:lstStyle/>
          <a:p>
            <a:endParaRPr lang="en-US"/>
          </a:p>
        </p:txBody>
      </p:sp>
      <p:sp>
        <p:nvSpPr>
          <p:cNvPr id="5" name="Shape 3"/>
          <p:cNvSpPr/>
          <p:nvPr/>
        </p:nvSpPr>
        <p:spPr>
          <a:xfrm>
            <a:off x="1335024" y="1005840"/>
            <a:ext cx="868680" cy="457200"/>
          </a:xfrm>
          <a:prstGeom prst="roundRect">
            <a:avLst>
              <a:gd name="adj" fmla="val 6000"/>
            </a:avLst>
          </a:prstGeom>
          <a:solidFill>
            <a:srgbClr val="DD9900"/>
          </a:solidFill>
          <a:ln w="12700">
            <a:solidFill>
              <a:srgbClr val="FFFFFF">
                <a:alpha val="30000"/>
              </a:srgbClr>
            </a:solidFill>
            <a:prstDash val="solid"/>
          </a:ln>
        </p:spPr>
        <p:txBody>
          <a:bodyPr/>
          <a:lstStyle/>
          <a:p>
            <a:endParaRPr lang="en-US"/>
          </a:p>
        </p:txBody>
      </p:sp>
      <p:sp>
        <p:nvSpPr>
          <p:cNvPr id="6" name="Shape 4"/>
          <p:cNvSpPr/>
          <p:nvPr/>
        </p:nvSpPr>
        <p:spPr>
          <a:xfrm>
            <a:off x="2414016" y="1005840"/>
            <a:ext cx="868680" cy="457200"/>
          </a:xfrm>
          <a:prstGeom prst="roundRect">
            <a:avLst>
              <a:gd name="adj" fmla="val 6000"/>
            </a:avLst>
          </a:prstGeom>
          <a:solidFill>
            <a:srgbClr val="AA1177"/>
          </a:solidFill>
          <a:ln w="12700">
            <a:solidFill>
              <a:srgbClr val="FFFFFF">
                <a:alpha val="30000"/>
              </a:srgbClr>
            </a:solidFill>
            <a:prstDash val="solid"/>
          </a:ln>
        </p:spPr>
        <p:txBody>
          <a:bodyPr/>
          <a:lstStyle/>
          <a:p>
            <a:endParaRPr lang="en-US"/>
          </a:p>
        </p:txBody>
      </p:sp>
      <p:sp>
        <p:nvSpPr>
          <p:cNvPr id="7" name="Shape 5"/>
          <p:cNvSpPr/>
          <p:nvPr/>
        </p:nvSpPr>
        <p:spPr>
          <a:xfrm>
            <a:off x="3493008" y="1005840"/>
            <a:ext cx="868680" cy="457200"/>
          </a:xfrm>
          <a:prstGeom prst="roundRect">
            <a:avLst>
              <a:gd name="adj" fmla="val 6000"/>
            </a:avLst>
          </a:prstGeom>
          <a:solidFill>
            <a:srgbClr val="006699"/>
          </a:solidFill>
          <a:ln w="12700">
            <a:solidFill>
              <a:srgbClr val="FFFFFF">
                <a:alpha val="30000"/>
              </a:srgbClr>
            </a:solidFill>
            <a:prstDash val="solid"/>
          </a:ln>
        </p:spPr>
        <p:txBody>
          <a:bodyPr/>
          <a:lstStyle/>
          <a:p>
            <a:endParaRPr lang="en-US"/>
          </a:p>
        </p:txBody>
      </p:sp>
      <p:sp>
        <p:nvSpPr>
          <p:cNvPr id="8" name="Shape 6"/>
          <p:cNvSpPr/>
          <p:nvPr/>
        </p:nvSpPr>
        <p:spPr>
          <a:xfrm>
            <a:off x="4572000" y="1005840"/>
            <a:ext cx="868680" cy="457200"/>
          </a:xfrm>
          <a:prstGeom prst="roundRect">
            <a:avLst>
              <a:gd name="adj" fmla="val 6000"/>
            </a:avLst>
          </a:prstGeom>
          <a:solidFill>
            <a:srgbClr val="5500BB"/>
          </a:solidFill>
          <a:ln w="12700">
            <a:solidFill>
              <a:srgbClr val="FFFFFF">
                <a:alpha val="30000"/>
              </a:srgbClr>
            </a:solidFill>
            <a:prstDash val="solid"/>
          </a:ln>
        </p:spPr>
        <p:txBody>
          <a:bodyPr/>
          <a:lstStyle/>
          <a:p>
            <a:endParaRPr lang="en-US"/>
          </a:p>
        </p:txBody>
      </p:sp>
      <p:sp>
        <p:nvSpPr>
          <p:cNvPr id="9" name="Shape 7"/>
          <p:cNvSpPr/>
          <p:nvPr/>
        </p:nvSpPr>
        <p:spPr>
          <a:xfrm>
            <a:off x="5650992" y="1005840"/>
            <a:ext cx="868680" cy="457200"/>
          </a:xfrm>
          <a:prstGeom prst="roundRect">
            <a:avLst>
              <a:gd name="adj" fmla="val 6000"/>
            </a:avLst>
          </a:prstGeom>
          <a:solidFill>
            <a:srgbClr val="1E6B1E"/>
          </a:solidFill>
          <a:ln w="12700">
            <a:solidFill>
              <a:srgbClr val="FFFFFF">
                <a:alpha val="30000"/>
              </a:srgbClr>
            </a:solidFill>
            <a:prstDash val="solid"/>
          </a:ln>
        </p:spPr>
        <p:txBody>
          <a:bodyPr/>
          <a:lstStyle/>
          <a:p>
            <a:endParaRPr lang="en-US"/>
          </a:p>
        </p:txBody>
      </p:sp>
      <p:sp>
        <p:nvSpPr>
          <p:cNvPr id="10" name="Shape 8"/>
          <p:cNvSpPr/>
          <p:nvPr/>
        </p:nvSpPr>
        <p:spPr>
          <a:xfrm>
            <a:off x="6729984" y="1005840"/>
            <a:ext cx="868680" cy="457200"/>
          </a:xfrm>
          <a:prstGeom prst="roundRect">
            <a:avLst>
              <a:gd name="adj" fmla="val 6000"/>
            </a:avLst>
          </a:prstGeom>
          <a:solidFill>
            <a:srgbClr val="CC4400"/>
          </a:solidFill>
          <a:ln w="12700">
            <a:solidFill>
              <a:srgbClr val="FFFFFF">
                <a:alpha val="30000"/>
              </a:srgbClr>
            </a:solidFill>
            <a:prstDash val="solid"/>
          </a:ln>
        </p:spPr>
        <p:txBody>
          <a:bodyPr/>
          <a:lstStyle/>
          <a:p>
            <a:endParaRPr lang="en-US"/>
          </a:p>
        </p:txBody>
      </p:sp>
      <p:sp>
        <p:nvSpPr>
          <p:cNvPr id="11" name="Shape 9"/>
          <p:cNvSpPr/>
          <p:nvPr/>
        </p:nvSpPr>
        <p:spPr>
          <a:xfrm>
            <a:off x="7808976" y="1005840"/>
            <a:ext cx="868680" cy="457200"/>
          </a:xfrm>
          <a:prstGeom prst="roundRect">
            <a:avLst>
              <a:gd name="adj" fmla="val 6000"/>
            </a:avLst>
          </a:prstGeom>
          <a:solidFill>
            <a:srgbClr val="DD9900"/>
          </a:solidFill>
          <a:ln w="12700">
            <a:solidFill>
              <a:srgbClr val="FFFFFF">
                <a:alpha val="30000"/>
              </a:srgbClr>
            </a:solidFill>
            <a:prstDash val="solid"/>
          </a:ln>
        </p:spPr>
        <p:txBody>
          <a:bodyPr/>
          <a:lstStyle/>
          <a:p>
            <a:endParaRPr lang="en-US"/>
          </a:p>
        </p:txBody>
      </p:sp>
      <p:sp>
        <p:nvSpPr>
          <p:cNvPr id="12" name="Shape 10"/>
          <p:cNvSpPr/>
          <p:nvPr/>
        </p:nvSpPr>
        <p:spPr>
          <a:xfrm>
            <a:off x="182880" y="1600200"/>
            <a:ext cx="8778240" cy="73152"/>
          </a:xfrm>
          <a:prstGeom prst="rect">
            <a:avLst/>
          </a:prstGeom>
          <a:solidFill>
            <a:srgbClr val="3A5068"/>
          </a:solidFill>
          <a:ln w="12700">
            <a:solidFill>
              <a:srgbClr val="3A5068"/>
            </a:solidFill>
            <a:prstDash val="solid"/>
          </a:ln>
        </p:spPr>
        <p:txBody>
          <a:bodyPr/>
          <a:lstStyle/>
          <a:p>
            <a:endParaRPr lang="en-US"/>
          </a:p>
        </p:txBody>
      </p:sp>
      <p:sp>
        <p:nvSpPr>
          <p:cNvPr id="13" name="Shape 11"/>
          <p:cNvSpPr/>
          <p:nvPr/>
        </p:nvSpPr>
        <p:spPr>
          <a:xfrm>
            <a:off x="256032" y="1691640"/>
            <a:ext cx="868680" cy="457200"/>
          </a:xfrm>
          <a:prstGeom prst="roundRect">
            <a:avLst>
              <a:gd name="adj" fmla="val 6000"/>
            </a:avLst>
          </a:prstGeom>
          <a:solidFill>
            <a:srgbClr val="CC4400"/>
          </a:solidFill>
          <a:ln w="12700">
            <a:solidFill>
              <a:srgbClr val="FFFFFF">
                <a:alpha val="30000"/>
              </a:srgbClr>
            </a:solidFill>
            <a:prstDash val="solid"/>
          </a:ln>
        </p:spPr>
        <p:txBody>
          <a:bodyPr/>
          <a:lstStyle/>
          <a:p>
            <a:endParaRPr lang="en-US"/>
          </a:p>
        </p:txBody>
      </p:sp>
      <p:sp>
        <p:nvSpPr>
          <p:cNvPr id="14" name="Shape 12"/>
          <p:cNvSpPr/>
          <p:nvPr/>
        </p:nvSpPr>
        <p:spPr>
          <a:xfrm>
            <a:off x="1335024" y="1691640"/>
            <a:ext cx="868680" cy="457200"/>
          </a:xfrm>
          <a:prstGeom prst="roundRect">
            <a:avLst>
              <a:gd name="adj" fmla="val 6000"/>
            </a:avLst>
          </a:prstGeom>
          <a:solidFill>
            <a:srgbClr val="DD9900"/>
          </a:solidFill>
          <a:ln w="12700">
            <a:solidFill>
              <a:srgbClr val="FFFFFF">
                <a:alpha val="30000"/>
              </a:srgbClr>
            </a:solidFill>
            <a:prstDash val="solid"/>
          </a:ln>
        </p:spPr>
        <p:txBody>
          <a:bodyPr/>
          <a:lstStyle/>
          <a:p>
            <a:endParaRPr lang="en-US"/>
          </a:p>
        </p:txBody>
      </p:sp>
      <p:sp>
        <p:nvSpPr>
          <p:cNvPr id="15" name="Shape 13"/>
          <p:cNvSpPr/>
          <p:nvPr/>
        </p:nvSpPr>
        <p:spPr>
          <a:xfrm>
            <a:off x="2414016" y="1691640"/>
            <a:ext cx="868680" cy="457200"/>
          </a:xfrm>
          <a:prstGeom prst="roundRect">
            <a:avLst>
              <a:gd name="adj" fmla="val 6000"/>
            </a:avLst>
          </a:prstGeom>
          <a:solidFill>
            <a:srgbClr val="AA1177"/>
          </a:solidFill>
          <a:ln w="12700">
            <a:solidFill>
              <a:srgbClr val="FFFFFF">
                <a:alpha val="30000"/>
              </a:srgbClr>
            </a:solidFill>
            <a:prstDash val="solid"/>
          </a:ln>
        </p:spPr>
        <p:txBody>
          <a:bodyPr/>
          <a:lstStyle/>
          <a:p>
            <a:endParaRPr lang="en-US"/>
          </a:p>
        </p:txBody>
      </p:sp>
      <p:sp>
        <p:nvSpPr>
          <p:cNvPr id="16" name="Shape 14"/>
          <p:cNvSpPr/>
          <p:nvPr/>
        </p:nvSpPr>
        <p:spPr>
          <a:xfrm>
            <a:off x="3493008" y="1691640"/>
            <a:ext cx="868680" cy="457200"/>
          </a:xfrm>
          <a:prstGeom prst="roundRect">
            <a:avLst>
              <a:gd name="adj" fmla="val 6000"/>
            </a:avLst>
          </a:prstGeom>
          <a:solidFill>
            <a:srgbClr val="006699"/>
          </a:solidFill>
          <a:ln w="12700">
            <a:solidFill>
              <a:srgbClr val="FFFFFF">
                <a:alpha val="30000"/>
              </a:srgbClr>
            </a:solidFill>
            <a:prstDash val="solid"/>
          </a:ln>
        </p:spPr>
        <p:txBody>
          <a:bodyPr/>
          <a:lstStyle/>
          <a:p>
            <a:endParaRPr lang="en-US"/>
          </a:p>
        </p:txBody>
      </p:sp>
      <p:sp>
        <p:nvSpPr>
          <p:cNvPr id="17" name="Shape 15"/>
          <p:cNvSpPr/>
          <p:nvPr/>
        </p:nvSpPr>
        <p:spPr>
          <a:xfrm>
            <a:off x="4572000" y="1691640"/>
            <a:ext cx="868680" cy="457200"/>
          </a:xfrm>
          <a:prstGeom prst="roundRect">
            <a:avLst>
              <a:gd name="adj" fmla="val 6000"/>
            </a:avLst>
          </a:prstGeom>
          <a:solidFill>
            <a:srgbClr val="5500BB"/>
          </a:solidFill>
          <a:ln w="12700">
            <a:solidFill>
              <a:srgbClr val="FFFFFF">
                <a:alpha val="30000"/>
              </a:srgbClr>
            </a:solidFill>
            <a:prstDash val="solid"/>
          </a:ln>
        </p:spPr>
        <p:txBody>
          <a:bodyPr/>
          <a:lstStyle/>
          <a:p>
            <a:endParaRPr lang="en-US"/>
          </a:p>
        </p:txBody>
      </p:sp>
      <p:sp>
        <p:nvSpPr>
          <p:cNvPr id="18" name="Shape 16"/>
          <p:cNvSpPr/>
          <p:nvPr/>
        </p:nvSpPr>
        <p:spPr>
          <a:xfrm>
            <a:off x="5650992" y="1691640"/>
            <a:ext cx="868680" cy="457200"/>
          </a:xfrm>
          <a:prstGeom prst="roundRect">
            <a:avLst>
              <a:gd name="adj" fmla="val 6000"/>
            </a:avLst>
          </a:prstGeom>
          <a:solidFill>
            <a:srgbClr val="1E6B1E"/>
          </a:solidFill>
          <a:ln w="12700">
            <a:solidFill>
              <a:srgbClr val="FFFFFF">
                <a:alpha val="30000"/>
              </a:srgbClr>
            </a:solidFill>
            <a:prstDash val="solid"/>
          </a:ln>
        </p:spPr>
        <p:txBody>
          <a:bodyPr/>
          <a:lstStyle/>
          <a:p>
            <a:endParaRPr lang="en-US"/>
          </a:p>
        </p:txBody>
      </p:sp>
      <p:sp>
        <p:nvSpPr>
          <p:cNvPr id="19" name="Shape 17"/>
          <p:cNvSpPr/>
          <p:nvPr/>
        </p:nvSpPr>
        <p:spPr>
          <a:xfrm>
            <a:off x="6729984" y="1691640"/>
            <a:ext cx="868680" cy="457200"/>
          </a:xfrm>
          <a:prstGeom prst="roundRect">
            <a:avLst>
              <a:gd name="adj" fmla="val 6000"/>
            </a:avLst>
          </a:prstGeom>
          <a:solidFill>
            <a:srgbClr val="CC4400"/>
          </a:solidFill>
          <a:ln w="12700">
            <a:solidFill>
              <a:srgbClr val="FFFFFF">
                <a:alpha val="30000"/>
              </a:srgbClr>
            </a:solidFill>
            <a:prstDash val="solid"/>
          </a:ln>
        </p:spPr>
        <p:txBody>
          <a:bodyPr/>
          <a:lstStyle/>
          <a:p>
            <a:endParaRPr lang="en-US"/>
          </a:p>
        </p:txBody>
      </p:sp>
      <p:sp>
        <p:nvSpPr>
          <p:cNvPr id="20" name="Shape 18"/>
          <p:cNvSpPr/>
          <p:nvPr/>
        </p:nvSpPr>
        <p:spPr>
          <a:xfrm>
            <a:off x="7808976" y="1691640"/>
            <a:ext cx="868680" cy="457200"/>
          </a:xfrm>
          <a:prstGeom prst="roundRect">
            <a:avLst>
              <a:gd name="adj" fmla="val 6000"/>
            </a:avLst>
          </a:prstGeom>
          <a:solidFill>
            <a:srgbClr val="DD9900"/>
          </a:solidFill>
          <a:ln w="12700">
            <a:solidFill>
              <a:srgbClr val="FFFFFF">
                <a:alpha val="30000"/>
              </a:srgbClr>
            </a:solidFill>
            <a:prstDash val="solid"/>
          </a:ln>
        </p:spPr>
        <p:txBody>
          <a:bodyPr/>
          <a:lstStyle/>
          <a:p>
            <a:endParaRPr lang="en-US"/>
          </a:p>
        </p:txBody>
      </p:sp>
      <p:sp>
        <p:nvSpPr>
          <p:cNvPr id="21" name="Shape 19"/>
          <p:cNvSpPr/>
          <p:nvPr/>
        </p:nvSpPr>
        <p:spPr>
          <a:xfrm>
            <a:off x="182880" y="2286000"/>
            <a:ext cx="8778240" cy="73152"/>
          </a:xfrm>
          <a:prstGeom prst="rect">
            <a:avLst/>
          </a:prstGeom>
          <a:solidFill>
            <a:srgbClr val="3A5068"/>
          </a:solidFill>
          <a:ln w="12700">
            <a:solidFill>
              <a:srgbClr val="3A5068"/>
            </a:solidFill>
            <a:prstDash val="solid"/>
          </a:ln>
        </p:spPr>
        <p:txBody>
          <a:bodyPr/>
          <a:lstStyle/>
          <a:p>
            <a:endParaRPr lang="en-US"/>
          </a:p>
        </p:txBody>
      </p:sp>
      <p:sp>
        <p:nvSpPr>
          <p:cNvPr id="22" name="Shape 20"/>
          <p:cNvSpPr/>
          <p:nvPr/>
        </p:nvSpPr>
        <p:spPr>
          <a:xfrm>
            <a:off x="256032" y="2377440"/>
            <a:ext cx="868680" cy="457200"/>
          </a:xfrm>
          <a:prstGeom prst="roundRect">
            <a:avLst>
              <a:gd name="adj" fmla="val 6000"/>
            </a:avLst>
          </a:prstGeom>
          <a:solidFill>
            <a:srgbClr val="CC4400"/>
          </a:solidFill>
          <a:ln w="12700">
            <a:solidFill>
              <a:srgbClr val="FFFFFF">
                <a:alpha val="30000"/>
              </a:srgbClr>
            </a:solidFill>
            <a:prstDash val="solid"/>
          </a:ln>
        </p:spPr>
        <p:txBody>
          <a:bodyPr/>
          <a:lstStyle/>
          <a:p>
            <a:endParaRPr lang="en-US"/>
          </a:p>
        </p:txBody>
      </p:sp>
      <p:sp>
        <p:nvSpPr>
          <p:cNvPr id="23" name="Shape 21"/>
          <p:cNvSpPr/>
          <p:nvPr/>
        </p:nvSpPr>
        <p:spPr>
          <a:xfrm>
            <a:off x="1335024" y="2377440"/>
            <a:ext cx="868680" cy="457200"/>
          </a:xfrm>
          <a:prstGeom prst="roundRect">
            <a:avLst>
              <a:gd name="adj" fmla="val 6000"/>
            </a:avLst>
          </a:prstGeom>
          <a:solidFill>
            <a:srgbClr val="DD9900"/>
          </a:solidFill>
          <a:ln w="12700">
            <a:solidFill>
              <a:srgbClr val="FFFFFF">
                <a:alpha val="30000"/>
              </a:srgbClr>
            </a:solidFill>
            <a:prstDash val="solid"/>
          </a:ln>
        </p:spPr>
        <p:txBody>
          <a:bodyPr/>
          <a:lstStyle/>
          <a:p>
            <a:endParaRPr lang="en-US"/>
          </a:p>
        </p:txBody>
      </p:sp>
      <p:sp>
        <p:nvSpPr>
          <p:cNvPr id="24" name="Shape 22"/>
          <p:cNvSpPr/>
          <p:nvPr/>
        </p:nvSpPr>
        <p:spPr>
          <a:xfrm>
            <a:off x="2414016" y="2377440"/>
            <a:ext cx="868680" cy="457200"/>
          </a:xfrm>
          <a:prstGeom prst="roundRect">
            <a:avLst>
              <a:gd name="adj" fmla="val 6000"/>
            </a:avLst>
          </a:prstGeom>
          <a:solidFill>
            <a:srgbClr val="AA1177"/>
          </a:solidFill>
          <a:ln w="12700">
            <a:solidFill>
              <a:srgbClr val="FFFFFF">
                <a:alpha val="30000"/>
              </a:srgbClr>
            </a:solidFill>
            <a:prstDash val="solid"/>
          </a:ln>
        </p:spPr>
        <p:txBody>
          <a:bodyPr/>
          <a:lstStyle/>
          <a:p>
            <a:endParaRPr lang="en-US"/>
          </a:p>
        </p:txBody>
      </p:sp>
      <p:sp>
        <p:nvSpPr>
          <p:cNvPr id="25" name="Shape 23"/>
          <p:cNvSpPr/>
          <p:nvPr/>
        </p:nvSpPr>
        <p:spPr>
          <a:xfrm>
            <a:off x="3493008" y="2377440"/>
            <a:ext cx="868680" cy="457200"/>
          </a:xfrm>
          <a:prstGeom prst="roundRect">
            <a:avLst>
              <a:gd name="adj" fmla="val 6000"/>
            </a:avLst>
          </a:prstGeom>
          <a:solidFill>
            <a:srgbClr val="006699"/>
          </a:solidFill>
          <a:ln w="12700">
            <a:solidFill>
              <a:srgbClr val="FFFFFF">
                <a:alpha val="30000"/>
              </a:srgbClr>
            </a:solidFill>
            <a:prstDash val="solid"/>
          </a:ln>
        </p:spPr>
        <p:txBody>
          <a:bodyPr/>
          <a:lstStyle/>
          <a:p>
            <a:endParaRPr lang="en-US"/>
          </a:p>
        </p:txBody>
      </p:sp>
      <p:sp>
        <p:nvSpPr>
          <p:cNvPr id="26" name="Shape 24"/>
          <p:cNvSpPr/>
          <p:nvPr/>
        </p:nvSpPr>
        <p:spPr>
          <a:xfrm>
            <a:off x="4572000" y="2377440"/>
            <a:ext cx="868680" cy="457200"/>
          </a:xfrm>
          <a:prstGeom prst="roundRect">
            <a:avLst>
              <a:gd name="adj" fmla="val 6000"/>
            </a:avLst>
          </a:prstGeom>
          <a:solidFill>
            <a:srgbClr val="5500BB"/>
          </a:solidFill>
          <a:ln w="12700">
            <a:solidFill>
              <a:srgbClr val="FFFFFF">
                <a:alpha val="30000"/>
              </a:srgbClr>
            </a:solidFill>
            <a:prstDash val="solid"/>
          </a:ln>
        </p:spPr>
        <p:txBody>
          <a:bodyPr/>
          <a:lstStyle/>
          <a:p>
            <a:endParaRPr lang="en-US"/>
          </a:p>
        </p:txBody>
      </p:sp>
      <p:sp>
        <p:nvSpPr>
          <p:cNvPr id="27" name="Shape 25"/>
          <p:cNvSpPr/>
          <p:nvPr/>
        </p:nvSpPr>
        <p:spPr>
          <a:xfrm>
            <a:off x="5650992" y="2377440"/>
            <a:ext cx="868680" cy="457200"/>
          </a:xfrm>
          <a:prstGeom prst="roundRect">
            <a:avLst>
              <a:gd name="adj" fmla="val 6000"/>
            </a:avLst>
          </a:prstGeom>
          <a:solidFill>
            <a:srgbClr val="1E6B1E"/>
          </a:solidFill>
          <a:ln w="12700">
            <a:solidFill>
              <a:srgbClr val="FFFFFF">
                <a:alpha val="30000"/>
              </a:srgbClr>
            </a:solidFill>
            <a:prstDash val="solid"/>
          </a:ln>
        </p:spPr>
        <p:txBody>
          <a:bodyPr/>
          <a:lstStyle/>
          <a:p>
            <a:endParaRPr lang="en-US"/>
          </a:p>
        </p:txBody>
      </p:sp>
      <p:sp>
        <p:nvSpPr>
          <p:cNvPr id="28" name="Shape 26"/>
          <p:cNvSpPr/>
          <p:nvPr/>
        </p:nvSpPr>
        <p:spPr>
          <a:xfrm>
            <a:off x="6729984" y="2377440"/>
            <a:ext cx="868680" cy="457200"/>
          </a:xfrm>
          <a:prstGeom prst="roundRect">
            <a:avLst>
              <a:gd name="adj" fmla="val 6000"/>
            </a:avLst>
          </a:prstGeom>
          <a:solidFill>
            <a:srgbClr val="CC4400"/>
          </a:solidFill>
          <a:ln w="12700">
            <a:solidFill>
              <a:srgbClr val="FFFFFF">
                <a:alpha val="30000"/>
              </a:srgbClr>
            </a:solidFill>
            <a:prstDash val="solid"/>
          </a:ln>
        </p:spPr>
        <p:txBody>
          <a:bodyPr/>
          <a:lstStyle/>
          <a:p>
            <a:endParaRPr lang="en-US"/>
          </a:p>
        </p:txBody>
      </p:sp>
      <p:sp>
        <p:nvSpPr>
          <p:cNvPr id="29" name="Shape 27"/>
          <p:cNvSpPr/>
          <p:nvPr/>
        </p:nvSpPr>
        <p:spPr>
          <a:xfrm>
            <a:off x="7808976" y="2377440"/>
            <a:ext cx="868680" cy="457200"/>
          </a:xfrm>
          <a:prstGeom prst="roundRect">
            <a:avLst>
              <a:gd name="adj" fmla="val 6000"/>
            </a:avLst>
          </a:prstGeom>
          <a:solidFill>
            <a:srgbClr val="DD9900"/>
          </a:solidFill>
          <a:ln w="12700">
            <a:solidFill>
              <a:srgbClr val="FFFFFF">
                <a:alpha val="30000"/>
              </a:srgbClr>
            </a:solidFill>
            <a:prstDash val="solid"/>
          </a:ln>
        </p:spPr>
        <p:txBody>
          <a:bodyPr/>
          <a:lstStyle/>
          <a:p>
            <a:endParaRPr lang="en-US"/>
          </a:p>
        </p:txBody>
      </p:sp>
      <p:sp>
        <p:nvSpPr>
          <p:cNvPr id="30" name="Shape 28"/>
          <p:cNvSpPr/>
          <p:nvPr/>
        </p:nvSpPr>
        <p:spPr>
          <a:xfrm>
            <a:off x="182880" y="2971800"/>
            <a:ext cx="8778240" cy="73152"/>
          </a:xfrm>
          <a:prstGeom prst="rect">
            <a:avLst/>
          </a:prstGeom>
          <a:solidFill>
            <a:srgbClr val="3A5068"/>
          </a:solidFill>
          <a:ln w="12700">
            <a:solidFill>
              <a:srgbClr val="3A5068"/>
            </a:solidFill>
            <a:prstDash val="solid"/>
          </a:ln>
        </p:spPr>
        <p:txBody>
          <a:bodyPr/>
          <a:lstStyle/>
          <a:p>
            <a:endParaRPr lang="en-US"/>
          </a:p>
        </p:txBody>
      </p:sp>
      <p:sp>
        <p:nvSpPr>
          <p:cNvPr id="31" name="Shape 29"/>
          <p:cNvSpPr/>
          <p:nvPr/>
        </p:nvSpPr>
        <p:spPr>
          <a:xfrm>
            <a:off x="256032" y="3063240"/>
            <a:ext cx="868680" cy="457200"/>
          </a:xfrm>
          <a:prstGeom prst="roundRect">
            <a:avLst>
              <a:gd name="adj" fmla="val 6000"/>
            </a:avLst>
          </a:prstGeom>
          <a:solidFill>
            <a:srgbClr val="CC4400"/>
          </a:solidFill>
          <a:ln w="12700">
            <a:solidFill>
              <a:srgbClr val="FFFFFF">
                <a:alpha val="30000"/>
              </a:srgbClr>
            </a:solidFill>
            <a:prstDash val="solid"/>
          </a:ln>
        </p:spPr>
        <p:txBody>
          <a:bodyPr/>
          <a:lstStyle/>
          <a:p>
            <a:endParaRPr lang="en-US"/>
          </a:p>
        </p:txBody>
      </p:sp>
      <p:sp>
        <p:nvSpPr>
          <p:cNvPr id="32" name="Shape 30"/>
          <p:cNvSpPr/>
          <p:nvPr/>
        </p:nvSpPr>
        <p:spPr>
          <a:xfrm>
            <a:off x="1335024" y="3063240"/>
            <a:ext cx="868680" cy="457200"/>
          </a:xfrm>
          <a:prstGeom prst="roundRect">
            <a:avLst>
              <a:gd name="adj" fmla="val 6000"/>
            </a:avLst>
          </a:prstGeom>
          <a:solidFill>
            <a:srgbClr val="DD9900"/>
          </a:solidFill>
          <a:ln w="12700">
            <a:solidFill>
              <a:srgbClr val="FFFFFF">
                <a:alpha val="30000"/>
              </a:srgbClr>
            </a:solidFill>
            <a:prstDash val="solid"/>
          </a:ln>
        </p:spPr>
        <p:txBody>
          <a:bodyPr/>
          <a:lstStyle/>
          <a:p>
            <a:endParaRPr lang="en-US"/>
          </a:p>
        </p:txBody>
      </p:sp>
      <p:sp>
        <p:nvSpPr>
          <p:cNvPr id="33" name="Shape 31"/>
          <p:cNvSpPr/>
          <p:nvPr/>
        </p:nvSpPr>
        <p:spPr>
          <a:xfrm>
            <a:off x="2414016" y="3063240"/>
            <a:ext cx="868680" cy="457200"/>
          </a:xfrm>
          <a:prstGeom prst="roundRect">
            <a:avLst>
              <a:gd name="adj" fmla="val 6000"/>
            </a:avLst>
          </a:prstGeom>
          <a:solidFill>
            <a:srgbClr val="AA1177"/>
          </a:solidFill>
          <a:ln w="12700">
            <a:solidFill>
              <a:srgbClr val="FFFFFF">
                <a:alpha val="30000"/>
              </a:srgbClr>
            </a:solidFill>
            <a:prstDash val="solid"/>
          </a:ln>
        </p:spPr>
        <p:txBody>
          <a:bodyPr/>
          <a:lstStyle/>
          <a:p>
            <a:endParaRPr lang="en-US"/>
          </a:p>
        </p:txBody>
      </p:sp>
      <p:sp>
        <p:nvSpPr>
          <p:cNvPr id="34" name="Shape 32"/>
          <p:cNvSpPr/>
          <p:nvPr/>
        </p:nvSpPr>
        <p:spPr>
          <a:xfrm>
            <a:off x="3493008" y="3063240"/>
            <a:ext cx="868680" cy="457200"/>
          </a:xfrm>
          <a:prstGeom prst="roundRect">
            <a:avLst>
              <a:gd name="adj" fmla="val 6000"/>
            </a:avLst>
          </a:prstGeom>
          <a:solidFill>
            <a:srgbClr val="006699"/>
          </a:solidFill>
          <a:ln w="12700">
            <a:solidFill>
              <a:srgbClr val="FFFFFF">
                <a:alpha val="30000"/>
              </a:srgbClr>
            </a:solidFill>
            <a:prstDash val="solid"/>
          </a:ln>
        </p:spPr>
        <p:txBody>
          <a:bodyPr/>
          <a:lstStyle/>
          <a:p>
            <a:endParaRPr lang="en-US"/>
          </a:p>
        </p:txBody>
      </p:sp>
      <p:sp>
        <p:nvSpPr>
          <p:cNvPr id="35" name="Shape 33"/>
          <p:cNvSpPr/>
          <p:nvPr/>
        </p:nvSpPr>
        <p:spPr>
          <a:xfrm>
            <a:off x="4572000" y="3063240"/>
            <a:ext cx="868680" cy="457200"/>
          </a:xfrm>
          <a:prstGeom prst="roundRect">
            <a:avLst>
              <a:gd name="adj" fmla="val 6000"/>
            </a:avLst>
          </a:prstGeom>
          <a:solidFill>
            <a:srgbClr val="5500BB"/>
          </a:solidFill>
          <a:ln w="12700">
            <a:solidFill>
              <a:srgbClr val="FFFFFF">
                <a:alpha val="30000"/>
              </a:srgbClr>
            </a:solidFill>
            <a:prstDash val="solid"/>
          </a:ln>
        </p:spPr>
        <p:txBody>
          <a:bodyPr/>
          <a:lstStyle/>
          <a:p>
            <a:endParaRPr lang="en-US"/>
          </a:p>
        </p:txBody>
      </p:sp>
      <p:sp>
        <p:nvSpPr>
          <p:cNvPr id="36" name="Shape 34"/>
          <p:cNvSpPr/>
          <p:nvPr/>
        </p:nvSpPr>
        <p:spPr>
          <a:xfrm>
            <a:off x="5650992" y="3063240"/>
            <a:ext cx="868680" cy="457200"/>
          </a:xfrm>
          <a:prstGeom prst="roundRect">
            <a:avLst>
              <a:gd name="adj" fmla="val 6000"/>
            </a:avLst>
          </a:prstGeom>
          <a:solidFill>
            <a:srgbClr val="1E6B1E"/>
          </a:solidFill>
          <a:ln w="12700">
            <a:solidFill>
              <a:srgbClr val="FFFFFF">
                <a:alpha val="30000"/>
              </a:srgbClr>
            </a:solidFill>
            <a:prstDash val="solid"/>
          </a:ln>
        </p:spPr>
        <p:txBody>
          <a:bodyPr/>
          <a:lstStyle/>
          <a:p>
            <a:endParaRPr lang="en-US"/>
          </a:p>
        </p:txBody>
      </p:sp>
      <p:sp>
        <p:nvSpPr>
          <p:cNvPr id="37" name="Shape 35"/>
          <p:cNvSpPr/>
          <p:nvPr/>
        </p:nvSpPr>
        <p:spPr>
          <a:xfrm>
            <a:off x="6729984" y="3063240"/>
            <a:ext cx="868680" cy="457200"/>
          </a:xfrm>
          <a:prstGeom prst="roundRect">
            <a:avLst>
              <a:gd name="adj" fmla="val 6000"/>
            </a:avLst>
          </a:prstGeom>
          <a:solidFill>
            <a:srgbClr val="CC4400"/>
          </a:solidFill>
          <a:ln w="12700">
            <a:solidFill>
              <a:srgbClr val="FFFFFF">
                <a:alpha val="30000"/>
              </a:srgbClr>
            </a:solidFill>
            <a:prstDash val="solid"/>
          </a:ln>
        </p:spPr>
        <p:txBody>
          <a:bodyPr/>
          <a:lstStyle/>
          <a:p>
            <a:endParaRPr lang="en-US"/>
          </a:p>
        </p:txBody>
      </p:sp>
      <p:sp>
        <p:nvSpPr>
          <p:cNvPr id="38" name="Shape 36"/>
          <p:cNvSpPr/>
          <p:nvPr/>
        </p:nvSpPr>
        <p:spPr>
          <a:xfrm>
            <a:off x="7808976" y="3063240"/>
            <a:ext cx="868680" cy="457200"/>
          </a:xfrm>
          <a:prstGeom prst="roundRect">
            <a:avLst>
              <a:gd name="adj" fmla="val 6000"/>
            </a:avLst>
          </a:prstGeom>
          <a:solidFill>
            <a:srgbClr val="DD9900"/>
          </a:solidFill>
          <a:ln w="12700">
            <a:solidFill>
              <a:srgbClr val="FFFFFF">
                <a:alpha val="30000"/>
              </a:srgbClr>
            </a:solidFill>
            <a:prstDash val="solid"/>
          </a:ln>
        </p:spPr>
        <p:txBody>
          <a:bodyPr/>
          <a:lstStyle/>
          <a:p>
            <a:endParaRPr lang="en-US"/>
          </a:p>
        </p:txBody>
      </p:sp>
      <p:sp>
        <p:nvSpPr>
          <p:cNvPr id="39" name="Shape 37"/>
          <p:cNvSpPr/>
          <p:nvPr/>
        </p:nvSpPr>
        <p:spPr>
          <a:xfrm>
            <a:off x="182880" y="3657600"/>
            <a:ext cx="8778240" cy="73152"/>
          </a:xfrm>
          <a:prstGeom prst="rect">
            <a:avLst/>
          </a:prstGeom>
          <a:solidFill>
            <a:srgbClr val="3A5068"/>
          </a:solidFill>
          <a:ln w="12700">
            <a:solidFill>
              <a:srgbClr val="3A5068"/>
            </a:solidFill>
            <a:prstDash val="solid"/>
          </a:ln>
        </p:spPr>
        <p:txBody>
          <a:bodyPr/>
          <a:lstStyle/>
          <a:p>
            <a:endParaRPr lang="en-US"/>
          </a:p>
        </p:txBody>
      </p:sp>
      <p:sp>
        <p:nvSpPr>
          <p:cNvPr id="40" name="Shape 38"/>
          <p:cNvSpPr/>
          <p:nvPr/>
        </p:nvSpPr>
        <p:spPr>
          <a:xfrm>
            <a:off x="256032" y="3749040"/>
            <a:ext cx="868680" cy="457200"/>
          </a:xfrm>
          <a:prstGeom prst="roundRect">
            <a:avLst>
              <a:gd name="adj" fmla="val 6000"/>
            </a:avLst>
          </a:prstGeom>
          <a:solidFill>
            <a:srgbClr val="CC4400"/>
          </a:solidFill>
          <a:ln w="12700">
            <a:solidFill>
              <a:srgbClr val="FFFFFF">
                <a:alpha val="30000"/>
              </a:srgbClr>
            </a:solidFill>
            <a:prstDash val="solid"/>
          </a:ln>
        </p:spPr>
        <p:txBody>
          <a:bodyPr/>
          <a:lstStyle/>
          <a:p>
            <a:endParaRPr lang="en-US"/>
          </a:p>
        </p:txBody>
      </p:sp>
      <p:sp>
        <p:nvSpPr>
          <p:cNvPr id="41" name="Shape 39"/>
          <p:cNvSpPr/>
          <p:nvPr/>
        </p:nvSpPr>
        <p:spPr>
          <a:xfrm>
            <a:off x="1335024" y="3749040"/>
            <a:ext cx="868680" cy="457200"/>
          </a:xfrm>
          <a:prstGeom prst="roundRect">
            <a:avLst>
              <a:gd name="adj" fmla="val 6000"/>
            </a:avLst>
          </a:prstGeom>
          <a:solidFill>
            <a:srgbClr val="DD9900"/>
          </a:solidFill>
          <a:ln w="12700">
            <a:solidFill>
              <a:srgbClr val="FFFFFF">
                <a:alpha val="30000"/>
              </a:srgbClr>
            </a:solidFill>
            <a:prstDash val="solid"/>
          </a:ln>
        </p:spPr>
        <p:txBody>
          <a:bodyPr/>
          <a:lstStyle/>
          <a:p>
            <a:endParaRPr lang="en-US"/>
          </a:p>
        </p:txBody>
      </p:sp>
      <p:sp>
        <p:nvSpPr>
          <p:cNvPr id="42" name="Shape 40"/>
          <p:cNvSpPr/>
          <p:nvPr/>
        </p:nvSpPr>
        <p:spPr>
          <a:xfrm>
            <a:off x="2414016" y="3749040"/>
            <a:ext cx="868680" cy="457200"/>
          </a:xfrm>
          <a:prstGeom prst="roundRect">
            <a:avLst>
              <a:gd name="adj" fmla="val 6000"/>
            </a:avLst>
          </a:prstGeom>
          <a:solidFill>
            <a:srgbClr val="AA1177"/>
          </a:solidFill>
          <a:ln w="12700">
            <a:solidFill>
              <a:srgbClr val="FFFFFF">
                <a:alpha val="30000"/>
              </a:srgbClr>
            </a:solidFill>
            <a:prstDash val="solid"/>
          </a:ln>
        </p:spPr>
        <p:txBody>
          <a:bodyPr/>
          <a:lstStyle/>
          <a:p>
            <a:endParaRPr lang="en-US"/>
          </a:p>
        </p:txBody>
      </p:sp>
      <p:sp>
        <p:nvSpPr>
          <p:cNvPr id="43" name="Shape 41"/>
          <p:cNvSpPr/>
          <p:nvPr/>
        </p:nvSpPr>
        <p:spPr>
          <a:xfrm>
            <a:off x="3493008" y="3749040"/>
            <a:ext cx="868680" cy="457200"/>
          </a:xfrm>
          <a:prstGeom prst="roundRect">
            <a:avLst>
              <a:gd name="adj" fmla="val 6000"/>
            </a:avLst>
          </a:prstGeom>
          <a:solidFill>
            <a:srgbClr val="006699"/>
          </a:solidFill>
          <a:ln w="12700">
            <a:solidFill>
              <a:srgbClr val="FFFFFF">
                <a:alpha val="30000"/>
              </a:srgbClr>
            </a:solidFill>
            <a:prstDash val="solid"/>
          </a:ln>
        </p:spPr>
        <p:txBody>
          <a:bodyPr/>
          <a:lstStyle/>
          <a:p>
            <a:endParaRPr lang="en-US"/>
          </a:p>
        </p:txBody>
      </p:sp>
      <p:sp>
        <p:nvSpPr>
          <p:cNvPr id="44" name="Shape 42"/>
          <p:cNvSpPr/>
          <p:nvPr/>
        </p:nvSpPr>
        <p:spPr>
          <a:xfrm>
            <a:off x="4572000" y="3749040"/>
            <a:ext cx="868680" cy="457200"/>
          </a:xfrm>
          <a:prstGeom prst="roundRect">
            <a:avLst>
              <a:gd name="adj" fmla="val 6000"/>
            </a:avLst>
          </a:prstGeom>
          <a:solidFill>
            <a:srgbClr val="5500BB"/>
          </a:solidFill>
          <a:ln w="12700">
            <a:solidFill>
              <a:srgbClr val="FFFFFF">
                <a:alpha val="30000"/>
              </a:srgbClr>
            </a:solidFill>
            <a:prstDash val="solid"/>
          </a:ln>
        </p:spPr>
        <p:txBody>
          <a:bodyPr/>
          <a:lstStyle/>
          <a:p>
            <a:endParaRPr lang="en-US"/>
          </a:p>
        </p:txBody>
      </p:sp>
      <p:sp>
        <p:nvSpPr>
          <p:cNvPr id="45" name="Shape 43"/>
          <p:cNvSpPr/>
          <p:nvPr/>
        </p:nvSpPr>
        <p:spPr>
          <a:xfrm>
            <a:off x="5650992" y="3749040"/>
            <a:ext cx="868680" cy="457200"/>
          </a:xfrm>
          <a:prstGeom prst="roundRect">
            <a:avLst>
              <a:gd name="adj" fmla="val 6000"/>
            </a:avLst>
          </a:prstGeom>
          <a:solidFill>
            <a:srgbClr val="1E6B1E"/>
          </a:solidFill>
          <a:ln w="12700">
            <a:solidFill>
              <a:srgbClr val="FFFFFF">
                <a:alpha val="30000"/>
              </a:srgbClr>
            </a:solidFill>
            <a:prstDash val="solid"/>
          </a:ln>
        </p:spPr>
        <p:txBody>
          <a:bodyPr/>
          <a:lstStyle/>
          <a:p>
            <a:endParaRPr lang="en-US"/>
          </a:p>
        </p:txBody>
      </p:sp>
      <p:sp>
        <p:nvSpPr>
          <p:cNvPr id="46" name="Shape 44"/>
          <p:cNvSpPr/>
          <p:nvPr/>
        </p:nvSpPr>
        <p:spPr>
          <a:xfrm>
            <a:off x="6729984" y="3749040"/>
            <a:ext cx="868680" cy="457200"/>
          </a:xfrm>
          <a:prstGeom prst="roundRect">
            <a:avLst>
              <a:gd name="adj" fmla="val 6000"/>
            </a:avLst>
          </a:prstGeom>
          <a:solidFill>
            <a:srgbClr val="CC4400"/>
          </a:solidFill>
          <a:ln w="12700">
            <a:solidFill>
              <a:srgbClr val="FFFFFF">
                <a:alpha val="30000"/>
              </a:srgbClr>
            </a:solidFill>
            <a:prstDash val="solid"/>
          </a:ln>
        </p:spPr>
        <p:txBody>
          <a:bodyPr/>
          <a:lstStyle/>
          <a:p>
            <a:endParaRPr lang="en-US"/>
          </a:p>
        </p:txBody>
      </p:sp>
      <p:sp>
        <p:nvSpPr>
          <p:cNvPr id="47" name="Shape 45"/>
          <p:cNvSpPr/>
          <p:nvPr/>
        </p:nvSpPr>
        <p:spPr>
          <a:xfrm>
            <a:off x="7808976" y="3749040"/>
            <a:ext cx="868680" cy="457200"/>
          </a:xfrm>
          <a:prstGeom prst="roundRect">
            <a:avLst>
              <a:gd name="adj" fmla="val 6000"/>
            </a:avLst>
          </a:prstGeom>
          <a:solidFill>
            <a:srgbClr val="DD9900"/>
          </a:solidFill>
          <a:ln w="12700">
            <a:solidFill>
              <a:srgbClr val="FFFFFF">
                <a:alpha val="30000"/>
              </a:srgbClr>
            </a:solidFill>
            <a:prstDash val="solid"/>
          </a:ln>
        </p:spPr>
        <p:txBody>
          <a:bodyPr/>
          <a:lstStyle/>
          <a:p>
            <a:endParaRPr lang="en-US"/>
          </a:p>
        </p:txBody>
      </p:sp>
      <p:sp>
        <p:nvSpPr>
          <p:cNvPr id="48" name="Shape 46"/>
          <p:cNvSpPr/>
          <p:nvPr/>
        </p:nvSpPr>
        <p:spPr>
          <a:xfrm>
            <a:off x="182880" y="685800"/>
            <a:ext cx="54864" cy="4453128"/>
          </a:xfrm>
          <a:prstGeom prst="rect">
            <a:avLst/>
          </a:prstGeom>
          <a:solidFill>
            <a:srgbClr val="3A5068"/>
          </a:solidFill>
          <a:ln w="12700">
            <a:solidFill>
              <a:srgbClr val="3A5068"/>
            </a:solidFill>
            <a:prstDash val="solid"/>
          </a:ln>
        </p:spPr>
        <p:txBody>
          <a:bodyPr/>
          <a:lstStyle/>
          <a:p>
            <a:endParaRPr lang="en-US"/>
          </a:p>
        </p:txBody>
      </p:sp>
      <p:sp>
        <p:nvSpPr>
          <p:cNvPr id="49" name="Shape 47"/>
          <p:cNvSpPr/>
          <p:nvPr/>
        </p:nvSpPr>
        <p:spPr>
          <a:xfrm>
            <a:off x="2331720" y="685800"/>
            <a:ext cx="54864" cy="4453128"/>
          </a:xfrm>
          <a:prstGeom prst="rect">
            <a:avLst/>
          </a:prstGeom>
          <a:solidFill>
            <a:srgbClr val="3A5068"/>
          </a:solidFill>
          <a:ln w="12700">
            <a:solidFill>
              <a:srgbClr val="3A5068"/>
            </a:solidFill>
            <a:prstDash val="solid"/>
          </a:ln>
        </p:spPr>
        <p:txBody>
          <a:bodyPr/>
          <a:lstStyle/>
          <a:p>
            <a:endParaRPr lang="en-US"/>
          </a:p>
        </p:txBody>
      </p:sp>
      <p:sp>
        <p:nvSpPr>
          <p:cNvPr id="50" name="Shape 48"/>
          <p:cNvSpPr/>
          <p:nvPr/>
        </p:nvSpPr>
        <p:spPr>
          <a:xfrm>
            <a:off x="4480560" y="685800"/>
            <a:ext cx="54864" cy="4453128"/>
          </a:xfrm>
          <a:prstGeom prst="rect">
            <a:avLst/>
          </a:prstGeom>
          <a:solidFill>
            <a:srgbClr val="3A5068"/>
          </a:solidFill>
          <a:ln w="12700">
            <a:solidFill>
              <a:srgbClr val="3A5068"/>
            </a:solidFill>
            <a:prstDash val="solid"/>
          </a:ln>
        </p:spPr>
        <p:txBody>
          <a:bodyPr/>
          <a:lstStyle/>
          <a:p>
            <a:endParaRPr lang="en-US"/>
          </a:p>
        </p:txBody>
      </p:sp>
      <p:sp>
        <p:nvSpPr>
          <p:cNvPr id="51" name="Shape 49"/>
          <p:cNvSpPr/>
          <p:nvPr/>
        </p:nvSpPr>
        <p:spPr>
          <a:xfrm>
            <a:off x="6629400" y="685800"/>
            <a:ext cx="54864" cy="4453128"/>
          </a:xfrm>
          <a:prstGeom prst="rect">
            <a:avLst/>
          </a:prstGeom>
          <a:solidFill>
            <a:srgbClr val="3A5068"/>
          </a:solidFill>
          <a:ln w="12700">
            <a:solidFill>
              <a:srgbClr val="3A5068"/>
            </a:solidFill>
            <a:prstDash val="solid"/>
          </a:ln>
        </p:spPr>
        <p:txBody>
          <a:bodyPr/>
          <a:lstStyle/>
          <a:p>
            <a:endParaRPr lang="en-US"/>
          </a:p>
        </p:txBody>
      </p:sp>
      <p:sp>
        <p:nvSpPr>
          <p:cNvPr id="52" name="Shape 50"/>
          <p:cNvSpPr/>
          <p:nvPr/>
        </p:nvSpPr>
        <p:spPr>
          <a:xfrm>
            <a:off x="8778240" y="685800"/>
            <a:ext cx="54864" cy="4453128"/>
          </a:xfrm>
          <a:prstGeom prst="rect">
            <a:avLst/>
          </a:prstGeom>
          <a:solidFill>
            <a:srgbClr val="3A5068"/>
          </a:solidFill>
          <a:ln w="12700">
            <a:solidFill>
              <a:srgbClr val="3A5068"/>
            </a:solidFill>
            <a:prstDash val="solid"/>
          </a:ln>
        </p:spPr>
        <p:txBody>
          <a:bodyPr/>
          <a:lstStyle/>
          <a:p>
            <a:endParaRPr lang="en-US"/>
          </a:p>
        </p:txBody>
      </p:sp>
      <p:sp>
        <p:nvSpPr>
          <p:cNvPr id="53" name="Shape 51"/>
          <p:cNvSpPr/>
          <p:nvPr/>
        </p:nvSpPr>
        <p:spPr>
          <a:xfrm>
            <a:off x="0" y="4315968"/>
            <a:ext cx="9144000" cy="484632"/>
          </a:xfrm>
          <a:prstGeom prst="rect">
            <a:avLst/>
          </a:prstGeom>
          <a:solidFill>
            <a:srgbClr val="2E3F4F"/>
          </a:solidFill>
          <a:ln w="12700">
            <a:solidFill>
              <a:srgbClr val="445566"/>
            </a:solidFill>
            <a:prstDash val="solid"/>
          </a:ln>
        </p:spPr>
        <p:txBody>
          <a:bodyPr/>
          <a:lstStyle/>
          <a:p>
            <a:endParaRPr lang="en-US"/>
          </a:p>
        </p:txBody>
      </p:sp>
      <p:sp>
        <p:nvSpPr>
          <p:cNvPr id="54" name="Shape 52"/>
          <p:cNvSpPr/>
          <p:nvPr/>
        </p:nvSpPr>
        <p:spPr>
          <a:xfrm>
            <a:off x="0" y="0"/>
            <a:ext cx="9144000" cy="731520"/>
          </a:xfrm>
          <a:prstGeom prst="rect">
            <a:avLst/>
          </a:prstGeom>
          <a:solidFill>
            <a:srgbClr val="0D1829"/>
          </a:solidFill>
          <a:ln w="12700">
            <a:solidFill>
              <a:srgbClr val="0D1829"/>
            </a:solidFill>
            <a:prstDash val="solid"/>
          </a:ln>
        </p:spPr>
        <p:txBody>
          <a:bodyPr/>
          <a:lstStyle/>
          <a:p>
            <a:endParaRPr lang="en-US"/>
          </a:p>
        </p:txBody>
      </p:sp>
      <p:sp>
        <p:nvSpPr>
          <p:cNvPr id="55" name="Text 53"/>
          <p:cNvSpPr/>
          <p:nvPr/>
        </p:nvSpPr>
        <p:spPr>
          <a:xfrm>
            <a:off x="365760" y="54864"/>
            <a:ext cx="8412480" cy="603504"/>
          </a:xfrm>
          <a:prstGeom prst="rect">
            <a:avLst/>
          </a:prstGeom>
          <a:noFill/>
          <a:ln/>
        </p:spPr>
        <p:txBody>
          <a:bodyPr wrap="square" rtlCol="0" anchor="ctr"/>
          <a:lstStyle/>
          <a:p>
            <a:pPr marL="0" indent="0" algn="l">
              <a:buNone/>
            </a:pPr>
            <a:r>
              <a:rPr lang="en-US" sz="3600" b="1" dirty="0">
                <a:solidFill>
                  <a:srgbClr val="FFD600"/>
                </a:solidFill>
                <a:latin typeface="Calibri" pitchFamily="34" charset="0"/>
                <a:ea typeface="Calibri" pitchFamily="34" charset="-122"/>
                <a:cs typeface="Calibri" pitchFamily="34" charset="-120"/>
              </a:rPr>
              <a:t>Who Packed Your Amazon Order?</a:t>
            </a:r>
            <a:endParaRPr lang="en-US" sz="3600" dirty="0"/>
          </a:p>
        </p:txBody>
      </p:sp>
      <p:sp>
        <p:nvSpPr>
          <p:cNvPr id="56" name="Shape 54"/>
          <p:cNvSpPr/>
          <p:nvPr/>
        </p:nvSpPr>
        <p:spPr>
          <a:xfrm>
            <a:off x="274320" y="4069080"/>
            <a:ext cx="4114800" cy="896112"/>
          </a:xfrm>
          <a:prstGeom prst="roundRect">
            <a:avLst>
              <a:gd name="adj" fmla="val 12245"/>
            </a:avLst>
          </a:prstGeom>
          <a:solidFill>
            <a:srgbClr val="0D2A3E"/>
          </a:solidFill>
          <a:ln w="12700">
            <a:solidFill>
              <a:srgbClr val="0D2A3E"/>
            </a:solidFill>
            <a:prstDash val="solid"/>
          </a:ln>
          <a:effectLst>
            <a:outerShdw blurRad="101600" dist="38100" dir="2700000" algn="bl" rotWithShape="0">
              <a:srgbClr val="000000">
                <a:alpha val="18000"/>
              </a:srgbClr>
            </a:outerShdw>
          </a:effectLst>
        </p:spPr>
        <p:txBody>
          <a:bodyPr/>
          <a:lstStyle/>
          <a:p>
            <a:endParaRPr lang="en-US"/>
          </a:p>
        </p:txBody>
      </p:sp>
      <p:sp>
        <p:nvSpPr>
          <p:cNvPr id="57" name="Text 55"/>
          <p:cNvSpPr/>
          <p:nvPr/>
        </p:nvSpPr>
        <p:spPr>
          <a:xfrm>
            <a:off x="411480" y="4114800"/>
            <a:ext cx="3840480" cy="329184"/>
          </a:xfrm>
          <a:prstGeom prst="rect">
            <a:avLst/>
          </a:prstGeom>
          <a:noFill/>
          <a:ln/>
        </p:spPr>
        <p:txBody>
          <a:bodyPr wrap="square" rtlCol="0" anchor="ctr"/>
          <a:lstStyle/>
          <a:p>
            <a:pPr marL="0" indent="0">
              <a:buNone/>
            </a:pPr>
            <a:r>
              <a:rPr lang="en-US" sz="1500" i="1" dirty="0">
                <a:solidFill>
                  <a:srgbClr val="00BCD4"/>
                </a:solidFill>
                <a:latin typeface="Calibri" pitchFamily="34" charset="0"/>
                <a:ea typeface="Calibri" pitchFamily="34" charset="-122"/>
                <a:cs typeface="Calibri" pitchFamily="34" charset="-120"/>
              </a:rPr>
              <a:t>Have you ever wondered...</a:t>
            </a:r>
            <a:endParaRPr lang="en-US" sz="1500" dirty="0"/>
          </a:p>
        </p:txBody>
      </p:sp>
      <p:sp>
        <p:nvSpPr>
          <p:cNvPr id="58" name="Text 56"/>
          <p:cNvSpPr/>
          <p:nvPr/>
        </p:nvSpPr>
        <p:spPr>
          <a:xfrm>
            <a:off x="411480" y="4443984"/>
            <a:ext cx="3840480" cy="384048"/>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Person or Robot? </a:t>
            </a:r>
            <a:endParaRPr lang="en-US" sz="1700" dirty="0"/>
          </a:p>
        </p:txBody>
      </p:sp>
      <p:sp>
        <p:nvSpPr>
          <p:cNvPr id="59" name="Shape 57"/>
          <p:cNvSpPr/>
          <p:nvPr/>
        </p:nvSpPr>
        <p:spPr>
          <a:xfrm>
            <a:off x="4754880" y="4069080"/>
            <a:ext cx="4114800" cy="896112"/>
          </a:xfrm>
          <a:prstGeom prst="roundRect">
            <a:avLst>
              <a:gd name="adj" fmla="val 12245"/>
            </a:avLst>
          </a:prstGeom>
          <a:solidFill>
            <a:srgbClr val="0A2E12"/>
          </a:solidFill>
          <a:ln w="12700">
            <a:solidFill>
              <a:srgbClr val="0A2E12"/>
            </a:solidFill>
            <a:prstDash val="solid"/>
          </a:ln>
          <a:effectLst>
            <a:outerShdw blurRad="101600" dist="38100" dir="2700000" algn="bl" rotWithShape="0">
              <a:srgbClr val="000000">
                <a:alpha val="18000"/>
              </a:srgbClr>
            </a:outerShdw>
          </a:effectLst>
        </p:spPr>
        <p:txBody>
          <a:bodyPr/>
          <a:lstStyle/>
          <a:p>
            <a:endParaRPr lang="en-US"/>
          </a:p>
        </p:txBody>
      </p:sp>
      <p:sp>
        <p:nvSpPr>
          <p:cNvPr id="60" name="Text 58"/>
          <p:cNvSpPr/>
          <p:nvPr/>
        </p:nvSpPr>
        <p:spPr>
          <a:xfrm>
            <a:off x="4892040" y="4114800"/>
            <a:ext cx="3840480" cy="786384"/>
          </a:xfrm>
          <a:prstGeom prst="rect">
            <a:avLst/>
          </a:prstGeom>
          <a:noFill/>
          <a:ln/>
        </p:spPr>
        <p:txBody>
          <a:bodyPr wrap="square" rtlCol="0" anchor="ctr"/>
          <a:lstStyle/>
          <a:p>
            <a:pPr marL="0" indent="0" algn="ctr">
              <a:buNone/>
            </a:pPr>
            <a:r>
              <a:rPr lang="en-US" sz="1600" b="1" dirty="0">
                <a:solidFill>
                  <a:srgbClr val="8BC34A"/>
                </a:solidFill>
                <a:latin typeface="Calibri" pitchFamily="34" charset="0"/>
                <a:ea typeface="Calibri" pitchFamily="34" charset="-122"/>
                <a:cs typeface="Calibri" pitchFamily="34" charset="-120"/>
              </a:rPr>
              <a:t>Ordered today --&gt; delivered tomorrow!</a:t>
            </a:r>
            <a:endParaRPr lang="en-US" sz="1600" dirty="0"/>
          </a:p>
        </p:txBody>
      </p:sp>
      <p:sp>
        <p:nvSpPr>
          <p:cNvPr id="61" name="Shape 59"/>
          <p:cNvSpPr/>
          <p:nvPr/>
        </p:nvSpPr>
        <p:spPr>
          <a:xfrm>
            <a:off x="7315200" y="2103120"/>
            <a:ext cx="109728" cy="1645920"/>
          </a:xfrm>
          <a:prstGeom prst="rect">
            <a:avLst/>
          </a:prstGeom>
          <a:solidFill>
            <a:srgbClr val="78909C"/>
          </a:solidFill>
          <a:ln w="12700">
            <a:solidFill>
              <a:srgbClr val="78909C"/>
            </a:solidFill>
            <a:prstDash val="solid"/>
          </a:ln>
        </p:spPr>
        <p:txBody>
          <a:bodyPr/>
          <a:lstStyle/>
          <a:p>
            <a:endParaRPr lang="en-US"/>
          </a:p>
        </p:txBody>
      </p:sp>
      <p:sp>
        <p:nvSpPr>
          <p:cNvPr id="62" name="Shape 60"/>
          <p:cNvSpPr/>
          <p:nvPr/>
        </p:nvSpPr>
        <p:spPr>
          <a:xfrm>
            <a:off x="6949440" y="2103120"/>
            <a:ext cx="777240" cy="109728"/>
          </a:xfrm>
          <a:prstGeom prst="rect">
            <a:avLst/>
          </a:prstGeom>
          <a:solidFill>
            <a:srgbClr val="78909C"/>
          </a:solidFill>
          <a:ln w="12700">
            <a:solidFill>
              <a:srgbClr val="78909C"/>
            </a:solidFill>
            <a:prstDash val="solid"/>
          </a:ln>
        </p:spPr>
        <p:txBody>
          <a:bodyPr/>
          <a:lstStyle/>
          <a:p>
            <a:endParaRPr lang="en-US"/>
          </a:p>
        </p:txBody>
      </p:sp>
      <p:sp>
        <p:nvSpPr>
          <p:cNvPr id="63" name="Shape 61"/>
          <p:cNvSpPr/>
          <p:nvPr/>
        </p:nvSpPr>
        <p:spPr>
          <a:xfrm>
            <a:off x="7205472" y="1965960"/>
            <a:ext cx="256032" cy="256032"/>
          </a:xfrm>
          <a:prstGeom prst="ellipse">
            <a:avLst/>
          </a:prstGeom>
          <a:solidFill>
            <a:srgbClr val="90A4AE"/>
          </a:solidFill>
          <a:ln w="12700">
            <a:solidFill>
              <a:srgbClr val="78909C"/>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F"/>
        </a:solidFill>
        <a:effectLst/>
      </p:bgPr>
    </p:bg>
    <p:spTree>
      <p:nvGrpSpPr>
        <p:cNvPr id="1" name=""/>
        <p:cNvGrpSpPr/>
        <p:nvPr/>
      </p:nvGrpSpPr>
      <p:grpSpPr>
        <a:xfrm>
          <a:off x="0" y="0"/>
          <a:ext cx="0" cy="0"/>
          <a:chOff x="0" y="0"/>
          <a:chExt cx="0" cy="0"/>
        </a:xfrm>
      </p:grpSpPr>
      <p:sp>
        <p:nvSpPr>
          <p:cNvPr id="2" name="Text 0"/>
          <p:cNvSpPr/>
          <p:nvPr/>
        </p:nvSpPr>
        <p:spPr>
          <a:xfrm>
            <a:off x="365760" y="91440"/>
            <a:ext cx="8412480" cy="566928"/>
          </a:xfrm>
          <a:prstGeom prst="rect">
            <a:avLst/>
          </a:prstGeom>
          <a:noFill/>
          <a:ln/>
        </p:spPr>
        <p:txBody>
          <a:bodyPr wrap="square" rtlCol="0" anchor="ctr"/>
          <a:lstStyle/>
          <a:p>
            <a:pPr marL="0" indent="0" algn="l">
              <a:buNone/>
            </a:pPr>
            <a:r>
              <a:rPr lang="en-US" sz="4000" b="1" dirty="0">
                <a:solidFill>
                  <a:srgbClr val="1565C0"/>
                </a:solidFill>
                <a:latin typeface="Calibri" pitchFamily="34" charset="0"/>
                <a:ea typeface="Calibri" pitchFamily="34" charset="-122"/>
                <a:cs typeface="Calibri" pitchFamily="34" charset="-120"/>
              </a:rPr>
              <a:t>Robots Are Everywhere!</a:t>
            </a:r>
            <a:endParaRPr lang="en-US" sz="4000" dirty="0"/>
          </a:p>
        </p:txBody>
      </p:sp>
      <p:sp>
        <p:nvSpPr>
          <p:cNvPr id="3" name="Shape 1"/>
          <p:cNvSpPr/>
          <p:nvPr/>
        </p:nvSpPr>
        <p:spPr>
          <a:xfrm>
            <a:off x="274320" y="786384"/>
            <a:ext cx="3977640" cy="1783080"/>
          </a:xfrm>
          <a:prstGeom prst="roundRect">
            <a:avLst>
              <a:gd name="adj" fmla="val 6154"/>
            </a:avLst>
          </a:prstGeom>
          <a:solidFill>
            <a:srgbClr val="E3F2FD"/>
          </a:solidFill>
          <a:ln w="12700">
            <a:solidFill>
              <a:srgbClr val="E3F2FD"/>
            </a:solidFill>
            <a:prstDash val="solid"/>
          </a:ln>
          <a:effectLst>
            <a:outerShdw blurRad="101600" dist="38100" dir="2700000" algn="bl" rotWithShape="0">
              <a:srgbClr val="000000">
                <a:alpha val="18000"/>
              </a:srgbClr>
            </a:outerShdw>
          </a:effectLst>
        </p:spPr>
        <p:txBody>
          <a:bodyPr/>
          <a:lstStyle/>
          <a:p>
            <a:endParaRPr lang="en-US"/>
          </a:p>
        </p:txBody>
      </p:sp>
      <p:sp>
        <p:nvSpPr>
          <p:cNvPr id="4" name="Shape 2"/>
          <p:cNvSpPr/>
          <p:nvPr/>
        </p:nvSpPr>
        <p:spPr>
          <a:xfrm>
            <a:off x="457200" y="1060704"/>
            <a:ext cx="1005840" cy="1005840"/>
          </a:xfrm>
          <a:prstGeom prst="ellipse">
            <a:avLst/>
          </a:prstGeom>
          <a:solidFill>
            <a:srgbClr val="1565C0"/>
          </a:solidFill>
          <a:ln w="12700">
            <a:solidFill>
              <a:srgbClr val="1565C0"/>
            </a:solidFill>
            <a:prstDash val="solid"/>
          </a:ln>
          <a:effectLst>
            <a:outerShdw blurRad="101600" dist="38100" dir="2700000" algn="bl" rotWithShape="0">
              <a:srgbClr val="000000">
                <a:alpha val="18000"/>
              </a:srgbClr>
            </a:outerShdw>
          </a:effectLst>
        </p:spPr>
        <p:txBody>
          <a:bodyPr/>
          <a:lstStyle/>
          <a:p>
            <a:endParaRPr lang="en-US"/>
          </a:p>
        </p:txBody>
      </p:sp>
      <p:sp>
        <p:nvSpPr>
          <p:cNvPr id="5" name="Text 3"/>
          <p:cNvSpPr/>
          <p:nvPr/>
        </p:nvSpPr>
        <p:spPr>
          <a:xfrm>
            <a:off x="457200" y="1060704"/>
            <a:ext cx="1005840" cy="10058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VAC</a:t>
            </a:r>
            <a:endParaRPr lang="en-US" sz="1600" dirty="0"/>
          </a:p>
        </p:txBody>
      </p:sp>
      <p:sp>
        <p:nvSpPr>
          <p:cNvPr id="6" name="Text 4"/>
          <p:cNvSpPr/>
          <p:nvPr/>
        </p:nvSpPr>
        <p:spPr>
          <a:xfrm>
            <a:off x="1609344" y="1024128"/>
            <a:ext cx="2523744" cy="438912"/>
          </a:xfrm>
          <a:prstGeom prst="rect">
            <a:avLst/>
          </a:prstGeom>
          <a:noFill/>
          <a:ln/>
        </p:spPr>
        <p:txBody>
          <a:bodyPr wrap="square" rtlCol="0" anchor="ctr"/>
          <a:lstStyle/>
          <a:p>
            <a:pPr marL="0" indent="0">
              <a:buNone/>
            </a:pPr>
            <a:r>
              <a:rPr lang="en-US" sz="2100" b="1" dirty="0">
                <a:solidFill>
                  <a:srgbClr val="1A1A2E"/>
                </a:solidFill>
                <a:latin typeface="Calibri" pitchFamily="34" charset="0"/>
                <a:ea typeface="Calibri" pitchFamily="34" charset="-122"/>
                <a:cs typeface="Calibri" pitchFamily="34" charset="-120"/>
              </a:rPr>
              <a:t>Robot Vacuum</a:t>
            </a:r>
            <a:endParaRPr lang="en-US" sz="2100" dirty="0"/>
          </a:p>
        </p:txBody>
      </p:sp>
      <p:sp>
        <p:nvSpPr>
          <p:cNvPr id="7" name="Text 5"/>
          <p:cNvSpPr/>
          <p:nvPr/>
        </p:nvSpPr>
        <p:spPr>
          <a:xfrm>
            <a:off x="1609344" y="1481328"/>
            <a:ext cx="2523744" cy="914400"/>
          </a:xfrm>
          <a:prstGeom prst="rect">
            <a:avLst/>
          </a:prstGeom>
          <a:noFill/>
          <a:ln/>
        </p:spPr>
        <p:txBody>
          <a:bodyPr wrap="square" rtlCol="0" anchor="ctr"/>
          <a:lstStyle/>
          <a:p>
            <a:pPr marL="0" indent="0">
              <a:lnSpc>
                <a:spcPct val="120000"/>
              </a:lnSpc>
              <a:buNone/>
            </a:pPr>
            <a:r>
              <a:rPr lang="en-US" sz="1500" dirty="0">
                <a:solidFill>
                  <a:srgbClr val="37474F"/>
                </a:solidFill>
                <a:latin typeface="Calibri" pitchFamily="34" charset="0"/>
                <a:ea typeface="Calibri" pitchFamily="34" charset="-122"/>
                <a:cs typeface="Calibri" pitchFamily="34" charset="-120"/>
              </a:rPr>
              <a:t>Cleans your floors automatically</a:t>
            </a:r>
            <a:endParaRPr lang="en-US" sz="1500" dirty="0"/>
          </a:p>
        </p:txBody>
      </p:sp>
      <p:sp>
        <p:nvSpPr>
          <p:cNvPr id="8" name="Shape 6"/>
          <p:cNvSpPr/>
          <p:nvPr/>
        </p:nvSpPr>
        <p:spPr>
          <a:xfrm>
            <a:off x="4754880" y="786384"/>
            <a:ext cx="3977640" cy="1783080"/>
          </a:xfrm>
          <a:prstGeom prst="roundRect">
            <a:avLst>
              <a:gd name="adj" fmla="val 6154"/>
            </a:avLst>
          </a:prstGeom>
          <a:solidFill>
            <a:srgbClr val="E8F5E9"/>
          </a:solidFill>
          <a:ln w="12700">
            <a:solidFill>
              <a:srgbClr val="E8F5E9"/>
            </a:solidFill>
            <a:prstDash val="solid"/>
          </a:ln>
          <a:effectLst>
            <a:outerShdw blurRad="101600" dist="38100" dir="2700000" algn="bl" rotWithShape="0">
              <a:srgbClr val="000000">
                <a:alpha val="18000"/>
              </a:srgbClr>
            </a:outerShdw>
          </a:effectLst>
        </p:spPr>
        <p:txBody>
          <a:bodyPr/>
          <a:lstStyle/>
          <a:p>
            <a:endParaRPr lang="en-US"/>
          </a:p>
        </p:txBody>
      </p:sp>
      <p:sp>
        <p:nvSpPr>
          <p:cNvPr id="9" name="Shape 7"/>
          <p:cNvSpPr/>
          <p:nvPr/>
        </p:nvSpPr>
        <p:spPr>
          <a:xfrm>
            <a:off x="4937760" y="1060704"/>
            <a:ext cx="1005840" cy="1005840"/>
          </a:xfrm>
          <a:prstGeom prst="ellipse">
            <a:avLst/>
          </a:prstGeom>
          <a:solidFill>
            <a:srgbClr val="2E7D32"/>
          </a:solidFill>
          <a:ln w="12700">
            <a:solidFill>
              <a:srgbClr val="2E7D32"/>
            </a:solidFill>
            <a:prstDash val="solid"/>
          </a:ln>
          <a:effectLst>
            <a:outerShdw blurRad="101600" dist="38100" dir="2700000" algn="bl" rotWithShape="0">
              <a:srgbClr val="000000">
                <a:alpha val="18000"/>
              </a:srgbClr>
            </a:outerShdw>
          </a:effectLst>
        </p:spPr>
        <p:txBody>
          <a:bodyPr/>
          <a:lstStyle/>
          <a:p>
            <a:endParaRPr lang="en-US"/>
          </a:p>
        </p:txBody>
      </p:sp>
      <p:sp>
        <p:nvSpPr>
          <p:cNvPr id="10" name="Text 8"/>
          <p:cNvSpPr/>
          <p:nvPr/>
        </p:nvSpPr>
        <p:spPr>
          <a:xfrm>
            <a:off x="4937760" y="1060704"/>
            <a:ext cx="1005840" cy="10058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WHS</a:t>
            </a:r>
            <a:endParaRPr lang="en-US" sz="1600" dirty="0"/>
          </a:p>
        </p:txBody>
      </p:sp>
      <p:sp>
        <p:nvSpPr>
          <p:cNvPr id="11" name="Text 9"/>
          <p:cNvSpPr/>
          <p:nvPr/>
        </p:nvSpPr>
        <p:spPr>
          <a:xfrm>
            <a:off x="6089904" y="1024128"/>
            <a:ext cx="2523744" cy="438912"/>
          </a:xfrm>
          <a:prstGeom prst="rect">
            <a:avLst/>
          </a:prstGeom>
          <a:noFill/>
          <a:ln/>
        </p:spPr>
        <p:txBody>
          <a:bodyPr wrap="square" rtlCol="0" anchor="ctr"/>
          <a:lstStyle/>
          <a:p>
            <a:pPr marL="0" indent="0">
              <a:buNone/>
            </a:pPr>
            <a:r>
              <a:rPr lang="en-US" sz="2100" b="1" dirty="0">
                <a:solidFill>
                  <a:srgbClr val="1A1A2E"/>
                </a:solidFill>
                <a:latin typeface="Calibri" pitchFamily="34" charset="0"/>
                <a:ea typeface="Calibri" pitchFamily="34" charset="-122"/>
                <a:cs typeface="Calibri" pitchFamily="34" charset="-120"/>
              </a:rPr>
              <a:t>Warehouse Robot</a:t>
            </a:r>
            <a:endParaRPr lang="en-US" sz="2100" dirty="0"/>
          </a:p>
        </p:txBody>
      </p:sp>
      <p:sp>
        <p:nvSpPr>
          <p:cNvPr id="12" name="Text 10"/>
          <p:cNvSpPr/>
          <p:nvPr/>
        </p:nvSpPr>
        <p:spPr>
          <a:xfrm>
            <a:off x="6089904" y="1481328"/>
            <a:ext cx="2523744" cy="914400"/>
          </a:xfrm>
          <a:prstGeom prst="rect">
            <a:avLst/>
          </a:prstGeom>
          <a:noFill/>
          <a:ln/>
        </p:spPr>
        <p:txBody>
          <a:bodyPr wrap="square" rtlCol="0" anchor="ctr"/>
          <a:lstStyle/>
          <a:p>
            <a:pPr marL="0" indent="0">
              <a:lnSpc>
                <a:spcPct val="120000"/>
              </a:lnSpc>
              <a:buNone/>
            </a:pPr>
            <a:r>
              <a:rPr lang="en-US" sz="1500" dirty="0">
                <a:solidFill>
                  <a:srgbClr val="37474F"/>
                </a:solidFill>
                <a:latin typeface="Calibri" pitchFamily="34" charset="0"/>
                <a:ea typeface="Calibri" pitchFamily="34" charset="-122"/>
                <a:cs typeface="Calibri" pitchFamily="34" charset="-120"/>
              </a:rPr>
              <a:t>Picks and packs your orders</a:t>
            </a:r>
            <a:endParaRPr lang="en-US" sz="1500" dirty="0"/>
          </a:p>
        </p:txBody>
      </p:sp>
      <p:sp>
        <p:nvSpPr>
          <p:cNvPr id="13" name="Shape 11"/>
          <p:cNvSpPr/>
          <p:nvPr/>
        </p:nvSpPr>
        <p:spPr>
          <a:xfrm>
            <a:off x="274320" y="2788920"/>
            <a:ext cx="3977640" cy="1783080"/>
          </a:xfrm>
          <a:prstGeom prst="roundRect">
            <a:avLst>
              <a:gd name="adj" fmla="val 6154"/>
            </a:avLst>
          </a:prstGeom>
          <a:solidFill>
            <a:srgbClr val="FCE4EC"/>
          </a:solidFill>
          <a:ln w="12700">
            <a:solidFill>
              <a:srgbClr val="FCE4EC"/>
            </a:solidFill>
            <a:prstDash val="solid"/>
          </a:ln>
          <a:effectLst>
            <a:outerShdw blurRad="101600" dist="38100" dir="2700000" algn="bl" rotWithShape="0">
              <a:srgbClr val="000000">
                <a:alpha val="18000"/>
              </a:srgbClr>
            </a:outerShdw>
          </a:effectLst>
        </p:spPr>
        <p:txBody>
          <a:bodyPr/>
          <a:lstStyle/>
          <a:p>
            <a:endParaRPr lang="en-US"/>
          </a:p>
        </p:txBody>
      </p:sp>
      <p:sp>
        <p:nvSpPr>
          <p:cNvPr id="14" name="Shape 12"/>
          <p:cNvSpPr/>
          <p:nvPr/>
        </p:nvSpPr>
        <p:spPr>
          <a:xfrm>
            <a:off x="457200" y="3063240"/>
            <a:ext cx="1005840" cy="1005840"/>
          </a:xfrm>
          <a:prstGeom prst="ellipse">
            <a:avLst/>
          </a:prstGeom>
          <a:solidFill>
            <a:srgbClr val="E91E8C"/>
          </a:solidFill>
          <a:ln w="12700">
            <a:solidFill>
              <a:srgbClr val="E91E8C"/>
            </a:solidFill>
            <a:prstDash val="solid"/>
          </a:ln>
          <a:effectLst>
            <a:outerShdw blurRad="101600" dist="38100" dir="2700000" algn="bl" rotWithShape="0">
              <a:srgbClr val="000000">
                <a:alpha val="18000"/>
              </a:srgbClr>
            </a:outerShdw>
          </a:effectLst>
        </p:spPr>
        <p:txBody>
          <a:bodyPr/>
          <a:lstStyle/>
          <a:p>
            <a:endParaRPr lang="en-US"/>
          </a:p>
        </p:txBody>
      </p:sp>
      <p:sp>
        <p:nvSpPr>
          <p:cNvPr id="15" name="Text 13"/>
          <p:cNvSpPr/>
          <p:nvPr/>
        </p:nvSpPr>
        <p:spPr>
          <a:xfrm>
            <a:off x="457200" y="3063240"/>
            <a:ext cx="1005840" cy="10058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MED</a:t>
            </a:r>
            <a:endParaRPr lang="en-US" sz="1600" dirty="0"/>
          </a:p>
        </p:txBody>
      </p:sp>
      <p:sp>
        <p:nvSpPr>
          <p:cNvPr id="16" name="Text 14"/>
          <p:cNvSpPr/>
          <p:nvPr/>
        </p:nvSpPr>
        <p:spPr>
          <a:xfrm>
            <a:off x="1609344" y="3026664"/>
            <a:ext cx="2523744" cy="438912"/>
          </a:xfrm>
          <a:prstGeom prst="rect">
            <a:avLst/>
          </a:prstGeom>
          <a:noFill/>
          <a:ln/>
        </p:spPr>
        <p:txBody>
          <a:bodyPr wrap="square" rtlCol="0" anchor="ctr"/>
          <a:lstStyle/>
          <a:p>
            <a:pPr marL="0" indent="0">
              <a:buNone/>
            </a:pPr>
            <a:r>
              <a:rPr lang="en-US" sz="2100" b="1" dirty="0">
                <a:solidFill>
                  <a:srgbClr val="1A1A2E"/>
                </a:solidFill>
                <a:latin typeface="Calibri" pitchFamily="34" charset="0"/>
                <a:ea typeface="Calibri" pitchFamily="34" charset="-122"/>
                <a:cs typeface="Calibri" pitchFamily="34" charset="-120"/>
              </a:rPr>
              <a:t>Surgical Robot</a:t>
            </a:r>
            <a:endParaRPr lang="en-US" sz="2100" dirty="0"/>
          </a:p>
        </p:txBody>
      </p:sp>
      <p:sp>
        <p:nvSpPr>
          <p:cNvPr id="17" name="Text 15"/>
          <p:cNvSpPr/>
          <p:nvPr/>
        </p:nvSpPr>
        <p:spPr>
          <a:xfrm>
            <a:off x="1609344" y="3483864"/>
            <a:ext cx="2523744" cy="914400"/>
          </a:xfrm>
          <a:prstGeom prst="rect">
            <a:avLst/>
          </a:prstGeom>
          <a:noFill/>
          <a:ln/>
        </p:spPr>
        <p:txBody>
          <a:bodyPr wrap="square" rtlCol="0" anchor="ctr"/>
          <a:lstStyle/>
          <a:p>
            <a:pPr marL="0" indent="0">
              <a:lnSpc>
                <a:spcPct val="120000"/>
              </a:lnSpc>
              <a:buNone/>
            </a:pPr>
            <a:r>
              <a:rPr lang="en-US" sz="1500" dirty="0">
                <a:solidFill>
                  <a:srgbClr val="37474F"/>
                </a:solidFill>
                <a:latin typeface="Calibri" pitchFamily="34" charset="0"/>
                <a:ea typeface="Calibri" pitchFamily="34" charset="-122"/>
                <a:cs typeface="Calibri" pitchFamily="34" charset="-120"/>
              </a:rPr>
              <a:t>Assists doctors in the operating room</a:t>
            </a:r>
            <a:endParaRPr lang="en-US" sz="1500" dirty="0"/>
          </a:p>
        </p:txBody>
      </p:sp>
      <p:sp>
        <p:nvSpPr>
          <p:cNvPr id="18" name="Shape 16"/>
          <p:cNvSpPr/>
          <p:nvPr/>
        </p:nvSpPr>
        <p:spPr>
          <a:xfrm>
            <a:off x="4754880" y="2788920"/>
            <a:ext cx="3977640" cy="1783080"/>
          </a:xfrm>
          <a:prstGeom prst="roundRect">
            <a:avLst>
              <a:gd name="adj" fmla="val 6154"/>
            </a:avLst>
          </a:prstGeom>
          <a:solidFill>
            <a:srgbClr val="EDE7F6"/>
          </a:solidFill>
          <a:ln w="12700">
            <a:solidFill>
              <a:srgbClr val="EDE7F6"/>
            </a:solidFill>
            <a:prstDash val="solid"/>
          </a:ln>
          <a:effectLst>
            <a:outerShdw blurRad="101600" dist="38100" dir="2700000" algn="bl" rotWithShape="0">
              <a:srgbClr val="000000">
                <a:alpha val="18000"/>
              </a:srgbClr>
            </a:outerShdw>
          </a:effectLst>
        </p:spPr>
        <p:txBody>
          <a:bodyPr/>
          <a:lstStyle/>
          <a:p>
            <a:endParaRPr lang="en-US"/>
          </a:p>
        </p:txBody>
      </p:sp>
      <p:sp>
        <p:nvSpPr>
          <p:cNvPr id="19" name="Shape 17"/>
          <p:cNvSpPr/>
          <p:nvPr/>
        </p:nvSpPr>
        <p:spPr>
          <a:xfrm>
            <a:off x="4937760" y="3063240"/>
            <a:ext cx="1005840" cy="1005840"/>
          </a:xfrm>
          <a:prstGeom prst="ellipse">
            <a:avLst/>
          </a:prstGeom>
          <a:solidFill>
            <a:srgbClr val="7C3AED"/>
          </a:solidFill>
          <a:ln w="12700">
            <a:solidFill>
              <a:srgbClr val="7C3AED"/>
            </a:solidFill>
            <a:prstDash val="solid"/>
          </a:ln>
          <a:effectLst>
            <a:outerShdw blurRad="101600" dist="38100" dir="2700000" algn="bl" rotWithShape="0">
              <a:srgbClr val="000000">
                <a:alpha val="18000"/>
              </a:srgbClr>
            </a:outerShdw>
          </a:effectLst>
        </p:spPr>
        <p:txBody>
          <a:bodyPr/>
          <a:lstStyle/>
          <a:p>
            <a:endParaRPr lang="en-US"/>
          </a:p>
        </p:txBody>
      </p:sp>
      <p:sp>
        <p:nvSpPr>
          <p:cNvPr id="20" name="Text 18"/>
          <p:cNvSpPr/>
          <p:nvPr/>
        </p:nvSpPr>
        <p:spPr>
          <a:xfrm>
            <a:off x="4937760" y="3063240"/>
            <a:ext cx="1005840" cy="10058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MARS</a:t>
            </a:r>
            <a:endParaRPr lang="en-US" sz="1600" dirty="0"/>
          </a:p>
        </p:txBody>
      </p:sp>
      <p:sp>
        <p:nvSpPr>
          <p:cNvPr id="21" name="Text 19"/>
          <p:cNvSpPr/>
          <p:nvPr/>
        </p:nvSpPr>
        <p:spPr>
          <a:xfrm>
            <a:off x="6089904" y="3026664"/>
            <a:ext cx="2523744" cy="438912"/>
          </a:xfrm>
          <a:prstGeom prst="rect">
            <a:avLst/>
          </a:prstGeom>
          <a:noFill/>
          <a:ln/>
        </p:spPr>
        <p:txBody>
          <a:bodyPr wrap="square" rtlCol="0" anchor="ctr"/>
          <a:lstStyle/>
          <a:p>
            <a:pPr marL="0" indent="0">
              <a:buNone/>
            </a:pPr>
            <a:r>
              <a:rPr lang="en-US" sz="2100" b="1" dirty="0">
                <a:solidFill>
                  <a:srgbClr val="1A1A2E"/>
                </a:solidFill>
                <a:latin typeface="Calibri" pitchFamily="34" charset="0"/>
                <a:ea typeface="Calibri" pitchFamily="34" charset="-122"/>
                <a:cs typeface="Calibri" pitchFamily="34" charset="-120"/>
              </a:rPr>
              <a:t>Mars Rover</a:t>
            </a:r>
            <a:endParaRPr lang="en-US" sz="2100" dirty="0"/>
          </a:p>
        </p:txBody>
      </p:sp>
      <p:sp>
        <p:nvSpPr>
          <p:cNvPr id="22" name="Text 20"/>
          <p:cNvSpPr/>
          <p:nvPr/>
        </p:nvSpPr>
        <p:spPr>
          <a:xfrm>
            <a:off x="6089904" y="3483864"/>
            <a:ext cx="2523744" cy="914400"/>
          </a:xfrm>
          <a:prstGeom prst="rect">
            <a:avLst/>
          </a:prstGeom>
          <a:noFill/>
          <a:ln/>
        </p:spPr>
        <p:txBody>
          <a:bodyPr wrap="square" rtlCol="0" anchor="ctr"/>
          <a:lstStyle/>
          <a:p>
            <a:pPr marL="0" indent="0">
              <a:lnSpc>
                <a:spcPct val="120000"/>
              </a:lnSpc>
              <a:buNone/>
            </a:pPr>
            <a:r>
              <a:rPr lang="en-US" sz="1500" dirty="0">
                <a:solidFill>
                  <a:srgbClr val="37474F"/>
                </a:solidFill>
                <a:latin typeface="Calibri" pitchFamily="34" charset="0"/>
                <a:ea typeface="Calibri" pitchFamily="34" charset="-122"/>
                <a:cs typeface="Calibri" pitchFamily="34" charset="-120"/>
              </a:rPr>
              <a:t>Explores another planet independently</a:t>
            </a:r>
            <a:endParaRPr lang="en-US" sz="1500" dirty="0"/>
          </a:p>
        </p:txBody>
      </p:sp>
      <p:sp>
        <p:nvSpPr>
          <p:cNvPr id="23" name="Shape 21"/>
          <p:cNvSpPr/>
          <p:nvPr/>
        </p:nvSpPr>
        <p:spPr>
          <a:xfrm>
            <a:off x="274320" y="4572000"/>
            <a:ext cx="8595360" cy="347472"/>
          </a:xfrm>
          <a:prstGeom prst="roundRect">
            <a:avLst>
              <a:gd name="adj" fmla="val 26316"/>
            </a:avLst>
          </a:prstGeom>
          <a:solidFill>
            <a:srgbClr val="FFD600"/>
          </a:solidFill>
          <a:ln w="12700">
            <a:solidFill>
              <a:srgbClr val="FFD600"/>
            </a:solidFill>
            <a:prstDash val="solid"/>
          </a:ln>
        </p:spPr>
        <p:txBody>
          <a:bodyPr/>
          <a:lstStyle/>
          <a:p>
            <a:endParaRPr lang="en-US"/>
          </a:p>
        </p:txBody>
      </p:sp>
      <p:sp>
        <p:nvSpPr>
          <p:cNvPr id="24" name="Text 22"/>
          <p:cNvSpPr/>
          <p:nvPr/>
        </p:nvSpPr>
        <p:spPr>
          <a:xfrm>
            <a:off x="274320" y="4572000"/>
            <a:ext cx="8595360" cy="347472"/>
          </a:xfrm>
          <a:prstGeom prst="rect">
            <a:avLst/>
          </a:prstGeom>
          <a:noFill/>
          <a:ln/>
        </p:spPr>
        <p:txBody>
          <a:bodyPr wrap="square" lIns="0" tIns="0" rIns="0" bIns="0" rtlCol="0" anchor="ctr"/>
          <a:lstStyle/>
          <a:p>
            <a:pPr marL="0" indent="0" algn="ctr">
              <a:buNone/>
            </a:pPr>
            <a:r>
              <a:rPr lang="en-US" sz="1700" b="1" dirty="0">
                <a:solidFill>
                  <a:srgbClr val="1A1A2E"/>
                </a:solidFill>
                <a:latin typeface="Calibri" pitchFamily="34" charset="0"/>
                <a:ea typeface="Calibri" pitchFamily="34" charset="-122"/>
                <a:cs typeface="Calibri" pitchFamily="34" charset="-120"/>
              </a:rPr>
              <a:t>Where have YOU seen robots?  </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365760" y="91440"/>
            <a:ext cx="8412480" cy="530352"/>
          </a:xfrm>
          <a:prstGeom prst="rect">
            <a:avLst/>
          </a:prstGeom>
          <a:noFill/>
          <a:ln/>
        </p:spPr>
        <p:txBody>
          <a:bodyPr wrap="square" rtlCol="0" anchor="ctr"/>
          <a:lstStyle/>
          <a:p>
            <a:pPr marL="0" indent="0" algn="l">
              <a:buNone/>
            </a:pPr>
            <a:r>
              <a:rPr lang="en-US" sz="4000" b="1" dirty="0">
                <a:solidFill>
                  <a:srgbClr val="00BCD4"/>
                </a:solidFill>
                <a:latin typeface="Calibri" pitchFamily="34" charset="0"/>
                <a:ea typeface="Calibri" pitchFamily="34" charset="-122"/>
                <a:cs typeface="Calibri" pitchFamily="34" charset="-120"/>
              </a:rPr>
              <a:t>Meet the Robot!</a:t>
            </a:r>
            <a:endParaRPr lang="en-US" sz="4000" dirty="0"/>
          </a:p>
        </p:txBody>
      </p:sp>
      <p:sp>
        <p:nvSpPr>
          <p:cNvPr id="3" name="Text 1"/>
          <p:cNvSpPr/>
          <p:nvPr/>
        </p:nvSpPr>
        <p:spPr>
          <a:xfrm>
            <a:off x="365760" y="603504"/>
            <a:ext cx="8412480" cy="274320"/>
          </a:xfrm>
          <a:prstGeom prst="rect">
            <a:avLst/>
          </a:prstGeom>
          <a:noFill/>
          <a:ln/>
        </p:spPr>
        <p:txBody>
          <a:bodyPr wrap="square" rtlCol="0" anchor="ctr"/>
          <a:lstStyle/>
          <a:p>
            <a:pPr marL="0" indent="0">
              <a:buNone/>
            </a:pPr>
            <a:r>
              <a:rPr lang="en-US" sz="1600" i="1" dirty="0">
                <a:solidFill>
                  <a:srgbClr val="90A4AE"/>
                </a:solidFill>
                <a:latin typeface="Calibri" pitchFamily="34" charset="0"/>
                <a:ea typeface="Calibri" pitchFamily="34" charset="-122"/>
                <a:cs typeface="Calibri" pitchFamily="34" charset="-120"/>
              </a:rPr>
              <a:t>Franka Emika Panda - a research and teaching robot arm</a:t>
            </a:r>
            <a:endParaRPr lang="en-US" sz="1600" dirty="0"/>
          </a:p>
        </p:txBody>
      </p:sp>
      <p:sp>
        <p:nvSpPr>
          <p:cNvPr id="14" name="Shape 12"/>
          <p:cNvSpPr/>
          <p:nvPr/>
        </p:nvSpPr>
        <p:spPr>
          <a:xfrm>
            <a:off x="452991" y="3850277"/>
            <a:ext cx="1691640" cy="621792"/>
          </a:xfrm>
          <a:prstGeom prst="roundRect">
            <a:avLst>
              <a:gd name="adj" fmla="val 11765"/>
            </a:avLst>
          </a:prstGeom>
          <a:solidFill>
            <a:srgbClr val="1A2A3D"/>
          </a:solidFill>
          <a:ln w="12700">
            <a:solidFill>
              <a:srgbClr val="FFD600"/>
            </a:solidFill>
            <a:prstDash val="solid"/>
          </a:ln>
        </p:spPr>
        <p:txBody>
          <a:bodyPr/>
          <a:lstStyle/>
          <a:p>
            <a:endParaRPr lang="en-US"/>
          </a:p>
        </p:txBody>
      </p:sp>
      <p:sp>
        <p:nvSpPr>
          <p:cNvPr id="15" name="Text 13"/>
          <p:cNvSpPr/>
          <p:nvPr/>
        </p:nvSpPr>
        <p:spPr>
          <a:xfrm>
            <a:off x="452991" y="3850277"/>
            <a:ext cx="1691640" cy="621792"/>
          </a:xfrm>
          <a:prstGeom prst="rect">
            <a:avLst/>
          </a:prstGeom>
          <a:noFill/>
          <a:ln/>
        </p:spPr>
        <p:txBody>
          <a:bodyPr wrap="square" rtlCol="0" anchor="ctr"/>
          <a:lstStyle/>
          <a:p>
            <a:pPr marL="0" indent="0" algn="ctr">
              <a:buNone/>
            </a:pPr>
            <a:r>
              <a:rPr lang="en-US" sz="1400" b="1" dirty="0">
                <a:solidFill>
                  <a:srgbClr val="FFD600"/>
                </a:solidFill>
                <a:latin typeface="Calibri" pitchFamily="34" charset="0"/>
                <a:ea typeface="Calibri" pitchFamily="34" charset="-122"/>
                <a:cs typeface="Calibri" pitchFamily="34" charset="-120"/>
              </a:rPr>
              <a:t>Shoulder</a:t>
            </a:r>
            <a:endParaRPr lang="en-US" sz="1400" dirty="0"/>
          </a:p>
          <a:p>
            <a:pPr marL="0" indent="0" algn="ctr">
              <a:buNone/>
            </a:pPr>
            <a:r>
              <a:rPr lang="en-US" sz="1400" b="1" dirty="0">
                <a:solidFill>
                  <a:srgbClr val="FFD600"/>
                </a:solidFill>
                <a:latin typeface="Calibri" pitchFamily="34" charset="0"/>
                <a:ea typeface="Calibri" pitchFamily="34" charset="-122"/>
                <a:cs typeface="Calibri" pitchFamily="34" charset="-120"/>
              </a:rPr>
              <a:t>Rotates 360°</a:t>
            </a:r>
            <a:endParaRPr lang="en-US" sz="1400" dirty="0"/>
          </a:p>
        </p:txBody>
      </p:sp>
      <p:sp>
        <p:nvSpPr>
          <p:cNvPr id="16" name="Shape 14"/>
          <p:cNvSpPr/>
          <p:nvPr/>
        </p:nvSpPr>
        <p:spPr>
          <a:xfrm>
            <a:off x="452991" y="2913017"/>
            <a:ext cx="1691640" cy="621792"/>
          </a:xfrm>
          <a:prstGeom prst="roundRect">
            <a:avLst>
              <a:gd name="adj" fmla="val 11765"/>
            </a:avLst>
          </a:prstGeom>
          <a:solidFill>
            <a:srgbClr val="1A2A3D"/>
          </a:solidFill>
          <a:ln w="12700">
            <a:solidFill>
              <a:srgbClr val="FF6D00"/>
            </a:solidFill>
            <a:prstDash val="solid"/>
          </a:ln>
        </p:spPr>
        <p:txBody>
          <a:bodyPr/>
          <a:lstStyle/>
          <a:p>
            <a:endParaRPr lang="en-US"/>
          </a:p>
        </p:txBody>
      </p:sp>
      <p:sp>
        <p:nvSpPr>
          <p:cNvPr id="17" name="Text 15"/>
          <p:cNvSpPr/>
          <p:nvPr/>
        </p:nvSpPr>
        <p:spPr>
          <a:xfrm>
            <a:off x="452991" y="2913017"/>
            <a:ext cx="1691640" cy="621792"/>
          </a:xfrm>
          <a:prstGeom prst="rect">
            <a:avLst/>
          </a:prstGeom>
          <a:noFill/>
          <a:ln/>
        </p:spPr>
        <p:txBody>
          <a:bodyPr wrap="square" rtlCol="0" anchor="ctr"/>
          <a:lstStyle/>
          <a:p>
            <a:pPr marL="0" indent="0" algn="ctr">
              <a:buNone/>
            </a:pPr>
            <a:r>
              <a:rPr lang="en-US" sz="1400" b="1" dirty="0">
                <a:solidFill>
                  <a:srgbClr val="FF6D00"/>
                </a:solidFill>
                <a:latin typeface="Calibri" pitchFamily="34" charset="0"/>
                <a:ea typeface="Calibri" pitchFamily="34" charset="-122"/>
                <a:cs typeface="Calibri" pitchFamily="34" charset="-120"/>
              </a:rPr>
              <a:t>Elbow</a:t>
            </a:r>
            <a:endParaRPr lang="en-US" sz="1400" dirty="0"/>
          </a:p>
          <a:p>
            <a:pPr marL="0" indent="0" algn="ctr">
              <a:buNone/>
            </a:pPr>
            <a:r>
              <a:rPr lang="en-US" sz="1400" b="1" dirty="0">
                <a:solidFill>
                  <a:srgbClr val="FF6D00"/>
                </a:solidFill>
                <a:latin typeface="Calibri" pitchFamily="34" charset="0"/>
                <a:ea typeface="Calibri" pitchFamily="34" charset="-122"/>
                <a:cs typeface="Calibri" pitchFamily="34" charset="-120"/>
              </a:rPr>
              <a:t>Bends &amp; extends</a:t>
            </a:r>
            <a:endParaRPr lang="en-US" sz="1400" dirty="0"/>
          </a:p>
        </p:txBody>
      </p:sp>
      <p:sp>
        <p:nvSpPr>
          <p:cNvPr id="18" name="Shape 16"/>
          <p:cNvSpPr/>
          <p:nvPr/>
        </p:nvSpPr>
        <p:spPr>
          <a:xfrm>
            <a:off x="452991" y="2019191"/>
            <a:ext cx="1691640" cy="621792"/>
          </a:xfrm>
          <a:prstGeom prst="roundRect">
            <a:avLst>
              <a:gd name="adj" fmla="val 11765"/>
            </a:avLst>
          </a:prstGeom>
          <a:solidFill>
            <a:srgbClr val="1A2A3D"/>
          </a:solidFill>
          <a:ln w="12700">
            <a:solidFill>
              <a:srgbClr val="E91E8C"/>
            </a:solidFill>
            <a:prstDash val="solid"/>
          </a:ln>
        </p:spPr>
        <p:txBody>
          <a:bodyPr/>
          <a:lstStyle/>
          <a:p>
            <a:endParaRPr lang="en-US"/>
          </a:p>
        </p:txBody>
      </p:sp>
      <p:sp>
        <p:nvSpPr>
          <p:cNvPr id="19" name="Text 17"/>
          <p:cNvSpPr/>
          <p:nvPr/>
        </p:nvSpPr>
        <p:spPr>
          <a:xfrm>
            <a:off x="452991" y="2019191"/>
            <a:ext cx="1691640" cy="621792"/>
          </a:xfrm>
          <a:prstGeom prst="rect">
            <a:avLst/>
          </a:prstGeom>
          <a:noFill/>
          <a:ln/>
        </p:spPr>
        <p:txBody>
          <a:bodyPr wrap="square" rtlCol="0" anchor="ctr"/>
          <a:lstStyle/>
          <a:p>
            <a:pPr marL="0" indent="0" algn="ctr">
              <a:buNone/>
            </a:pPr>
            <a:r>
              <a:rPr lang="en-US" sz="1400" b="1" dirty="0">
                <a:solidFill>
                  <a:srgbClr val="E91E8C"/>
                </a:solidFill>
                <a:latin typeface="Calibri" pitchFamily="34" charset="0"/>
                <a:ea typeface="Calibri" pitchFamily="34" charset="-122"/>
                <a:cs typeface="Calibri" pitchFamily="34" charset="-120"/>
              </a:rPr>
              <a:t>Wrist</a:t>
            </a:r>
            <a:endParaRPr lang="en-US" sz="1400" dirty="0"/>
          </a:p>
          <a:p>
            <a:pPr marL="0" indent="0" algn="ctr">
              <a:buNone/>
            </a:pPr>
            <a:r>
              <a:rPr lang="en-US" sz="1400" b="1" dirty="0">
                <a:solidFill>
                  <a:srgbClr val="E91E8C"/>
                </a:solidFill>
                <a:latin typeface="Calibri" pitchFamily="34" charset="0"/>
                <a:ea typeface="Calibri" pitchFamily="34" charset="-122"/>
                <a:cs typeface="Calibri" pitchFamily="34" charset="-120"/>
              </a:rPr>
              <a:t>Twists &amp; tilts</a:t>
            </a:r>
            <a:endParaRPr lang="en-US" sz="1400" dirty="0"/>
          </a:p>
        </p:txBody>
      </p:sp>
      <p:sp>
        <p:nvSpPr>
          <p:cNvPr id="20" name="Shape 18"/>
          <p:cNvSpPr/>
          <p:nvPr/>
        </p:nvSpPr>
        <p:spPr>
          <a:xfrm>
            <a:off x="452991" y="1103648"/>
            <a:ext cx="1691640" cy="621792"/>
          </a:xfrm>
          <a:prstGeom prst="roundRect">
            <a:avLst>
              <a:gd name="adj" fmla="val 11765"/>
            </a:avLst>
          </a:prstGeom>
          <a:solidFill>
            <a:srgbClr val="1A2A3D"/>
          </a:solidFill>
          <a:ln w="12700">
            <a:solidFill>
              <a:srgbClr val="00BCD4"/>
            </a:solidFill>
            <a:prstDash val="solid"/>
          </a:ln>
        </p:spPr>
        <p:txBody>
          <a:bodyPr/>
          <a:lstStyle/>
          <a:p>
            <a:endParaRPr lang="en-US"/>
          </a:p>
        </p:txBody>
      </p:sp>
      <p:sp>
        <p:nvSpPr>
          <p:cNvPr id="21" name="Text 19"/>
          <p:cNvSpPr/>
          <p:nvPr/>
        </p:nvSpPr>
        <p:spPr>
          <a:xfrm>
            <a:off x="452991" y="1103648"/>
            <a:ext cx="1691640" cy="621792"/>
          </a:xfrm>
          <a:prstGeom prst="rect">
            <a:avLst/>
          </a:prstGeom>
          <a:noFill/>
          <a:ln/>
        </p:spPr>
        <p:txBody>
          <a:bodyPr wrap="square" rtlCol="0" anchor="ctr"/>
          <a:lstStyle/>
          <a:p>
            <a:pPr marL="0" indent="0" algn="ctr">
              <a:buNone/>
            </a:pPr>
            <a:r>
              <a:rPr lang="en-US" sz="1400" b="1" dirty="0">
                <a:solidFill>
                  <a:srgbClr val="00BCD4"/>
                </a:solidFill>
                <a:latin typeface="Calibri" pitchFamily="34" charset="0"/>
                <a:ea typeface="Calibri" pitchFamily="34" charset="-122"/>
                <a:cs typeface="Calibri" pitchFamily="34" charset="-120"/>
              </a:rPr>
              <a:t>Gripper</a:t>
            </a:r>
            <a:endParaRPr lang="en-US" sz="1400" dirty="0"/>
          </a:p>
          <a:p>
            <a:pPr marL="0" indent="0" algn="ctr">
              <a:buNone/>
            </a:pPr>
            <a:r>
              <a:rPr lang="en-US" sz="1400" b="1" dirty="0">
                <a:solidFill>
                  <a:srgbClr val="00BCD4"/>
                </a:solidFill>
                <a:latin typeface="Calibri" pitchFamily="34" charset="0"/>
                <a:ea typeface="Calibri" pitchFamily="34" charset="-122"/>
                <a:cs typeface="Calibri" pitchFamily="34" charset="-120"/>
              </a:rPr>
              <a:t>Opens &amp; closes</a:t>
            </a:r>
            <a:endParaRPr lang="en-US" sz="1400" dirty="0"/>
          </a:p>
        </p:txBody>
      </p:sp>
      <p:sp>
        <p:nvSpPr>
          <p:cNvPr id="23" name="Text 21"/>
          <p:cNvSpPr/>
          <p:nvPr/>
        </p:nvSpPr>
        <p:spPr>
          <a:xfrm>
            <a:off x="274320" y="4681728"/>
            <a:ext cx="8595360" cy="347472"/>
          </a:xfrm>
          <a:prstGeom prst="rect">
            <a:avLst/>
          </a:prstGeom>
          <a:noFill/>
          <a:ln/>
        </p:spPr>
        <p:txBody>
          <a:bodyPr wrap="square" lIns="0" tIns="0" rIns="0" bIns="0" rtlCol="0" anchor="ctr"/>
          <a:lstStyle/>
          <a:p>
            <a:pPr marL="0" indent="0" algn="ctr">
              <a:buNone/>
            </a:pPr>
            <a:r>
              <a:rPr lang="en-US" sz="1800" b="1" dirty="0">
                <a:solidFill>
                  <a:srgbClr val="1A1A2E"/>
                </a:solidFill>
                <a:latin typeface="Calibri" pitchFamily="34" charset="0"/>
                <a:ea typeface="Calibri" pitchFamily="34" charset="-122"/>
                <a:cs typeface="Calibri" pitchFamily="34" charset="-120"/>
              </a:rPr>
              <a:t>What parts of YOUR body does this remind you of?</a:t>
            </a:r>
            <a:endParaRPr lang="en-US" sz="1800" dirty="0"/>
          </a:p>
        </p:txBody>
      </p:sp>
      <p:pic>
        <p:nvPicPr>
          <p:cNvPr id="25" name="Picture 24" descr="认识机械臂的坐标系系统-安逸的机器人学 - 古月居">
            <a:extLst>
              <a:ext uri="{FF2B5EF4-FFF2-40B4-BE49-F238E27FC236}">
                <a16:creationId xmlns:a16="http://schemas.microsoft.com/office/drawing/2014/main" id="{A0018011-FB49-068B-1E61-465AD0A6E8EE}"/>
              </a:ext>
            </a:extLst>
          </p:cNvPr>
          <p:cNvPicPr>
            <a:picLocks noChangeAspect="1"/>
          </p:cNvPicPr>
          <p:nvPr/>
        </p:nvPicPr>
        <p:blipFill>
          <a:blip r:embed="rId3"/>
          <a:stretch>
            <a:fillRect/>
          </a:stretch>
        </p:blipFill>
        <p:spPr>
          <a:xfrm>
            <a:off x="2414740" y="1171574"/>
            <a:ext cx="6063580" cy="325412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F"/>
        </a:solidFill>
        <a:effectLst/>
      </p:bgPr>
    </p:bg>
    <p:spTree>
      <p:nvGrpSpPr>
        <p:cNvPr id="1" name=""/>
        <p:cNvGrpSpPr/>
        <p:nvPr/>
      </p:nvGrpSpPr>
      <p:grpSpPr>
        <a:xfrm>
          <a:off x="0" y="0"/>
          <a:ext cx="0" cy="0"/>
          <a:chOff x="0" y="0"/>
          <a:chExt cx="0" cy="0"/>
        </a:xfrm>
      </p:grpSpPr>
      <p:sp>
        <p:nvSpPr>
          <p:cNvPr id="2" name="Text 0"/>
          <p:cNvSpPr/>
          <p:nvPr/>
        </p:nvSpPr>
        <p:spPr>
          <a:xfrm>
            <a:off x="365760" y="91440"/>
            <a:ext cx="8412480" cy="530352"/>
          </a:xfrm>
          <a:prstGeom prst="rect">
            <a:avLst/>
          </a:prstGeom>
          <a:noFill/>
          <a:ln/>
        </p:spPr>
        <p:txBody>
          <a:bodyPr wrap="square" rtlCol="0" anchor="ctr"/>
          <a:lstStyle/>
          <a:p>
            <a:pPr marL="0" indent="0" algn="l">
              <a:buNone/>
            </a:pPr>
            <a:r>
              <a:rPr lang="en-US" sz="3600" b="1" dirty="0">
                <a:solidFill>
                  <a:srgbClr val="1565C0"/>
                </a:solidFill>
                <a:latin typeface="Calibri" pitchFamily="34" charset="0"/>
                <a:ea typeface="Calibri" pitchFamily="34" charset="-122"/>
                <a:cs typeface="Calibri" pitchFamily="34" charset="-120"/>
              </a:rPr>
              <a:t>Your First Robotics Challenge</a:t>
            </a:r>
            <a:endParaRPr lang="en-US" sz="3600" dirty="0"/>
          </a:p>
        </p:txBody>
      </p:sp>
      <p:sp>
        <p:nvSpPr>
          <p:cNvPr id="3" name="Shape 1"/>
          <p:cNvSpPr/>
          <p:nvPr/>
        </p:nvSpPr>
        <p:spPr>
          <a:xfrm>
            <a:off x="2083523" y="749808"/>
            <a:ext cx="5029200" cy="3822192"/>
          </a:xfrm>
          <a:prstGeom prst="roundRect">
            <a:avLst>
              <a:gd name="adj" fmla="val 2871"/>
            </a:avLst>
          </a:prstGeom>
          <a:solidFill>
            <a:srgbClr val="EBF5FB"/>
          </a:solidFill>
          <a:ln w="12700">
            <a:solidFill>
              <a:srgbClr val="EBF5FB"/>
            </a:solidFill>
            <a:prstDash val="solid"/>
          </a:ln>
          <a:effectLst>
            <a:outerShdw blurRad="101600" dist="38100" dir="2700000" algn="bl" rotWithShape="0">
              <a:srgbClr val="000000">
                <a:alpha val="18000"/>
              </a:srgbClr>
            </a:outerShdw>
          </a:effectLst>
        </p:spPr>
        <p:txBody>
          <a:bodyPr/>
          <a:lstStyle/>
          <a:p>
            <a:endParaRPr lang="en-US"/>
          </a:p>
        </p:txBody>
      </p:sp>
      <p:sp>
        <p:nvSpPr>
          <p:cNvPr id="4" name="Text 2"/>
          <p:cNvSpPr/>
          <p:nvPr/>
        </p:nvSpPr>
        <p:spPr>
          <a:xfrm>
            <a:off x="2266403" y="868680"/>
            <a:ext cx="4663440" cy="347472"/>
          </a:xfrm>
          <a:prstGeom prst="rect">
            <a:avLst/>
          </a:prstGeom>
          <a:noFill/>
          <a:ln/>
        </p:spPr>
        <p:txBody>
          <a:bodyPr wrap="square" rtlCol="0" anchor="ctr"/>
          <a:lstStyle/>
          <a:p>
            <a:pPr marL="0" indent="0" algn="l">
              <a:buNone/>
            </a:pPr>
            <a:r>
              <a:rPr lang="en-US" sz="1300" b="1" kern="0" spc="300" dirty="0">
                <a:solidFill>
                  <a:srgbClr val="90A4AE"/>
                </a:solidFill>
                <a:latin typeface="Calibri" pitchFamily="34" charset="0"/>
                <a:ea typeface="Calibri" pitchFamily="34" charset="-122"/>
                <a:cs typeface="Calibri" pitchFamily="34" charset="-120"/>
              </a:rPr>
              <a:t>THE TASK:</a:t>
            </a:r>
            <a:endParaRPr lang="en-US" sz="1300" dirty="0"/>
          </a:p>
        </p:txBody>
      </p:sp>
      <p:sp>
        <p:nvSpPr>
          <p:cNvPr id="5" name="Text 3"/>
          <p:cNvSpPr/>
          <p:nvPr/>
        </p:nvSpPr>
        <p:spPr>
          <a:xfrm>
            <a:off x="2266403" y="1234440"/>
            <a:ext cx="4663440" cy="530352"/>
          </a:xfrm>
          <a:prstGeom prst="rect">
            <a:avLst/>
          </a:prstGeom>
          <a:noFill/>
          <a:ln/>
        </p:spPr>
        <p:txBody>
          <a:bodyPr wrap="square" rtlCol="0" anchor="ctr"/>
          <a:lstStyle/>
          <a:p>
            <a:pPr marL="0" indent="0">
              <a:buNone/>
            </a:pPr>
            <a:r>
              <a:rPr lang="en-US" sz="2600" b="1" dirty="0">
                <a:solidFill>
                  <a:srgbClr val="1565C0"/>
                </a:solidFill>
                <a:latin typeface="Calibri" pitchFamily="34" charset="0"/>
                <a:ea typeface="Calibri" pitchFamily="34" charset="-122"/>
                <a:cs typeface="Calibri" pitchFamily="34" charset="-120"/>
              </a:rPr>
              <a:t>Can you teach a robot this?</a:t>
            </a:r>
            <a:endParaRPr lang="en-US" sz="2600" dirty="0"/>
          </a:p>
        </p:txBody>
      </p:sp>
      <p:sp>
        <p:nvSpPr>
          <p:cNvPr id="6" name="Shape 4"/>
          <p:cNvSpPr/>
          <p:nvPr/>
        </p:nvSpPr>
        <p:spPr>
          <a:xfrm>
            <a:off x="3180803" y="2834640"/>
            <a:ext cx="1554480" cy="1234440"/>
          </a:xfrm>
          <a:prstGeom prst="rect">
            <a:avLst/>
          </a:prstGeom>
          <a:solidFill>
            <a:srgbClr val="FF6D00"/>
          </a:solidFill>
          <a:ln w="12700">
            <a:solidFill>
              <a:srgbClr val="BF360C"/>
            </a:solidFill>
            <a:prstDash val="solid"/>
          </a:ln>
          <a:effectLst>
            <a:outerShdw blurRad="101600" dist="38100" dir="2700000" algn="bl" rotWithShape="0">
              <a:srgbClr val="000000">
                <a:alpha val="18000"/>
              </a:srgbClr>
            </a:outerShdw>
          </a:effectLst>
        </p:spPr>
        <p:txBody>
          <a:bodyPr/>
          <a:lstStyle/>
          <a:p>
            <a:endParaRPr lang="en-US"/>
          </a:p>
        </p:txBody>
      </p:sp>
      <p:sp>
        <p:nvSpPr>
          <p:cNvPr id="7" name="Text 5"/>
          <p:cNvSpPr/>
          <p:nvPr/>
        </p:nvSpPr>
        <p:spPr>
          <a:xfrm>
            <a:off x="3180803" y="2834640"/>
            <a:ext cx="1554480" cy="123444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Cube B</a:t>
            </a:r>
            <a:endParaRPr lang="en-US" sz="1800" dirty="0"/>
          </a:p>
        </p:txBody>
      </p:sp>
      <p:sp>
        <p:nvSpPr>
          <p:cNvPr id="8" name="Shape 6"/>
          <p:cNvSpPr/>
          <p:nvPr/>
        </p:nvSpPr>
        <p:spPr>
          <a:xfrm>
            <a:off x="3363683" y="1869291"/>
            <a:ext cx="1143000" cy="960120"/>
          </a:xfrm>
          <a:prstGeom prst="rect">
            <a:avLst/>
          </a:prstGeom>
          <a:solidFill>
            <a:srgbClr val="00BCD4"/>
          </a:solidFill>
          <a:ln w="12700">
            <a:solidFill>
              <a:srgbClr val="006064"/>
            </a:solidFill>
            <a:prstDash val="solid"/>
          </a:ln>
          <a:effectLst>
            <a:outerShdw blurRad="101600" dist="38100" dir="2700000" algn="bl" rotWithShape="0">
              <a:srgbClr val="000000">
                <a:alpha val="18000"/>
              </a:srgbClr>
            </a:outerShdw>
          </a:effectLst>
        </p:spPr>
        <p:txBody>
          <a:bodyPr/>
          <a:lstStyle/>
          <a:p>
            <a:endParaRPr lang="en-US"/>
          </a:p>
        </p:txBody>
      </p:sp>
      <p:sp>
        <p:nvSpPr>
          <p:cNvPr id="9" name="Text 7"/>
          <p:cNvSpPr/>
          <p:nvPr/>
        </p:nvSpPr>
        <p:spPr>
          <a:xfrm>
            <a:off x="3363683" y="1810512"/>
            <a:ext cx="1143000" cy="960120"/>
          </a:xfrm>
          <a:prstGeom prst="rect">
            <a:avLst/>
          </a:prstGeom>
          <a:noFill/>
          <a:ln/>
        </p:spPr>
        <p:txBody>
          <a:bodyPr wrap="square" rtlCol="0" anchor="ctr"/>
          <a:lstStyle/>
          <a:p>
            <a:pPr marL="0" indent="0" algn="ctr">
              <a:buNone/>
            </a:pPr>
            <a:r>
              <a:rPr lang="en-US" sz="1600" b="1" dirty="0">
                <a:solidFill>
                  <a:srgbClr val="1A1A2E"/>
                </a:solidFill>
                <a:latin typeface="Calibri" pitchFamily="34" charset="0"/>
                <a:ea typeface="Calibri" pitchFamily="34" charset="-122"/>
                <a:cs typeface="Calibri" pitchFamily="34" charset="-120"/>
              </a:rPr>
              <a:t>Cube A</a:t>
            </a:r>
            <a:endParaRPr lang="en-US" sz="1600" dirty="0"/>
          </a:p>
        </p:txBody>
      </p:sp>
      <p:sp>
        <p:nvSpPr>
          <p:cNvPr id="10" name="Shape 8"/>
          <p:cNvSpPr/>
          <p:nvPr/>
        </p:nvSpPr>
        <p:spPr>
          <a:xfrm>
            <a:off x="5055323" y="2834640"/>
            <a:ext cx="0" cy="0"/>
          </a:xfrm>
          <a:prstGeom prst="line">
            <a:avLst/>
          </a:prstGeom>
          <a:noFill/>
          <a:ln w="25400">
            <a:solidFill>
              <a:srgbClr val="1565C0"/>
            </a:solidFill>
            <a:prstDash val="solid"/>
          </a:ln>
        </p:spPr>
        <p:txBody>
          <a:bodyPr/>
          <a:lstStyle/>
          <a:p>
            <a:endParaRPr lang="en-US"/>
          </a:p>
        </p:txBody>
      </p:sp>
      <p:sp>
        <p:nvSpPr>
          <p:cNvPr id="11" name="Text 9"/>
          <p:cNvSpPr/>
          <p:nvPr/>
        </p:nvSpPr>
        <p:spPr>
          <a:xfrm>
            <a:off x="5119331" y="2286000"/>
            <a:ext cx="1737360" cy="384048"/>
          </a:xfrm>
          <a:prstGeom prst="rect">
            <a:avLst/>
          </a:prstGeom>
          <a:noFill/>
          <a:ln/>
        </p:spPr>
        <p:txBody>
          <a:bodyPr wrap="square" rtlCol="0" anchor="ctr"/>
          <a:lstStyle/>
          <a:p>
            <a:pPr marL="0" indent="0">
              <a:buNone/>
            </a:pPr>
            <a:r>
              <a:rPr lang="en-US" sz="1400" b="1" dirty="0">
                <a:solidFill>
                  <a:srgbClr val="2E7D32"/>
                </a:solidFill>
                <a:latin typeface="Calibri" pitchFamily="34" charset="0"/>
                <a:ea typeface="Calibri" pitchFamily="34" charset="-122"/>
                <a:cs typeface="Calibri" pitchFamily="34" charset="-120"/>
              </a:rPr>
              <a:t>Stack A on B!</a:t>
            </a:r>
            <a:endParaRPr lang="en-US" sz="1400" dirty="0"/>
          </a:p>
        </p:txBody>
      </p:sp>
      <p:sp>
        <p:nvSpPr>
          <p:cNvPr id="12" name="Text 10"/>
          <p:cNvSpPr/>
          <p:nvPr/>
        </p:nvSpPr>
        <p:spPr>
          <a:xfrm>
            <a:off x="2193251" y="4160520"/>
            <a:ext cx="4754880" cy="347472"/>
          </a:xfrm>
          <a:prstGeom prst="rect">
            <a:avLst/>
          </a:prstGeom>
          <a:noFill/>
          <a:ln/>
        </p:spPr>
        <p:txBody>
          <a:bodyPr wrap="square" rtlCol="0" anchor="ctr"/>
          <a:lstStyle/>
          <a:p>
            <a:pPr marL="0" indent="0" algn="ctr">
              <a:buNone/>
            </a:pPr>
            <a:r>
              <a:rPr lang="en-US" sz="1400" dirty="0">
                <a:solidFill>
                  <a:srgbClr val="546E7A"/>
                </a:solidFill>
                <a:latin typeface="Calibri" pitchFamily="34" charset="0"/>
                <a:ea typeface="Calibri" pitchFamily="34" charset="-122"/>
                <a:cs typeface="Calibri" pitchFamily="34" charset="-120"/>
              </a:rPr>
              <a:t>Place Cube A on top of Cube B</a:t>
            </a:r>
            <a:endParaRPr lang="en-US" sz="1400" dirty="0"/>
          </a:p>
        </p:txBody>
      </p:sp>
      <p:sp>
        <p:nvSpPr>
          <p:cNvPr id="27" name="Shape 25"/>
          <p:cNvSpPr/>
          <p:nvPr/>
        </p:nvSpPr>
        <p:spPr>
          <a:xfrm>
            <a:off x="274320" y="4645152"/>
            <a:ext cx="8595360" cy="365760"/>
          </a:xfrm>
          <a:prstGeom prst="roundRect">
            <a:avLst>
              <a:gd name="adj" fmla="val 25000"/>
            </a:avLst>
          </a:prstGeom>
          <a:solidFill>
            <a:srgbClr val="1565C0"/>
          </a:solidFill>
          <a:ln w="12700">
            <a:solidFill>
              <a:srgbClr val="1565C0"/>
            </a:solidFill>
            <a:prstDash val="solid"/>
          </a:ln>
        </p:spPr>
        <p:txBody>
          <a:bodyPr/>
          <a:lstStyle/>
          <a:p>
            <a:endParaRPr lang="en-US"/>
          </a:p>
        </p:txBody>
      </p:sp>
      <p:sp>
        <p:nvSpPr>
          <p:cNvPr id="28" name="Text 26"/>
          <p:cNvSpPr/>
          <p:nvPr/>
        </p:nvSpPr>
        <p:spPr>
          <a:xfrm>
            <a:off x="274320" y="4645152"/>
            <a:ext cx="859536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Sounds easy... right?  (Spoiler: it is NOT.)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365760" y="73152"/>
            <a:ext cx="8412480" cy="530352"/>
          </a:xfrm>
          <a:prstGeom prst="rect">
            <a:avLst/>
          </a:prstGeom>
          <a:noFill/>
          <a:ln/>
        </p:spPr>
        <p:txBody>
          <a:bodyPr wrap="square" rtlCol="0" anchor="ctr"/>
          <a:lstStyle/>
          <a:p>
            <a:pPr marL="0" indent="0" algn="l">
              <a:buNone/>
            </a:pPr>
            <a:r>
              <a:rPr lang="en-US" sz="3200" b="1" dirty="0">
                <a:solidFill>
                  <a:srgbClr val="FFD600"/>
                </a:solidFill>
                <a:latin typeface="Calibri" pitchFamily="34" charset="0"/>
                <a:ea typeface="Calibri" pitchFamily="34" charset="-122"/>
                <a:cs typeface="Calibri" pitchFamily="34" charset="-120"/>
              </a:rPr>
              <a:t>Turns Out It's Harder Than It Looks!</a:t>
            </a:r>
            <a:endParaRPr lang="en-US" sz="3200" dirty="0"/>
          </a:p>
        </p:txBody>
      </p:sp>
      <p:sp>
        <p:nvSpPr>
          <p:cNvPr id="3" name="Text 1"/>
          <p:cNvSpPr/>
          <p:nvPr/>
        </p:nvSpPr>
        <p:spPr>
          <a:xfrm>
            <a:off x="365760" y="603504"/>
            <a:ext cx="8412480" cy="274320"/>
          </a:xfrm>
          <a:prstGeom prst="rect">
            <a:avLst/>
          </a:prstGeom>
          <a:noFill/>
          <a:ln/>
        </p:spPr>
        <p:txBody>
          <a:bodyPr wrap="square" rtlCol="0" anchor="ctr"/>
          <a:lstStyle/>
          <a:p>
            <a:pPr marL="0" indent="0">
              <a:buNone/>
            </a:pPr>
            <a:r>
              <a:rPr lang="en-US" sz="1600" i="1" dirty="0">
                <a:solidFill>
                  <a:srgbClr val="90A4AE"/>
                </a:solidFill>
                <a:latin typeface="Calibri" pitchFamily="34" charset="0"/>
                <a:ea typeface="Calibri" pitchFamily="34" charset="-122"/>
                <a:cs typeface="Calibri" pitchFamily="34" charset="-120"/>
              </a:rPr>
              <a:t>Every tiny step must be spelled out for the robot:</a:t>
            </a:r>
            <a:endParaRPr lang="en-US" sz="1600" dirty="0"/>
          </a:p>
        </p:txBody>
      </p:sp>
      <p:sp>
        <p:nvSpPr>
          <p:cNvPr id="4" name="Shape 2"/>
          <p:cNvSpPr/>
          <p:nvPr/>
        </p:nvSpPr>
        <p:spPr>
          <a:xfrm>
            <a:off x="228600" y="960120"/>
            <a:ext cx="2743200" cy="1078992"/>
          </a:xfrm>
          <a:prstGeom prst="roundRect">
            <a:avLst>
              <a:gd name="adj" fmla="val 8475"/>
            </a:avLst>
          </a:prstGeom>
          <a:solidFill>
            <a:srgbClr val="0D3558"/>
          </a:solidFill>
          <a:ln w="19050">
            <a:solidFill>
              <a:srgbClr val="00BCD4"/>
            </a:solidFill>
            <a:prstDash val="solid"/>
          </a:ln>
          <a:effectLst>
            <a:outerShdw blurRad="101600" dist="38100" dir="2700000" algn="bl" rotWithShape="0">
              <a:srgbClr val="000000">
                <a:alpha val="18000"/>
              </a:srgbClr>
            </a:outerShdw>
          </a:effectLst>
        </p:spPr>
        <p:txBody>
          <a:bodyPr/>
          <a:lstStyle/>
          <a:p>
            <a:endParaRPr lang="en-US"/>
          </a:p>
        </p:txBody>
      </p:sp>
      <p:sp>
        <p:nvSpPr>
          <p:cNvPr id="5" name="Shape 3"/>
          <p:cNvSpPr/>
          <p:nvPr/>
        </p:nvSpPr>
        <p:spPr>
          <a:xfrm>
            <a:off x="320040" y="1069848"/>
            <a:ext cx="804672" cy="804672"/>
          </a:xfrm>
          <a:prstGeom prst="ellipse">
            <a:avLst/>
          </a:prstGeom>
          <a:solidFill>
            <a:srgbClr val="00BCD4"/>
          </a:solidFill>
          <a:ln w="12700">
            <a:solidFill>
              <a:srgbClr val="00BCD4"/>
            </a:solidFill>
            <a:prstDash val="solid"/>
          </a:ln>
          <a:effectLst>
            <a:outerShdw blurRad="101600" dist="38100" dir="2700000" algn="bl" rotWithShape="0">
              <a:srgbClr val="000000">
                <a:alpha val="18000"/>
              </a:srgbClr>
            </a:outerShdw>
          </a:effectLst>
        </p:spPr>
        <p:txBody>
          <a:bodyPr/>
          <a:lstStyle/>
          <a:p>
            <a:endParaRPr lang="en-US"/>
          </a:p>
        </p:txBody>
      </p:sp>
      <p:sp>
        <p:nvSpPr>
          <p:cNvPr id="6" name="Text 4"/>
          <p:cNvSpPr/>
          <p:nvPr/>
        </p:nvSpPr>
        <p:spPr>
          <a:xfrm>
            <a:off x="320040" y="1069848"/>
            <a:ext cx="804672" cy="8046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LOOK</a:t>
            </a:r>
            <a:endParaRPr lang="en-US" sz="1300" dirty="0"/>
          </a:p>
        </p:txBody>
      </p:sp>
      <p:sp>
        <p:nvSpPr>
          <p:cNvPr id="7" name="Text 5"/>
          <p:cNvSpPr/>
          <p:nvPr/>
        </p:nvSpPr>
        <p:spPr>
          <a:xfrm>
            <a:off x="1234440" y="1069848"/>
            <a:ext cx="1627632" cy="438912"/>
          </a:xfrm>
          <a:prstGeom prst="rect">
            <a:avLst/>
          </a:prstGeom>
          <a:noFill/>
          <a:ln/>
        </p:spPr>
        <p:txBody>
          <a:bodyPr wrap="square" rtlCol="0" anchor="ctr"/>
          <a:lstStyle/>
          <a:p>
            <a:pPr marL="0" indent="0">
              <a:buNone/>
            </a:pPr>
            <a:r>
              <a:rPr lang="en-US" sz="1500" b="1" dirty="0">
                <a:solidFill>
                  <a:srgbClr val="00BCD4"/>
                </a:solidFill>
                <a:latin typeface="Calibri" pitchFamily="34" charset="0"/>
                <a:ea typeface="Calibri" pitchFamily="34" charset="-122"/>
                <a:cs typeface="Calibri" pitchFamily="34" charset="-120"/>
              </a:rPr>
              <a:t>1. Find the cube</a:t>
            </a:r>
            <a:endParaRPr lang="en-US" sz="1500" dirty="0"/>
          </a:p>
        </p:txBody>
      </p:sp>
      <p:sp>
        <p:nvSpPr>
          <p:cNvPr id="8" name="Text 6"/>
          <p:cNvSpPr/>
          <p:nvPr/>
        </p:nvSpPr>
        <p:spPr>
          <a:xfrm>
            <a:off x="1234440" y="1508760"/>
            <a:ext cx="1627632" cy="365760"/>
          </a:xfrm>
          <a:prstGeom prst="rect">
            <a:avLst/>
          </a:prstGeom>
          <a:noFill/>
          <a:ln/>
        </p:spPr>
        <p:txBody>
          <a:bodyPr wrap="square" rtlCol="0" anchor="ctr"/>
          <a:lstStyle/>
          <a:p>
            <a:pPr marL="0" indent="0">
              <a:buNone/>
            </a:pPr>
            <a:r>
              <a:rPr lang="en-US" sz="1200" dirty="0">
                <a:solidFill>
                  <a:srgbClr val="90A4AE"/>
                </a:solidFill>
                <a:latin typeface="Calibri" pitchFamily="34" charset="0"/>
                <a:ea typeface="Calibri" pitchFamily="34" charset="-122"/>
                <a:cs typeface="Calibri" pitchFamily="34" charset="-120"/>
              </a:rPr>
              <a:t>Camera locates it</a:t>
            </a:r>
            <a:endParaRPr lang="en-US" sz="1200" dirty="0"/>
          </a:p>
        </p:txBody>
      </p:sp>
      <p:sp>
        <p:nvSpPr>
          <p:cNvPr id="9" name="Shape 7"/>
          <p:cNvSpPr/>
          <p:nvPr/>
        </p:nvSpPr>
        <p:spPr>
          <a:xfrm>
            <a:off x="3227832" y="960120"/>
            <a:ext cx="2743200" cy="1078992"/>
          </a:xfrm>
          <a:prstGeom prst="roundRect">
            <a:avLst>
              <a:gd name="adj" fmla="val 8475"/>
            </a:avLst>
          </a:prstGeom>
          <a:solidFill>
            <a:srgbClr val="0D3558"/>
          </a:solidFill>
          <a:ln w="19050">
            <a:solidFill>
              <a:srgbClr val="1565C0"/>
            </a:solidFill>
            <a:prstDash val="solid"/>
          </a:ln>
          <a:effectLst>
            <a:outerShdw blurRad="101600" dist="38100" dir="2700000" algn="bl" rotWithShape="0">
              <a:srgbClr val="000000">
                <a:alpha val="18000"/>
              </a:srgbClr>
            </a:outerShdw>
          </a:effectLst>
        </p:spPr>
        <p:txBody>
          <a:bodyPr/>
          <a:lstStyle/>
          <a:p>
            <a:endParaRPr lang="en-US"/>
          </a:p>
        </p:txBody>
      </p:sp>
      <p:sp>
        <p:nvSpPr>
          <p:cNvPr id="10" name="Shape 8"/>
          <p:cNvSpPr/>
          <p:nvPr/>
        </p:nvSpPr>
        <p:spPr>
          <a:xfrm>
            <a:off x="3319272" y="1069848"/>
            <a:ext cx="804672" cy="804672"/>
          </a:xfrm>
          <a:prstGeom prst="ellipse">
            <a:avLst/>
          </a:prstGeom>
          <a:solidFill>
            <a:srgbClr val="1565C0"/>
          </a:solidFill>
          <a:ln w="12700">
            <a:solidFill>
              <a:srgbClr val="1565C0"/>
            </a:solidFill>
            <a:prstDash val="solid"/>
          </a:ln>
          <a:effectLst>
            <a:outerShdw blurRad="101600" dist="38100" dir="2700000" algn="bl" rotWithShape="0">
              <a:srgbClr val="000000">
                <a:alpha val="18000"/>
              </a:srgbClr>
            </a:outerShdw>
          </a:effectLst>
        </p:spPr>
        <p:txBody>
          <a:bodyPr/>
          <a:lstStyle/>
          <a:p>
            <a:endParaRPr lang="en-US"/>
          </a:p>
        </p:txBody>
      </p:sp>
      <p:sp>
        <p:nvSpPr>
          <p:cNvPr id="11" name="Text 9"/>
          <p:cNvSpPr/>
          <p:nvPr/>
        </p:nvSpPr>
        <p:spPr>
          <a:xfrm>
            <a:off x="3319272" y="1069848"/>
            <a:ext cx="804672" cy="8046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ARM</a:t>
            </a:r>
            <a:endParaRPr lang="en-US" sz="1300" dirty="0"/>
          </a:p>
        </p:txBody>
      </p:sp>
      <p:sp>
        <p:nvSpPr>
          <p:cNvPr id="12" name="Text 10"/>
          <p:cNvSpPr/>
          <p:nvPr/>
        </p:nvSpPr>
        <p:spPr>
          <a:xfrm>
            <a:off x="4233672" y="1069848"/>
            <a:ext cx="1627632" cy="438912"/>
          </a:xfrm>
          <a:prstGeom prst="rect">
            <a:avLst/>
          </a:prstGeom>
          <a:noFill/>
          <a:ln/>
        </p:spPr>
        <p:txBody>
          <a:bodyPr wrap="square" rtlCol="0" anchor="ctr"/>
          <a:lstStyle/>
          <a:p>
            <a:pPr marL="0" indent="0">
              <a:buNone/>
            </a:pPr>
            <a:r>
              <a:rPr lang="en-US" sz="1500" b="1" dirty="0">
                <a:solidFill>
                  <a:srgbClr val="1565C0"/>
                </a:solidFill>
                <a:latin typeface="Calibri" pitchFamily="34" charset="0"/>
                <a:ea typeface="Calibri" pitchFamily="34" charset="-122"/>
                <a:cs typeface="Calibri" pitchFamily="34" charset="-120"/>
              </a:rPr>
              <a:t>2. Move the arm</a:t>
            </a:r>
            <a:endParaRPr lang="en-US" sz="1500" dirty="0"/>
          </a:p>
        </p:txBody>
      </p:sp>
      <p:sp>
        <p:nvSpPr>
          <p:cNvPr id="13" name="Text 11"/>
          <p:cNvSpPr/>
          <p:nvPr/>
        </p:nvSpPr>
        <p:spPr>
          <a:xfrm>
            <a:off x="4233672" y="1508760"/>
            <a:ext cx="1627632" cy="365760"/>
          </a:xfrm>
          <a:prstGeom prst="rect">
            <a:avLst/>
          </a:prstGeom>
          <a:noFill/>
          <a:ln/>
        </p:spPr>
        <p:txBody>
          <a:bodyPr wrap="square" rtlCol="0" anchor="ctr"/>
          <a:lstStyle/>
          <a:p>
            <a:pPr marL="0" indent="0">
              <a:buNone/>
            </a:pPr>
            <a:r>
              <a:rPr lang="en-US" sz="1200" dirty="0">
                <a:solidFill>
                  <a:srgbClr val="90A4AE"/>
                </a:solidFill>
                <a:latin typeface="Calibri" pitchFamily="34" charset="0"/>
                <a:ea typeface="Calibri" pitchFamily="34" charset="-122"/>
                <a:cs typeface="Calibri" pitchFamily="34" charset="-120"/>
              </a:rPr>
              <a:t>Calculate angles</a:t>
            </a:r>
            <a:endParaRPr lang="en-US" sz="1200" dirty="0"/>
          </a:p>
        </p:txBody>
      </p:sp>
      <p:sp>
        <p:nvSpPr>
          <p:cNvPr id="14" name="Shape 12"/>
          <p:cNvSpPr/>
          <p:nvPr/>
        </p:nvSpPr>
        <p:spPr>
          <a:xfrm>
            <a:off x="6227064" y="960120"/>
            <a:ext cx="2743200" cy="1078992"/>
          </a:xfrm>
          <a:prstGeom prst="roundRect">
            <a:avLst>
              <a:gd name="adj" fmla="val 8475"/>
            </a:avLst>
          </a:prstGeom>
          <a:solidFill>
            <a:srgbClr val="0D3558"/>
          </a:solidFill>
          <a:ln w="19050">
            <a:solidFill>
              <a:srgbClr val="7C3AED"/>
            </a:solidFill>
            <a:prstDash val="solid"/>
          </a:ln>
          <a:effectLst>
            <a:outerShdw blurRad="101600" dist="38100" dir="2700000" algn="bl" rotWithShape="0">
              <a:srgbClr val="000000">
                <a:alpha val="18000"/>
              </a:srgbClr>
            </a:outerShdw>
          </a:effectLst>
        </p:spPr>
        <p:txBody>
          <a:bodyPr/>
          <a:lstStyle/>
          <a:p>
            <a:endParaRPr lang="en-US"/>
          </a:p>
        </p:txBody>
      </p:sp>
      <p:sp>
        <p:nvSpPr>
          <p:cNvPr id="15" name="Shape 13"/>
          <p:cNvSpPr/>
          <p:nvPr/>
        </p:nvSpPr>
        <p:spPr>
          <a:xfrm>
            <a:off x="6318504" y="1069848"/>
            <a:ext cx="804672" cy="804672"/>
          </a:xfrm>
          <a:prstGeom prst="ellipse">
            <a:avLst/>
          </a:prstGeom>
          <a:solidFill>
            <a:srgbClr val="7C3AED"/>
          </a:solidFill>
          <a:ln w="12700">
            <a:solidFill>
              <a:srgbClr val="7C3AED"/>
            </a:solidFill>
            <a:prstDash val="solid"/>
          </a:ln>
          <a:effectLst>
            <a:outerShdw blurRad="101600" dist="38100" dir="2700000" algn="bl" rotWithShape="0">
              <a:srgbClr val="000000">
                <a:alpha val="18000"/>
              </a:srgbClr>
            </a:outerShdw>
          </a:effectLst>
        </p:spPr>
        <p:txBody>
          <a:bodyPr/>
          <a:lstStyle/>
          <a:p>
            <a:endParaRPr lang="en-US"/>
          </a:p>
        </p:txBody>
      </p:sp>
      <p:sp>
        <p:nvSpPr>
          <p:cNvPr id="16" name="Text 14"/>
          <p:cNvSpPr/>
          <p:nvPr/>
        </p:nvSpPr>
        <p:spPr>
          <a:xfrm>
            <a:off x="6318504" y="1069848"/>
            <a:ext cx="804672" cy="8046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OPEN</a:t>
            </a:r>
            <a:endParaRPr lang="en-US" sz="1300" dirty="0"/>
          </a:p>
        </p:txBody>
      </p:sp>
      <p:sp>
        <p:nvSpPr>
          <p:cNvPr id="17" name="Text 15"/>
          <p:cNvSpPr/>
          <p:nvPr/>
        </p:nvSpPr>
        <p:spPr>
          <a:xfrm>
            <a:off x="7232904" y="1069848"/>
            <a:ext cx="1627632" cy="438912"/>
          </a:xfrm>
          <a:prstGeom prst="rect">
            <a:avLst/>
          </a:prstGeom>
          <a:noFill/>
          <a:ln/>
        </p:spPr>
        <p:txBody>
          <a:bodyPr wrap="square" rtlCol="0" anchor="ctr"/>
          <a:lstStyle/>
          <a:p>
            <a:pPr marL="0" indent="0">
              <a:buNone/>
            </a:pPr>
            <a:r>
              <a:rPr lang="en-US" sz="1500" b="1" dirty="0">
                <a:solidFill>
                  <a:srgbClr val="7C3AED"/>
                </a:solidFill>
                <a:latin typeface="Calibri" pitchFamily="34" charset="0"/>
                <a:ea typeface="Calibri" pitchFamily="34" charset="-122"/>
                <a:cs typeface="Calibri" pitchFamily="34" charset="-120"/>
              </a:rPr>
              <a:t>3. Open gripper</a:t>
            </a:r>
            <a:endParaRPr lang="en-US" sz="1500" dirty="0"/>
          </a:p>
        </p:txBody>
      </p:sp>
      <p:sp>
        <p:nvSpPr>
          <p:cNvPr id="18" name="Text 16"/>
          <p:cNvSpPr/>
          <p:nvPr/>
        </p:nvSpPr>
        <p:spPr>
          <a:xfrm>
            <a:off x="7232904" y="1508760"/>
            <a:ext cx="1627632" cy="365760"/>
          </a:xfrm>
          <a:prstGeom prst="rect">
            <a:avLst/>
          </a:prstGeom>
          <a:noFill/>
          <a:ln/>
        </p:spPr>
        <p:txBody>
          <a:bodyPr wrap="square" rtlCol="0" anchor="ctr"/>
          <a:lstStyle/>
          <a:p>
            <a:pPr marL="0" indent="0">
              <a:buNone/>
            </a:pPr>
            <a:r>
              <a:rPr lang="en-US" sz="1200" dirty="0">
                <a:solidFill>
                  <a:srgbClr val="90A4AE"/>
                </a:solidFill>
                <a:latin typeface="Calibri" pitchFamily="34" charset="0"/>
                <a:ea typeface="Calibri" pitchFamily="34" charset="-122"/>
                <a:cs typeface="Calibri" pitchFamily="34" charset="-120"/>
              </a:rPr>
              <a:t>Spread fingers</a:t>
            </a:r>
            <a:endParaRPr lang="en-US" sz="1200" dirty="0"/>
          </a:p>
        </p:txBody>
      </p:sp>
      <p:sp>
        <p:nvSpPr>
          <p:cNvPr id="19" name="Shape 17"/>
          <p:cNvSpPr/>
          <p:nvPr/>
        </p:nvSpPr>
        <p:spPr>
          <a:xfrm>
            <a:off x="228600" y="2130552"/>
            <a:ext cx="2743200" cy="1078992"/>
          </a:xfrm>
          <a:prstGeom prst="roundRect">
            <a:avLst>
              <a:gd name="adj" fmla="val 8475"/>
            </a:avLst>
          </a:prstGeom>
          <a:solidFill>
            <a:srgbClr val="0D3558"/>
          </a:solidFill>
          <a:ln w="19050">
            <a:solidFill>
              <a:srgbClr val="FF6D00"/>
            </a:solidFill>
            <a:prstDash val="solid"/>
          </a:ln>
          <a:effectLst>
            <a:outerShdw blurRad="101600" dist="38100" dir="2700000" algn="bl" rotWithShape="0">
              <a:srgbClr val="000000">
                <a:alpha val="18000"/>
              </a:srgbClr>
            </a:outerShdw>
          </a:effectLst>
        </p:spPr>
        <p:txBody>
          <a:bodyPr/>
          <a:lstStyle/>
          <a:p>
            <a:endParaRPr lang="en-US"/>
          </a:p>
        </p:txBody>
      </p:sp>
      <p:sp>
        <p:nvSpPr>
          <p:cNvPr id="20" name="Shape 18"/>
          <p:cNvSpPr/>
          <p:nvPr/>
        </p:nvSpPr>
        <p:spPr>
          <a:xfrm>
            <a:off x="320040" y="2240280"/>
            <a:ext cx="804672" cy="804672"/>
          </a:xfrm>
          <a:prstGeom prst="ellipse">
            <a:avLst/>
          </a:prstGeom>
          <a:solidFill>
            <a:srgbClr val="FF6D00"/>
          </a:solidFill>
          <a:ln w="12700">
            <a:solidFill>
              <a:srgbClr val="FF6D00"/>
            </a:solidFill>
            <a:prstDash val="solid"/>
          </a:ln>
          <a:effectLst>
            <a:outerShdw blurRad="101600" dist="38100" dir="2700000" algn="bl" rotWithShape="0">
              <a:srgbClr val="000000">
                <a:alpha val="18000"/>
              </a:srgbClr>
            </a:outerShdw>
          </a:effectLst>
        </p:spPr>
        <p:txBody>
          <a:bodyPr/>
          <a:lstStyle/>
          <a:p>
            <a:endParaRPr lang="en-US"/>
          </a:p>
        </p:txBody>
      </p:sp>
      <p:sp>
        <p:nvSpPr>
          <p:cNvPr id="21" name="Text 19"/>
          <p:cNvSpPr/>
          <p:nvPr/>
        </p:nvSpPr>
        <p:spPr>
          <a:xfrm>
            <a:off x="320040" y="2240280"/>
            <a:ext cx="804672" cy="8046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DOWN</a:t>
            </a:r>
            <a:endParaRPr lang="en-US" sz="1300" dirty="0"/>
          </a:p>
        </p:txBody>
      </p:sp>
      <p:sp>
        <p:nvSpPr>
          <p:cNvPr id="22" name="Text 20"/>
          <p:cNvSpPr/>
          <p:nvPr/>
        </p:nvSpPr>
        <p:spPr>
          <a:xfrm>
            <a:off x="1234440" y="2240280"/>
            <a:ext cx="1627632" cy="438912"/>
          </a:xfrm>
          <a:prstGeom prst="rect">
            <a:avLst/>
          </a:prstGeom>
          <a:noFill/>
          <a:ln/>
        </p:spPr>
        <p:txBody>
          <a:bodyPr wrap="square" rtlCol="0" anchor="ctr"/>
          <a:lstStyle/>
          <a:p>
            <a:pPr marL="0" indent="0">
              <a:buNone/>
            </a:pPr>
            <a:r>
              <a:rPr lang="en-US" sz="1500" b="1" dirty="0">
                <a:solidFill>
                  <a:srgbClr val="FF6D00"/>
                </a:solidFill>
                <a:latin typeface="Calibri" pitchFamily="34" charset="0"/>
                <a:ea typeface="Calibri" pitchFamily="34" charset="-122"/>
                <a:cs typeface="Calibri" pitchFamily="34" charset="-120"/>
              </a:rPr>
              <a:t>4. Move down</a:t>
            </a:r>
            <a:endParaRPr lang="en-US" sz="1500" dirty="0"/>
          </a:p>
        </p:txBody>
      </p:sp>
      <p:sp>
        <p:nvSpPr>
          <p:cNvPr id="23" name="Text 21"/>
          <p:cNvSpPr/>
          <p:nvPr/>
        </p:nvSpPr>
        <p:spPr>
          <a:xfrm>
            <a:off x="1234440" y="2679192"/>
            <a:ext cx="1627632" cy="365760"/>
          </a:xfrm>
          <a:prstGeom prst="rect">
            <a:avLst/>
          </a:prstGeom>
          <a:noFill/>
          <a:ln/>
        </p:spPr>
        <p:txBody>
          <a:bodyPr wrap="square" rtlCol="0" anchor="ctr"/>
          <a:lstStyle/>
          <a:p>
            <a:pPr marL="0" indent="0">
              <a:buNone/>
            </a:pPr>
            <a:r>
              <a:rPr lang="en-US" sz="1200" dirty="0">
                <a:solidFill>
                  <a:srgbClr val="90A4AE"/>
                </a:solidFill>
                <a:latin typeface="Calibri" pitchFamily="34" charset="0"/>
                <a:ea typeface="Calibri" pitchFamily="34" charset="-122"/>
                <a:cs typeface="Calibri" pitchFamily="34" charset="-120"/>
              </a:rPr>
              <a:t>Lower slowly</a:t>
            </a:r>
            <a:endParaRPr lang="en-US" sz="1200" dirty="0"/>
          </a:p>
        </p:txBody>
      </p:sp>
      <p:sp>
        <p:nvSpPr>
          <p:cNvPr id="24" name="Shape 22"/>
          <p:cNvSpPr/>
          <p:nvPr/>
        </p:nvSpPr>
        <p:spPr>
          <a:xfrm>
            <a:off x="3227832" y="2130552"/>
            <a:ext cx="2743200" cy="1078992"/>
          </a:xfrm>
          <a:prstGeom prst="roundRect">
            <a:avLst>
              <a:gd name="adj" fmla="val 8475"/>
            </a:avLst>
          </a:prstGeom>
          <a:solidFill>
            <a:srgbClr val="0D3558"/>
          </a:solidFill>
          <a:ln w="19050">
            <a:solidFill>
              <a:srgbClr val="E91E8C"/>
            </a:solidFill>
            <a:prstDash val="solid"/>
          </a:ln>
          <a:effectLst>
            <a:outerShdw blurRad="101600" dist="38100" dir="2700000" algn="bl" rotWithShape="0">
              <a:srgbClr val="000000">
                <a:alpha val="18000"/>
              </a:srgbClr>
            </a:outerShdw>
          </a:effectLst>
        </p:spPr>
        <p:txBody>
          <a:bodyPr/>
          <a:lstStyle/>
          <a:p>
            <a:endParaRPr lang="en-US"/>
          </a:p>
        </p:txBody>
      </p:sp>
      <p:sp>
        <p:nvSpPr>
          <p:cNvPr id="25" name="Shape 23"/>
          <p:cNvSpPr/>
          <p:nvPr/>
        </p:nvSpPr>
        <p:spPr>
          <a:xfrm>
            <a:off x="3319272" y="2240280"/>
            <a:ext cx="804672" cy="804672"/>
          </a:xfrm>
          <a:prstGeom prst="ellipse">
            <a:avLst/>
          </a:prstGeom>
          <a:solidFill>
            <a:srgbClr val="E91E8C"/>
          </a:solidFill>
          <a:ln w="12700">
            <a:solidFill>
              <a:srgbClr val="E91E8C"/>
            </a:solidFill>
            <a:prstDash val="solid"/>
          </a:ln>
          <a:effectLst>
            <a:outerShdw blurRad="101600" dist="38100" dir="2700000" algn="bl" rotWithShape="0">
              <a:srgbClr val="000000">
                <a:alpha val="18000"/>
              </a:srgbClr>
            </a:outerShdw>
          </a:effectLst>
        </p:spPr>
        <p:txBody>
          <a:bodyPr/>
          <a:lstStyle/>
          <a:p>
            <a:endParaRPr lang="en-US"/>
          </a:p>
        </p:txBody>
      </p:sp>
      <p:sp>
        <p:nvSpPr>
          <p:cNvPr id="26" name="Text 24"/>
          <p:cNvSpPr/>
          <p:nvPr/>
        </p:nvSpPr>
        <p:spPr>
          <a:xfrm>
            <a:off x="3319272" y="2240280"/>
            <a:ext cx="804672" cy="8046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GRAB</a:t>
            </a:r>
            <a:endParaRPr lang="en-US" sz="1300" dirty="0"/>
          </a:p>
        </p:txBody>
      </p:sp>
      <p:sp>
        <p:nvSpPr>
          <p:cNvPr id="27" name="Text 25"/>
          <p:cNvSpPr/>
          <p:nvPr/>
        </p:nvSpPr>
        <p:spPr>
          <a:xfrm>
            <a:off x="4233672" y="2240280"/>
            <a:ext cx="1627632" cy="438912"/>
          </a:xfrm>
          <a:prstGeom prst="rect">
            <a:avLst/>
          </a:prstGeom>
          <a:noFill/>
          <a:ln/>
        </p:spPr>
        <p:txBody>
          <a:bodyPr wrap="square" rtlCol="0" anchor="ctr"/>
          <a:lstStyle/>
          <a:p>
            <a:pPr marL="0" indent="0">
              <a:buNone/>
            </a:pPr>
            <a:r>
              <a:rPr lang="en-US" sz="1500" b="1" dirty="0">
                <a:solidFill>
                  <a:srgbClr val="E91E8C"/>
                </a:solidFill>
                <a:latin typeface="Calibri" pitchFamily="34" charset="0"/>
                <a:ea typeface="Calibri" pitchFamily="34" charset="-122"/>
                <a:cs typeface="Calibri" pitchFamily="34" charset="-120"/>
              </a:rPr>
              <a:t>5. Grab the cube</a:t>
            </a:r>
            <a:endParaRPr lang="en-US" sz="1500" dirty="0"/>
          </a:p>
        </p:txBody>
      </p:sp>
      <p:sp>
        <p:nvSpPr>
          <p:cNvPr id="28" name="Text 26"/>
          <p:cNvSpPr/>
          <p:nvPr/>
        </p:nvSpPr>
        <p:spPr>
          <a:xfrm>
            <a:off x="4233672" y="2679192"/>
            <a:ext cx="1627632" cy="365760"/>
          </a:xfrm>
          <a:prstGeom prst="rect">
            <a:avLst/>
          </a:prstGeom>
          <a:noFill/>
          <a:ln/>
        </p:spPr>
        <p:txBody>
          <a:bodyPr wrap="square" rtlCol="0" anchor="ctr"/>
          <a:lstStyle/>
          <a:p>
            <a:pPr marL="0" indent="0">
              <a:buNone/>
            </a:pPr>
            <a:r>
              <a:rPr lang="en-US" sz="1200" dirty="0">
                <a:solidFill>
                  <a:srgbClr val="90A4AE"/>
                </a:solidFill>
                <a:latin typeface="Calibri" pitchFamily="34" charset="0"/>
                <a:ea typeface="Calibri" pitchFamily="34" charset="-122"/>
                <a:cs typeface="Calibri" pitchFamily="34" charset="-120"/>
              </a:rPr>
              <a:t>Apply right force</a:t>
            </a:r>
            <a:endParaRPr lang="en-US" sz="1200" dirty="0"/>
          </a:p>
        </p:txBody>
      </p:sp>
      <p:sp>
        <p:nvSpPr>
          <p:cNvPr id="29" name="Shape 27"/>
          <p:cNvSpPr/>
          <p:nvPr/>
        </p:nvSpPr>
        <p:spPr>
          <a:xfrm>
            <a:off x="6227064" y="2130552"/>
            <a:ext cx="2743200" cy="1078992"/>
          </a:xfrm>
          <a:prstGeom prst="roundRect">
            <a:avLst>
              <a:gd name="adj" fmla="val 8475"/>
            </a:avLst>
          </a:prstGeom>
          <a:solidFill>
            <a:srgbClr val="0D3558"/>
          </a:solidFill>
          <a:ln w="19050">
            <a:solidFill>
              <a:srgbClr val="8BC34A"/>
            </a:solidFill>
            <a:prstDash val="solid"/>
          </a:ln>
          <a:effectLst>
            <a:outerShdw blurRad="101600" dist="38100" dir="2700000" algn="bl" rotWithShape="0">
              <a:srgbClr val="000000">
                <a:alpha val="18000"/>
              </a:srgbClr>
            </a:outerShdw>
          </a:effectLst>
        </p:spPr>
        <p:txBody>
          <a:bodyPr/>
          <a:lstStyle/>
          <a:p>
            <a:endParaRPr lang="en-US"/>
          </a:p>
        </p:txBody>
      </p:sp>
      <p:sp>
        <p:nvSpPr>
          <p:cNvPr id="30" name="Shape 28"/>
          <p:cNvSpPr/>
          <p:nvPr/>
        </p:nvSpPr>
        <p:spPr>
          <a:xfrm>
            <a:off x="6318504" y="2240280"/>
            <a:ext cx="804672" cy="804672"/>
          </a:xfrm>
          <a:prstGeom prst="ellipse">
            <a:avLst/>
          </a:prstGeom>
          <a:solidFill>
            <a:srgbClr val="8BC34A"/>
          </a:solidFill>
          <a:ln w="12700">
            <a:solidFill>
              <a:srgbClr val="8BC34A"/>
            </a:solidFill>
            <a:prstDash val="solid"/>
          </a:ln>
          <a:effectLst>
            <a:outerShdw blurRad="101600" dist="38100" dir="2700000" algn="bl" rotWithShape="0">
              <a:srgbClr val="000000">
                <a:alpha val="18000"/>
              </a:srgbClr>
            </a:outerShdw>
          </a:effectLst>
        </p:spPr>
        <p:txBody>
          <a:bodyPr/>
          <a:lstStyle/>
          <a:p>
            <a:endParaRPr lang="en-US"/>
          </a:p>
        </p:txBody>
      </p:sp>
      <p:sp>
        <p:nvSpPr>
          <p:cNvPr id="31" name="Text 29"/>
          <p:cNvSpPr/>
          <p:nvPr/>
        </p:nvSpPr>
        <p:spPr>
          <a:xfrm>
            <a:off x="6318504" y="2240280"/>
            <a:ext cx="804672" cy="8046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LIFT</a:t>
            </a:r>
            <a:endParaRPr lang="en-US" sz="1300" dirty="0"/>
          </a:p>
        </p:txBody>
      </p:sp>
      <p:sp>
        <p:nvSpPr>
          <p:cNvPr id="32" name="Text 30"/>
          <p:cNvSpPr/>
          <p:nvPr/>
        </p:nvSpPr>
        <p:spPr>
          <a:xfrm>
            <a:off x="7232904" y="2240280"/>
            <a:ext cx="1627632" cy="438912"/>
          </a:xfrm>
          <a:prstGeom prst="rect">
            <a:avLst/>
          </a:prstGeom>
          <a:noFill/>
          <a:ln/>
        </p:spPr>
        <p:txBody>
          <a:bodyPr wrap="square" rtlCol="0" anchor="ctr"/>
          <a:lstStyle/>
          <a:p>
            <a:pPr marL="0" indent="0">
              <a:buNone/>
            </a:pPr>
            <a:r>
              <a:rPr lang="en-US" sz="1500" b="1" dirty="0">
                <a:solidFill>
                  <a:srgbClr val="8BC34A"/>
                </a:solidFill>
                <a:latin typeface="Calibri" pitchFamily="34" charset="0"/>
                <a:ea typeface="Calibri" pitchFamily="34" charset="-122"/>
                <a:cs typeface="Calibri" pitchFamily="34" charset="-120"/>
              </a:rPr>
              <a:t>6. Lift it up</a:t>
            </a:r>
            <a:endParaRPr lang="en-US" sz="1500" dirty="0"/>
          </a:p>
        </p:txBody>
      </p:sp>
      <p:sp>
        <p:nvSpPr>
          <p:cNvPr id="33" name="Text 31"/>
          <p:cNvSpPr/>
          <p:nvPr/>
        </p:nvSpPr>
        <p:spPr>
          <a:xfrm>
            <a:off x="7232904" y="2679192"/>
            <a:ext cx="1627632" cy="365760"/>
          </a:xfrm>
          <a:prstGeom prst="rect">
            <a:avLst/>
          </a:prstGeom>
          <a:noFill/>
          <a:ln/>
        </p:spPr>
        <p:txBody>
          <a:bodyPr wrap="square" rtlCol="0" anchor="ctr"/>
          <a:lstStyle/>
          <a:p>
            <a:pPr marL="0" indent="0">
              <a:buNone/>
            </a:pPr>
            <a:r>
              <a:rPr lang="en-US" sz="1200" dirty="0">
                <a:solidFill>
                  <a:srgbClr val="90A4AE"/>
                </a:solidFill>
                <a:latin typeface="Calibri" pitchFamily="34" charset="0"/>
                <a:ea typeface="Calibri" pitchFamily="34" charset="-122"/>
                <a:cs typeface="Calibri" pitchFamily="34" charset="-120"/>
              </a:rPr>
              <a:t>Check it held</a:t>
            </a:r>
            <a:endParaRPr lang="en-US" sz="1200" dirty="0"/>
          </a:p>
        </p:txBody>
      </p:sp>
      <p:sp>
        <p:nvSpPr>
          <p:cNvPr id="34" name="Shape 32"/>
          <p:cNvSpPr/>
          <p:nvPr/>
        </p:nvSpPr>
        <p:spPr>
          <a:xfrm>
            <a:off x="228600" y="3300984"/>
            <a:ext cx="2743200" cy="1078992"/>
          </a:xfrm>
          <a:prstGeom prst="roundRect">
            <a:avLst>
              <a:gd name="adj" fmla="val 8475"/>
            </a:avLst>
          </a:prstGeom>
          <a:solidFill>
            <a:srgbClr val="0D3558"/>
          </a:solidFill>
          <a:ln w="19050">
            <a:solidFill>
              <a:srgbClr val="FFD600"/>
            </a:solidFill>
            <a:prstDash val="solid"/>
          </a:ln>
          <a:effectLst>
            <a:outerShdw blurRad="101600" dist="38100" dir="2700000" algn="bl" rotWithShape="0">
              <a:srgbClr val="000000">
                <a:alpha val="18000"/>
              </a:srgbClr>
            </a:outerShdw>
          </a:effectLst>
        </p:spPr>
        <p:txBody>
          <a:bodyPr/>
          <a:lstStyle/>
          <a:p>
            <a:endParaRPr lang="en-US"/>
          </a:p>
        </p:txBody>
      </p:sp>
      <p:sp>
        <p:nvSpPr>
          <p:cNvPr id="35" name="Shape 33"/>
          <p:cNvSpPr/>
          <p:nvPr/>
        </p:nvSpPr>
        <p:spPr>
          <a:xfrm>
            <a:off x="320040" y="3410712"/>
            <a:ext cx="804672" cy="804672"/>
          </a:xfrm>
          <a:prstGeom prst="ellipse">
            <a:avLst/>
          </a:prstGeom>
          <a:solidFill>
            <a:srgbClr val="FFD600"/>
          </a:solidFill>
          <a:ln w="12700">
            <a:solidFill>
              <a:srgbClr val="FFD600"/>
            </a:solidFill>
            <a:prstDash val="solid"/>
          </a:ln>
          <a:effectLst>
            <a:outerShdw blurRad="101600" dist="38100" dir="2700000" algn="bl" rotWithShape="0">
              <a:srgbClr val="000000">
                <a:alpha val="18000"/>
              </a:srgbClr>
            </a:outerShdw>
          </a:effectLst>
        </p:spPr>
        <p:txBody>
          <a:bodyPr/>
          <a:lstStyle/>
          <a:p>
            <a:endParaRPr lang="en-US"/>
          </a:p>
        </p:txBody>
      </p:sp>
      <p:sp>
        <p:nvSpPr>
          <p:cNvPr id="36" name="Text 34"/>
          <p:cNvSpPr/>
          <p:nvPr/>
        </p:nvSpPr>
        <p:spPr>
          <a:xfrm>
            <a:off x="320040" y="3410712"/>
            <a:ext cx="804672" cy="8046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MOVE</a:t>
            </a:r>
            <a:endParaRPr lang="en-US" sz="1300" dirty="0"/>
          </a:p>
        </p:txBody>
      </p:sp>
      <p:sp>
        <p:nvSpPr>
          <p:cNvPr id="37" name="Text 35"/>
          <p:cNvSpPr/>
          <p:nvPr/>
        </p:nvSpPr>
        <p:spPr>
          <a:xfrm>
            <a:off x="1234440" y="3410712"/>
            <a:ext cx="1627632" cy="438912"/>
          </a:xfrm>
          <a:prstGeom prst="rect">
            <a:avLst/>
          </a:prstGeom>
          <a:noFill/>
          <a:ln/>
        </p:spPr>
        <p:txBody>
          <a:bodyPr wrap="square" rtlCol="0" anchor="ctr"/>
          <a:lstStyle/>
          <a:p>
            <a:pPr marL="0" indent="0">
              <a:buNone/>
            </a:pPr>
            <a:r>
              <a:rPr lang="en-US" sz="1500" b="1" dirty="0">
                <a:solidFill>
                  <a:srgbClr val="FFD600"/>
                </a:solidFill>
                <a:latin typeface="Calibri" pitchFamily="34" charset="0"/>
                <a:ea typeface="Calibri" pitchFamily="34" charset="-122"/>
                <a:cs typeface="Calibri" pitchFamily="34" charset="-120"/>
              </a:rPr>
              <a:t>7. Move sideways</a:t>
            </a:r>
            <a:endParaRPr lang="en-US" sz="1500" dirty="0"/>
          </a:p>
        </p:txBody>
      </p:sp>
      <p:sp>
        <p:nvSpPr>
          <p:cNvPr id="38" name="Text 36"/>
          <p:cNvSpPr/>
          <p:nvPr/>
        </p:nvSpPr>
        <p:spPr>
          <a:xfrm>
            <a:off x="1234440" y="3849624"/>
            <a:ext cx="1627632" cy="365760"/>
          </a:xfrm>
          <a:prstGeom prst="rect">
            <a:avLst/>
          </a:prstGeom>
          <a:noFill/>
          <a:ln/>
        </p:spPr>
        <p:txBody>
          <a:bodyPr wrap="square" rtlCol="0" anchor="ctr"/>
          <a:lstStyle/>
          <a:p>
            <a:pPr marL="0" indent="0">
              <a:buNone/>
            </a:pPr>
            <a:r>
              <a:rPr lang="en-US" sz="1200" dirty="0">
                <a:solidFill>
                  <a:srgbClr val="90A4AE"/>
                </a:solidFill>
                <a:latin typeface="Calibri" pitchFamily="34" charset="0"/>
                <a:ea typeface="Calibri" pitchFamily="34" charset="-122"/>
                <a:cs typeface="Calibri" pitchFamily="34" charset="-120"/>
              </a:rPr>
              <a:t>Navigate to target</a:t>
            </a:r>
            <a:endParaRPr lang="en-US" sz="1200" dirty="0"/>
          </a:p>
        </p:txBody>
      </p:sp>
      <p:sp>
        <p:nvSpPr>
          <p:cNvPr id="39" name="Shape 37"/>
          <p:cNvSpPr/>
          <p:nvPr/>
        </p:nvSpPr>
        <p:spPr>
          <a:xfrm>
            <a:off x="3227832" y="3300984"/>
            <a:ext cx="2743200" cy="1078992"/>
          </a:xfrm>
          <a:prstGeom prst="roundRect">
            <a:avLst>
              <a:gd name="adj" fmla="val 8475"/>
            </a:avLst>
          </a:prstGeom>
          <a:solidFill>
            <a:srgbClr val="0D3558"/>
          </a:solidFill>
          <a:ln w="19050">
            <a:solidFill>
              <a:srgbClr val="FF6D00"/>
            </a:solidFill>
            <a:prstDash val="solid"/>
          </a:ln>
          <a:effectLst>
            <a:outerShdw blurRad="101600" dist="38100" dir="2700000" algn="bl" rotWithShape="0">
              <a:srgbClr val="000000">
                <a:alpha val="18000"/>
              </a:srgbClr>
            </a:outerShdw>
          </a:effectLst>
        </p:spPr>
        <p:txBody>
          <a:bodyPr/>
          <a:lstStyle/>
          <a:p>
            <a:endParaRPr lang="en-US"/>
          </a:p>
        </p:txBody>
      </p:sp>
      <p:sp>
        <p:nvSpPr>
          <p:cNvPr id="40" name="Shape 38"/>
          <p:cNvSpPr/>
          <p:nvPr/>
        </p:nvSpPr>
        <p:spPr>
          <a:xfrm>
            <a:off x="3319272" y="3410712"/>
            <a:ext cx="804672" cy="804672"/>
          </a:xfrm>
          <a:prstGeom prst="ellipse">
            <a:avLst/>
          </a:prstGeom>
          <a:solidFill>
            <a:srgbClr val="FF6D00"/>
          </a:solidFill>
          <a:ln w="12700">
            <a:solidFill>
              <a:srgbClr val="FF6D00"/>
            </a:solidFill>
            <a:prstDash val="solid"/>
          </a:ln>
          <a:effectLst>
            <a:outerShdw blurRad="101600" dist="38100" dir="2700000" algn="bl" rotWithShape="0">
              <a:srgbClr val="000000">
                <a:alpha val="18000"/>
              </a:srgbClr>
            </a:outerShdw>
          </a:effectLst>
        </p:spPr>
        <p:txBody>
          <a:bodyPr/>
          <a:lstStyle/>
          <a:p>
            <a:endParaRPr lang="en-US"/>
          </a:p>
        </p:txBody>
      </p:sp>
      <p:sp>
        <p:nvSpPr>
          <p:cNvPr id="41" name="Text 39"/>
          <p:cNvSpPr/>
          <p:nvPr/>
        </p:nvSpPr>
        <p:spPr>
          <a:xfrm>
            <a:off x="3319272" y="3410712"/>
            <a:ext cx="804672" cy="8046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LOW</a:t>
            </a:r>
            <a:endParaRPr lang="en-US" sz="1300" dirty="0"/>
          </a:p>
        </p:txBody>
      </p:sp>
      <p:sp>
        <p:nvSpPr>
          <p:cNvPr id="42" name="Text 40"/>
          <p:cNvSpPr/>
          <p:nvPr/>
        </p:nvSpPr>
        <p:spPr>
          <a:xfrm>
            <a:off x="4233672" y="3410712"/>
            <a:ext cx="1627632" cy="438912"/>
          </a:xfrm>
          <a:prstGeom prst="rect">
            <a:avLst/>
          </a:prstGeom>
          <a:noFill/>
          <a:ln/>
        </p:spPr>
        <p:txBody>
          <a:bodyPr wrap="square" rtlCol="0" anchor="ctr"/>
          <a:lstStyle/>
          <a:p>
            <a:pPr marL="0" indent="0">
              <a:buNone/>
            </a:pPr>
            <a:r>
              <a:rPr lang="en-US" sz="1500" b="1" dirty="0">
                <a:solidFill>
                  <a:srgbClr val="FF6D00"/>
                </a:solidFill>
                <a:latin typeface="Calibri" pitchFamily="34" charset="0"/>
                <a:ea typeface="Calibri" pitchFamily="34" charset="-122"/>
                <a:cs typeface="Calibri" pitchFamily="34" charset="-120"/>
              </a:rPr>
              <a:t>8. Lower again</a:t>
            </a:r>
            <a:endParaRPr lang="en-US" sz="1500" dirty="0"/>
          </a:p>
        </p:txBody>
      </p:sp>
      <p:sp>
        <p:nvSpPr>
          <p:cNvPr id="43" name="Text 41"/>
          <p:cNvSpPr/>
          <p:nvPr/>
        </p:nvSpPr>
        <p:spPr>
          <a:xfrm>
            <a:off x="4233672" y="3849624"/>
            <a:ext cx="1627632" cy="365760"/>
          </a:xfrm>
          <a:prstGeom prst="rect">
            <a:avLst/>
          </a:prstGeom>
          <a:noFill/>
          <a:ln/>
        </p:spPr>
        <p:txBody>
          <a:bodyPr wrap="square" rtlCol="0" anchor="ctr"/>
          <a:lstStyle/>
          <a:p>
            <a:pPr marL="0" indent="0">
              <a:buNone/>
            </a:pPr>
            <a:r>
              <a:rPr lang="en-US" sz="1200" dirty="0">
                <a:solidFill>
                  <a:srgbClr val="90A4AE"/>
                </a:solidFill>
                <a:latin typeface="Calibri" pitchFamily="34" charset="0"/>
                <a:ea typeface="Calibri" pitchFamily="34" charset="-122"/>
                <a:cs typeface="Calibri" pitchFamily="34" charset="-120"/>
              </a:rPr>
              <a:t>Align over cube</a:t>
            </a:r>
            <a:endParaRPr lang="en-US" sz="1200" dirty="0"/>
          </a:p>
        </p:txBody>
      </p:sp>
      <p:sp>
        <p:nvSpPr>
          <p:cNvPr id="44" name="Shape 42"/>
          <p:cNvSpPr/>
          <p:nvPr/>
        </p:nvSpPr>
        <p:spPr>
          <a:xfrm>
            <a:off x="6227064" y="3300984"/>
            <a:ext cx="2743200" cy="1078992"/>
          </a:xfrm>
          <a:prstGeom prst="roundRect">
            <a:avLst>
              <a:gd name="adj" fmla="val 8475"/>
            </a:avLst>
          </a:prstGeom>
          <a:solidFill>
            <a:srgbClr val="0D3558"/>
          </a:solidFill>
          <a:ln w="19050">
            <a:solidFill>
              <a:srgbClr val="009688"/>
            </a:solidFill>
            <a:prstDash val="solid"/>
          </a:ln>
          <a:effectLst>
            <a:outerShdw blurRad="101600" dist="38100" dir="2700000" algn="bl" rotWithShape="0">
              <a:srgbClr val="000000">
                <a:alpha val="18000"/>
              </a:srgbClr>
            </a:outerShdw>
          </a:effectLst>
        </p:spPr>
        <p:txBody>
          <a:bodyPr/>
          <a:lstStyle/>
          <a:p>
            <a:endParaRPr lang="en-US"/>
          </a:p>
        </p:txBody>
      </p:sp>
      <p:sp>
        <p:nvSpPr>
          <p:cNvPr id="45" name="Shape 43"/>
          <p:cNvSpPr/>
          <p:nvPr/>
        </p:nvSpPr>
        <p:spPr>
          <a:xfrm>
            <a:off x="6318504" y="3410712"/>
            <a:ext cx="804672" cy="804672"/>
          </a:xfrm>
          <a:prstGeom prst="ellipse">
            <a:avLst/>
          </a:prstGeom>
          <a:solidFill>
            <a:srgbClr val="009688"/>
          </a:solidFill>
          <a:ln w="12700">
            <a:solidFill>
              <a:srgbClr val="009688"/>
            </a:solidFill>
            <a:prstDash val="solid"/>
          </a:ln>
          <a:effectLst>
            <a:outerShdw blurRad="101600" dist="38100" dir="2700000" algn="bl" rotWithShape="0">
              <a:srgbClr val="000000">
                <a:alpha val="18000"/>
              </a:srgbClr>
            </a:outerShdw>
          </a:effectLst>
        </p:spPr>
        <p:txBody>
          <a:bodyPr/>
          <a:lstStyle/>
          <a:p>
            <a:endParaRPr lang="en-US"/>
          </a:p>
        </p:txBody>
      </p:sp>
      <p:sp>
        <p:nvSpPr>
          <p:cNvPr id="46" name="Text 44"/>
          <p:cNvSpPr/>
          <p:nvPr/>
        </p:nvSpPr>
        <p:spPr>
          <a:xfrm>
            <a:off x="6318504" y="3410712"/>
            <a:ext cx="804672" cy="8046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DROP</a:t>
            </a:r>
            <a:endParaRPr lang="en-US" sz="1300" dirty="0"/>
          </a:p>
        </p:txBody>
      </p:sp>
      <p:sp>
        <p:nvSpPr>
          <p:cNvPr id="47" name="Text 45"/>
          <p:cNvSpPr/>
          <p:nvPr/>
        </p:nvSpPr>
        <p:spPr>
          <a:xfrm>
            <a:off x="7232904" y="3410712"/>
            <a:ext cx="1627632" cy="438912"/>
          </a:xfrm>
          <a:prstGeom prst="rect">
            <a:avLst/>
          </a:prstGeom>
          <a:noFill/>
          <a:ln/>
        </p:spPr>
        <p:txBody>
          <a:bodyPr wrap="square" rtlCol="0" anchor="ctr"/>
          <a:lstStyle/>
          <a:p>
            <a:pPr marL="0" indent="0">
              <a:buNone/>
            </a:pPr>
            <a:r>
              <a:rPr lang="en-US" sz="1500" b="1" dirty="0">
                <a:solidFill>
                  <a:srgbClr val="009688"/>
                </a:solidFill>
                <a:latin typeface="Calibri" pitchFamily="34" charset="0"/>
                <a:ea typeface="Calibri" pitchFamily="34" charset="-122"/>
                <a:cs typeface="Calibri" pitchFamily="34" charset="-120"/>
              </a:rPr>
              <a:t>9. Release!</a:t>
            </a:r>
            <a:endParaRPr lang="en-US" sz="1500" dirty="0"/>
          </a:p>
        </p:txBody>
      </p:sp>
      <p:sp>
        <p:nvSpPr>
          <p:cNvPr id="48" name="Text 46"/>
          <p:cNvSpPr/>
          <p:nvPr/>
        </p:nvSpPr>
        <p:spPr>
          <a:xfrm>
            <a:off x="7232904" y="3849624"/>
            <a:ext cx="1627632" cy="365760"/>
          </a:xfrm>
          <a:prstGeom prst="rect">
            <a:avLst/>
          </a:prstGeom>
          <a:noFill/>
          <a:ln/>
        </p:spPr>
        <p:txBody>
          <a:bodyPr wrap="square" rtlCol="0" anchor="ctr"/>
          <a:lstStyle/>
          <a:p>
            <a:pPr marL="0" indent="0">
              <a:buNone/>
            </a:pPr>
            <a:r>
              <a:rPr lang="en-US" sz="1200" dirty="0">
                <a:solidFill>
                  <a:srgbClr val="90A4AE"/>
                </a:solidFill>
                <a:latin typeface="Calibri" pitchFamily="34" charset="0"/>
                <a:ea typeface="Calibri" pitchFamily="34" charset="-122"/>
                <a:cs typeface="Calibri" pitchFamily="34" charset="-120"/>
              </a:rPr>
              <a:t>Open fingers gently</a:t>
            </a:r>
            <a:endParaRPr lang="en-US" sz="1200" dirty="0"/>
          </a:p>
        </p:txBody>
      </p:sp>
      <p:sp>
        <p:nvSpPr>
          <p:cNvPr id="49" name="Shape 47"/>
          <p:cNvSpPr/>
          <p:nvPr/>
        </p:nvSpPr>
        <p:spPr>
          <a:xfrm>
            <a:off x="228600" y="4434840"/>
            <a:ext cx="8686800" cy="347472"/>
          </a:xfrm>
          <a:prstGeom prst="roundRect">
            <a:avLst>
              <a:gd name="adj" fmla="val 26316"/>
            </a:avLst>
          </a:prstGeom>
          <a:solidFill>
            <a:srgbClr val="FFD600"/>
          </a:solidFill>
          <a:ln w="12700">
            <a:solidFill>
              <a:srgbClr val="FFD600"/>
            </a:solidFill>
            <a:prstDash val="solid"/>
          </a:ln>
        </p:spPr>
        <p:txBody>
          <a:bodyPr/>
          <a:lstStyle/>
          <a:p>
            <a:endParaRPr lang="en-US"/>
          </a:p>
        </p:txBody>
      </p:sp>
      <p:sp>
        <p:nvSpPr>
          <p:cNvPr id="50" name="Text 48"/>
          <p:cNvSpPr/>
          <p:nvPr/>
        </p:nvSpPr>
        <p:spPr>
          <a:xfrm>
            <a:off x="228600" y="4434840"/>
            <a:ext cx="8686800" cy="347472"/>
          </a:xfrm>
          <a:prstGeom prst="rect">
            <a:avLst/>
          </a:prstGeom>
          <a:noFill/>
          <a:ln/>
        </p:spPr>
        <p:txBody>
          <a:bodyPr wrap="square" lIns="0" tIns="0" rIns="0" bIns="0" rtlCol="0" anchor="ctr"/>
          <a:lstStyle/>
          <a:p>
            <a:pPr marL="0" indent="0" algn="ctr">
              <a:buNone/>
            </a:pPr>
            <a:r>
              <a:rPr lang="en-US" sz="1500" b="1" dirty="0">
                <a:solidFill>
                  <a:srgbClr val="1A1A2E"/>
                </a:solidFill>
                <a:latin typeface="Calibri" pitchFamily="34" charset="0"/>
                <a:ea typeface="Calibri" pitchFamily="34" charset="-122"/>
                <a:cs typeface="Calibri" pitchFamily="34" charset="-120"/>
              </a:rPr>
              <a:t>Your brain does all 9 steps automatically. Robots need every single one spelled out!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name="Slide 6">
    <p:bg>
      <p:bgPr>
        <a:solidFill>
          <a:srgbClr val="F0F4FF"/>
        </a:solidFill>
        <a:effectLst/>
      </p:bgPr>
    </p:bg>
    <p:spTree>
      <p:nvGrpSpPr>
        <p:cNvPr id="1" name=""/>
        <p:cNvGrpSpPr/>
        <p:nvPr/>
      </p:nvGrpSpPr>
      <p:grpSpPr>
        <a:xfrm>
          <a:off x="0" y="0"/>
          <a:ext cx="0" cy="0"/>
          <a:chOff x="0" y="0"/>
          <a:chExt cx="0" cy="0"/>
        </a:xfrm>
      </p:grpSpPr>
      <p:sp>
        <p:nvSpPr>
          <p:cNvPr id="2" name="Text 0"/>
          <p:cNvSpPr/>
          <p:nvPr/>
        </p:nvSpPr>
        <p:spPr>
          <a:xfrm>
            <a:off x="365760" y="73152"/>
            <a:ext cx="8412480" cy="548640"/>
          </a:xfrm>
          <a:prstGeom prst="rect">
            <a:avLst/>
          </a:prstGeom>
          <a:noFill/>
          <a:ln/>
        </p:spPr>
        <p:txBody>
          <a:bodyPr wrap="square" rtlCol="0" anchor="ctr"/>
          <a:lstStyle/>
          <a:p>
            <a:pPr marL="0" indent="0" algn="l">
              <a:buNone/>
            </a:pPr>
            <a:r>
              <a:rPr lang="en-US" sz="3800" b="1" dirty="0">
                <a:solidFill>
                  <a:srgbClr val="D32F2F"/>
                </a:solidFill>
                <a:latin typeface="Calibri" pitchFamily="34" charset="0"/>
                <a:ea typeface="Calibri" pitchFamily="34" charset="-122"/>
                <a:cs typeface="Calibri" pitchFamily="34" charset="-120"/>
              </a:rPr>
              <a:t>What If Something Changes?</a:t>
            </a:r>
            <a:endParaRPr lang="en-US" sz="3800" dirty="0"/>
          </a:p>
        </p:txBody>
      </p:sp>
      <p:sp>
        <p:nvSpPr>
          <p:cNvPr id="3" name="Text 1"/>
          <p:cNvSpPr/>
          <p:nvPr/>
        </p:nvSpPr>
        <p:spPr>
          <a:xfrm>
            <a:off x="365760" y="603504"/>
            <a:ext cx="8412480" cy="274320"/>
          </a:xfrm>
          <a:prstGeom prst="rect">
            <a:avLst/>
          </a:prstGeom>
          <a:noFill/>
          <a:ln/>
        </p:spPr>
        <p:txBody>
          <a:bodyPr wrap="square" rtlCol="0" anchor="ctr"/>
          <a:lstStyle/>
          <a:p>
            <a:pPr marL="0" indent="0">
              <a:buNone/>
            </a:pPr>
            <a:r>
              <a:rPr lang="en-US" sz="1700" i="1" dirty="0">
                <a:solidFill>
                  <a:srgbClr val="546E7A"/>
                </a:solidFill>
                <a:latin typeface="Calibri" pitchFamily="34" charset="0"/>
                <a:ea typeface="Calibri" pitchFamily="34" charset="-122"/>
                <a:cs typeface="Calibri" pitchFamily="34" charset="-120"/>
              </a:rPr>
              <a:t>Robots must handle the unexpected, just like people do!</a:t>
            </a:r>
            <a:endParaRPr lang="en-US" sz="1700" dirty="0"/>
          </a:p>
        </p:txBody>
      </p:sp>
      <p:sp>
        <p:nvSpPr>
          <p:cNvPr id="4" name="Shape 2"/>
          <p:cNvSpPr/>
          <p:nvPr/>
        </p:nvSpPr>
        <p:spPr>
          <a:xfrm>
            <a:off x="274320" y="987552"/>
            <a:ext cx="4114800" cy="1783080"/>
          </a:xfrm>
          <a:prstGeom prst="roundRect">
            <a:avLst>
              <a:gd name="adj" fmla="val 6154"/>
            </a:avLst>
          </a:prstGeom>
          <a:solidFill>
            <a:srgbClr val="FFF3E0"/>
          </a:solidFill>
          <a:ln w="12700">
            <a:solidFill>
              <a:srgbClr val="FFF3E0"/>
            </a:solidFill>
            <a:prstDash val="solid"/>
          </a:ln>
          <a:effectLst>
            <a:outerShdw blurRad="101600" dist="38100" dir="2700000" algn="bl" rotWithShape="0">
              <a:srgbClr val="000000">
                <a:alpha val="18000"/>
              </a:srgbClr>
            </a:outerShdw>
          </a:effectLst>
        </p:spPr>
        <p:txBody>
          <a:bodyPr/>
          <a:lstStyle/>
          <a:p>
            <a:endParaRPr lang="en-US"/>
          </a:p>
        </p:txBody>
      </p:sp>
      <p:sp>
        <p:nvSpPr>
          <p:cNvPr id="5" name="Shape 3"/>
          <p:cNvSpPr/>
          <p:nvPr/>
        </p:nvSpPr>
        <p:spPr>
          <a:xfrm>
            <a:off x="457200" y="1243584"/>
            <a:ext cx="1005840" cy="1005840"/>
          </a:xfrm>
          <a:prstGeom prst="ellipse">
            <a:avLst/>
          </a:prstGeom>
          <a:solidFill>
            <a:srgbClr val="FF6D00"/>
          </a:solidFill>
          <a:ln w="12700">
            <a:solidFill>
              <a:srgbClr val="FF6D00"/>
            </a:solidFill>
            <a:prstDash val="solid"/>
          </a:ln>
          <a:effectLst>
            <a:outerShdw blurRad="101600" dist="38100" dir="2700000" algn="bl" rotWithShape="0">
              <a:srgbClr val="000000">
                <a:alpha val="18000"/>
              </a:srgbClr>
            </a:outerShdw>
          </a:effectLst>
        </p:spPr>
        <p:txBody>
          <a:bodyPr/>
          <a:lstStyle/>
          <a:p>
            <a:endParaRPr lang="en-US"/>
          </a:p>
        </p:txBody>
      </p:sp>
      <p:sp>
        <p:nvSpPr>
          <p:cNvPr id="6" name="Text 4"/>
          <p:cNvSpPr/>
          <p:nvPr/>
        </p:nvSpPr>
        <p:spPr>
          <a:xfrm>
            <a:off x="457200" y="1243584"/>
            <a:ext cx="1005840" cy="10058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MOVE</a:t>
            </a:r>
            <a:endParaRPr lang="en-US" sz="1200" dirty="0"/>
          </a:p>
        </p:txBody>
      </p:sp>
      <p:sp>
        <p:nvSpPr>
          <p:cNvPr id="7" name="Text 5"/>
          <p:cNvSpPr/>
          <p:nvPr/>
        </p:nvSpPr>
        <p:spPr>
          <a:xfrm>
            <a:off x="1600200" y="1097280"/>
            <a:ext cx="2651760" cy="475488"/>
          </a:xfrm>
          <a:prstGeom prst="rect">
            <a:avLst/>
          </a:prstGeom>
          <a:noFill/>
          <a:ln/>
        </p:spPr>
        <p:txBody>
          <a:bodyPr wrap="square" rtlCol="0" anchor="ctr"/>
          <a:lstStyle/>
          <a:p>
            <a:pPr marL="0" indent="0">
              <a:buNone/>
            </a:pPr>
            <a:r>
              <a:rPr lang="en-US" sz="1700" b="1" dirty="0">
                <a:solidFill>
                  <a:srgbClr val="FF6D00"/>
                </a:solidFill>
                <a:latin typeface="Calibri" pitchFamily="34" charset="0"/>
                <a:ea typeface="Calibri" pitchFamily="34" charset="-122"/>
                <a:cs typeface="Calibri" pitchFamily="34" charset="-120"/>
              </a:rPr>
              <a:t>What if... The cube moves?</a:t>
            </a:r>
            <a:endParaRPr lang="en-US" sz="1700" dirty="0"/>
          </a:p>
        </p:txBody>
      </p:sp>
      <p:sp>
        <p:nvSpPr>
          <p:cNvPr id="8" name="Text 6"/>
          <p:cNvSpPr/>
          <p:nvPr/>
        </p:nvSpPr>
        <p:spPr>
          <a:xfrm>
            <a:off x="1600200" y="1572768"/>
            <a:ext cx="2651760" cy="1005840"/>
          </a:xfrm>
          <a:prstGeom prst="rect">
            <a:avLst/>
          </a:prstGeom>
          <a:noFill/>
          <a:ln/>
        </p:spPr>
        <p:txBody>
          <a:bodyPr wrap="square" rtlCol="0" anchor="ctr"/>
          <a:lstStyle/>
          <a:p>
            <a:pPr marL="0" indent="0">
              <a:lnSpc>
                <a:spcPct val="125000"/>
              </a:lnSpc>
              <a:buNone/>
            </a:pPr>
            <a:r>
              <a:rPr lang="en-US" sz="1400" dirty="0">
                <a:solidFill>
                  <a:srgbClr val="37474F"/>
                </a:solidFill>
                <a:latin typeface="Calibri" pitchFamily="34" charset="0"/>
                <a:ea typeface="Calibri" pitchFamily="34" charset="-122"/>
                <a:cs typeface="Calibri" pitchFamily="34" charset="-120"/>
              </a:rPr>
              <a:t>It slides 2 cm to the left.</a:t>
            </a:r>
            <a:endParaRPr lang="en-US" sz="1400" dirty="0"/>
          </a:p>
          <a:p>
            <a:pPr marL="0" indent="0">
              <a:lnSpc>
                <a:spcPct val="125000"/>
              </a:lnSpc>
              <a:buNone/>
            </a:pPr>
            <a:r>
              <a:rPr lang="en-US" sz="1400" dirty="0">
                <a:solidFill>
                  <a:srgbClr val="37474F"/>
                </a:solidFill>
                <a:latin typeface="Calibri" pitchFamily="34" charset="0"/>
                <a:ea typeface="Calibri" pitchFamily="34" charset="-122"/>
                <a:cs typeface="Calibri" pitchFamily="34" charset="-120"/>
              </a:rPr>
              <a:t>Robot was aiming at empty air!</a:t>
            </a:r>
            <a:endParaRPr lang="en-US" sz="1400" dirty="0"/>
          </a:p>
        </p:txBody>
      </p:sp>
      <p:sp>
        <p:nvSpPr>
          <p:cNvPr id="9" name="Shape 7"/>
          <p:cNvSpPr/>
          <p:nvPr/>
        </p:nvSpPr>
        <p:spPr>
          <a:xfrm>
            <a:off x="4754880" y="987552"/>
            <a:ext cx="4114800" cy="1783080"/>
          </a:xfrm>
          <a:prstGeom prst="roundRect">
            <a:avLst>
              <a:gd name="adj" fmla="val 6154"/>
            </a:avLst>
          </a:prstGeom>
          <a:solidFill>
            <a:srgbClr val="FFEBEE"/>
          </a:solidFill>
          <a:ln w="12700">
            <a:solidFill>
              <a:srgbClr val="FFEBEE"/>
            </a:solidFill>
            <a:prstDash val="solid"/>
          </a:ln>
          <a:effectLst>
            <a:outerShdw blurRad="101600" dist="38100" dir="2700000" algn="bl" rotWithShape="0">
              <a:srgbClr val="000000">
                <a:alpha val="18000"/>
              </a:srgbClr>
            </a:outerShdw>
          </a:effectLst>
        </p:spPr>
        <p:txBody>
          <a:bodyPr/>
          <a:lstStyle/>
          <a:p>
            <a:endParaRPr lang="en-US"/>
          </a:p>
        </p:txBody>
      </p:sp>
      <p:sp>
        <p:nvSpPr>
          <p:cNvPr id="10" name="Shape 8"/>
          <p:cNvSpPr/>
          <p:nvPr/>
        </p:nvSpPr>
        <p:spPr>
          <a:xfrm>
            <a:off x="4937760" y="1243584"/>
            <a:ext cx="1005840" cy="1005840"/>
          </a:xfrm>
          <a:prstGeom prst="ellipse">
            <a:avLst/>
          </a:prstGeom>
          <a:solidFill>
            <a:srgbClr val="D32F2F"/>
          </a:solidFill>
          <a:ln w="12700">
            <a:solidFill>
              <a:srgbClr val="D32F2F"/>
            </a:solidFill>
            <a:prstDash val="solid"/>
          </a:ln>
          <a:effectLst>
            <a:outerShdw blurRad="101600" dist="38100" dir="2700000" algn="bl" rotWithShape="0">
              <a:srgbClr val="000000">
                <a:alpha val="18000"/>
              </a:srgbClr>
            </a:outerShdw>
          </a:effectLst>
        </p:spPr>
        <p:txBody>
          <a:bodyPr/>
          <a:lstStyle/>
          <a:p>
            <a:endParaRPr lang="en-US"/>
          </a:p>
        </p:txBody>
      </p:sp>
      <p:sp>
        <p:nvSpPr>
          <p:cNvPr id="11" name="Text 9"/>
          <p:cNvSpPr/>
          <p:nvPr/>
        </p:nvSpPr>
        <p:spPr>
          <a:xfrm>
            <a:off x="4937760" y="1243584"/>
            <a:ext cx="1005840" cy="10058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BUMP</a:t>
            </a:r>
            <a:endParaRPr lang="en-US" sz="1200" dirty="0"/>
          </a:p>
        </p:txBody>
      </p:sp>
      <p:sp>
        <p:nvSpPr>
          <p:cNvPr id="12" name="Text 10"/>
          <p:cNvSpPr/>
          <p:nvPr/>
        </p:nvSpPr>
        <p:spPr>
          <a:xfrm>
            <a:off x="6080760" y="1097280"/>
            <a:ext cx="2651760" cy="475488"/>
          </a:xfrm>
          <a:prstGeom prst="rect">
            <a:avLst/>
          </a:prstGeom>
          <a:noFill/>
          <a:ln/>
        </p:spPr>
        <p:txBody>
          <a:bodyPr wrap="square" rtlCol="0" anchor="ctr"/>
          <a:lstStyle/>
          <a:p>
            <a:pPr marL="0" indent="0">
              <a:buNone/>
            </a:pPr>
            <a:r>
              <a:rPr lang="en-US" sz="1700" b="1" dirty="0">
                <a:solidFill>
                  <a:srgbClr val="D32F2F"/>
                </a:solidFill>
                <a:latin typeface="Calibri" pitchFamily="34" charset="0"/>
                <a:ea typeface="Calibri" pitchFamily="34" charset="-122"/>
                <a:cs typeface="Calibri" pitchFamily="34" charset="-120"/>
              </a:rPr>
              <a:t>What if... Someone bumps the table?</a:t>
            </a:r>
            <a:endParaRPr lang="en-US" sz="1700" dirty="0"/>
          </a:p>
        </p:txBody>
      </p:sp>
      <p:sp>
        <p:nvSpPr>
          <p:cNvPr id="13" name="Text 11"/>
          <p:cNvSpPr/>
          <p:nvPr/>
        </p:nvSpPr>
        <p:spPr>
          <a:xfrm>
            <a:off x="6080760" y="1572768"/>
            <a:ext cx="2651760" cy="1005840"/>
          </a:xfrm>
          <a:prstGeom prst="rect">
            <a:avLst/>
          </a:prstGeom>
          <a:noFill/>
          <a:ln/>
        </p:spPr>
        <p:txBody>
          <a:bodyPr wrap="square" rtlCol="0" anchor="ctr"/>
          <a:lstStyle/>
          <a:p>
            <a:pPr marL="0" indent="0">
              <a:lnSpc>
                <a:spcPct val="125000"/>
              </a:lnSpc>
              <a:buNone/>
            </a:pPr>
            <a:r>
              <a:rPr lang="en-US" sz="1400" dirty="0">
                <a:solidFill>
                  <a:srgbClr val="37474F"/>
                </a:solidFill>
                <a:latin typeface="Calibri" pitchFamily="34" charset="0"/>
                <a:ea typeface="Calibri" pitchFamily="34" charset="-122"/>
                <a:cs typeface="Calibri" pitchFamily="34" charset="-120"/>
              </a:rPr>
              <a:t>Everything shifts.</a:t>
            </a:r>
            <a:endParaRPr lang="en-US" sz="1400" dirty="0"/>
          </a:p>
          <a:p>
            <a:pPr marL="0" indent="0">
              <a:lnSpc>
                <a:spcPct val="125000"/>
              </a:lnSpc>
              <a:buNone/>
            </a:pPr>
            <a:r>
              <a:rPr lang="en-US" sz="1400" dirty="0">
                <a:solidFill>
                  <a:srgbClr val="37474F"/>
                </a:solidFill>
                <a:latin typeface="Calibri" pitchFamily="34" charset="0"/>
                <a:ea typeface="Calibri" pitchFamily="34" charset="-122"/>
                <a:cs typeface="Calibri" pitchFamily="34" charset="-120"/>
              </a:rPr>
              <a:t>The robot's map is now wrong.</a:t>
            </a:r>
            <a:endParaRPr lang="en-US" sz="1400" dirty="0"/>
          </a:p>
        </p:txBody>
      </p:sp>
      <p:sp>
        <p:nvSpPr>
          <p:cNvPr id="14" name="Shape 12"/>
          <p:cNvSpPr/>
          <p:nvPr/>
        </p:nvSpPr>
        <p:spPr>
          <a:xfrm>
            <a:off x="274320" y="2953512"/>
            <a:ext cx="4114800" cy="1783080"/>
          </a:xfrm>
          <a:prstGeom prst="roundRect">
            <a:avLst>
              <a:gd name="adj" fmla="val 6154"/>
            </a:avLst>
          </a:prstGeom>
          <a:solidFill>
            <a:srgbClr val="EDE7F6"/>
          </a:solidFill>
          <a:ln w="12700">
            <a:solidFill>
              <a:srgbClr val="EDE7F6"/>
            </a:solidFill>
            <a:prstDash val="solid"/>
          </a:ln>
          <a:effectLst>
            <a:outerShdw blurRad="101600" dist="38100" dir="2700000" algn="bl" rotWithShape="0">
              <a:srgbClr val="000000">
                <a:alpha val="18000"/>
              </a:srgbClr>
            </a:outerShdw>
          </a:effectLst>
        </p:spPr>
        <p:txBody>
          <a:bodyPr/>
          <a:lstStyle/>
          <a:p>
            <a:endParaRPr lang="en-US"/>
          </a:p>
        </p:txBody>
      </p:sp>
      <p:sp>
        <p:nvSpPr>
          <p:cNvPr id="15" name="Shape 13"/>
          <p:cNvSpPr/>
          <p:nvPr/>
        </p:nvSpPr>
        <p:spPr>
          <a:xfrm>
            <a:off x="457200" y="3209544"/>
            <a:ext cx="1005840" cy="1005840"/>
          </a:xfrm>
          <a:prstGeom prst="ellipse">
            <a:avLst/>
          </a:prstGeom>
          <a:solidFill>
            <a:srgbClr val="7C3AED"/>
          </a:solidFill>
          <a:ln w="12700">
            <a:solidFill>
              <a:srgbClr val="7C3AED"/>
            </a:solidFill>
            <a:prstDash val="solid"/>
          </a:ln>
          <a:effectLst>
            <a:outerShdw blurRad="101600" dist="38100" dir="2700000" algn="bl" rotWithShape="0">
              <a:srgbClr val="000000">
                <a:alpha val="18000"/>
              </a:srgbClr>
            </a:outerShdw>
          </a:effectLst>
        </p:spPr>
        <p:txBody>
          <a:bodyPr/>
          <a:lstStyle/>
          <a:p>
            <a:endParaRPr lang="en-US"/>
          </a:p>
        </p:txBody>
      </p:sp>
      <p:sp>
        <p:nvSpPr>
          <p:cNvPr id="16" name="Text 14"/>
          <p:cNvSpPr/>
          <p:nvPr/>
        </p:nvSpPr>
        <p:spPr>
          <a:xfrm>
            <a:off x="457200" y="3209544"/>
            <a:ext cx="1005840" cy="10058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BLOCK</a:t>
            </a:r>
            <a:endParaRPr lang="en-US" sz="1200" dirty="0"/>
          </a:p>
        </p:txBody>
      </p:sp>
      <p:sp>
        <p:nvSpPr>
          <p:cNvPr id="17" name="Text 15"/>
          <p:cNvSpPr/>
          <p:nvPr/>
        </p:nvSpPr>
        <p:spPr>
          <a:xfrm>
            <a:off x="1600200" y="3063240"/>
            <a:ext cx="2651760" cy="475488"/>
          </a:xfrm>
          <a:prstGeom prst="rect">
            <a:avLst/>
          </a:prstGeom>
          <a:noFill/>
          <a:ln/>
        </p:spPr>
        <p:txBody>
          <a:bodyPr wrap="square" rtlCol="0" anchor="ctr"/>
          <a:lstStyle/>
          <a:p>
            <a:pPr marL="0" indent="0">
              <a:buNone/>
            </a:pPr>
            <a:r>
              <a:rPr lang="en-US" sz="1700" b="1" dirty="0">
                <a:solidFill>
                  <a:srgbClr val="7C3AED"/>
                </a:solidFill>
                <a:latin typeface="Calibri" pitchFamily="34" charset="0"/>
                <a:ea typeface="Calibri" pitchFamily="34" charset="-122"/>
                <a:cs typeface="Calibri" pitchFamily="34" charset="-120"/>
              </a:rPr>
              <a:t>What if... Another robot interferes?</a:t>
            </a:r>
            <a:endParaRPr lang="en-US" sz="1700" dirty="0"/>
          </a:p>
        </p:txBody>
      </p:sp>
      <p:sp>
        <p:nvSpPr>
          <p:cNvPr id="18" name="Text 16"/>
          <p:cNvSpPr/>
          <p:nvPr/>
        </p:nvSpPr>
        <p:spPr>
          <a:xfrm>
            <a:off x="1600200" y="3538728"/>
            <a:ext cx="2651760" cy="1005840"/>
          </a:xfrm>
          <a:prstGeom prst="rect">
            <a:avLst/>
          </a:prstGeom>
          <a:noFill/>
          <a:ln/>
        </p:spPr>
        <p:txBody>
          <a:bodyPr wrap="square" rtlCol="0" anchor="ctr"/>
          <a:lstStyle/>
          <a:p>
            <a:pPr marL="0" indent="0">
              <a:lnSpc>
                <a:spcPct val="125000"/>
              </a:lnSpc>
              <a:buNone/>
            </a:pPr>
            <a:r>
              <a:rPr lang="en-US" sz="1400" dirty="0">
                <a:solidFill>
                  <a:srgbClr val="37474F"/>
                </a:solidFill>
                <a:latin typeface="Calibri" pitchFamily="34" charset="0"/>
                <a:ea typeface="Calibri" pitchFamily="34" charset="-122"/>
                <a:cs typeface="Calibri" pitchFamily="34" charset="-120"/>
              </a:rPr>
              <a:t>Unexpected obstacle!</a:t>
            </a:r>
            <a:endParaRPr lang="en-US" sz="1400" dirty="0"/>
          </a:p>
          <a:p>
            <a:pPr marL="0" indent="0">
              <a:lnSpc>
                <a:spcPct val="125000"/>
              </a:lnSpc>
              <a:buNone/>
            </a:pPr>
            <a:r>
              <a:rPr lang="en-US" sz="1400" dirty="0">
                <a:solidFill>
                  <a:srgbClr val="37474F"/>
                </a:solidFill>
                <a:latin typeface="Calibri" pitchFamily="34" charset="0"/>
                <a:ea typeface="Calibri" pitchFamily="34" charset="-122"/>
                <a:cs typeface="Calibri" pitchFamily="34" charset="-120"/>
              </a:rPr>
              <a:t>How should the robot react?</a:t>
            </a:r>
            <a:endParaRPr lang="en-US" sz="1400" dirty="0"/>
          </a:p>
        </p:txBody>
      </p:sp>
      <p:sp>
        <p:nvSpPr>
          <p:cNvPr id="19" name="Shape 17"/>
          <p:cNvSpPr/>
          <p:nvPr/>
        </p:nvSpPr>
        <p:spPr>
          <a:xfrm>
            <a:off x="4754880" y="2953512"/>
            <a:ext cx="4114800" cy="1783080"/>
          </a:xfrm>
          <a:prstGeom prst="roundRect">
            <a:avLst>
              <a:gd name="adj" fmla="val 6154"/>
            </a:avLst>
          </a:prstGeom>
          <a:solidFill>
            <a:srgbClr val="FCE4EC"/>
          </a:solidFill>
          <a:ln w="12700">
            <a:solidFill>
              <a:srgbClr val="FCE4EC"/>
            </a:solidFill>
            <a:prstDash val="solid"/>
          </a:ln>
          <a:effectLst>
            <a:outerShdw blurRad="101600" dist="38100" dir="2700000" algn="bl" rotWithShape="0">
              <a:srgbClr val="000000">
                <a:alpha val="18000"/>
              </a:srgbClr>
            </a:outerShdw>
          </a:effectLst>
        </p:spPr>
        <p:txBody>
          <a:bodyPr/>
          <a:lstStyle/>
          <a:p>
            <a:endParaRPr lang="en-US"/>
          </a:p>
        </p:txBody>
      </p:sp>
      <p:sp>
        <p:nvSpPr>
          <p:cNvPr id="20" name="Shape 18"/>
          <p:cNvSpPr/>
          <p:nvPr/>
        </p:nvSpPr>
        <p:spPr>
          <a:xfrm>
            <a:off x="4937760" y="3209544"/>
            <a:ext cx="1005840" cy="1005840"/>
          </a:xfrm>
          <a:prstGeom prst="ellipse">
            <a:avLst/>
          </a:prstGeom>
          <a:solidFill>
            <a:srgbClr val="E91E8C"/>
          </a:solidFill>
          <a:ln w="12700">
            <a:solidFill>
              <a:srgbClr val="E91E8C"/>
            </a:solidFill>
            <a:prstDash val="solid"/>
          </a:ln>
          <a:effectLst>
            <a:outerShdw blurRad="101600" dist="38100" dir="2700000" algn="bl" rotWithShape="0">
              <a:srgbClr val="000000">
                <a:alpha val="18000"/>
              </a:srgbClr>
            </a:outerShdw>
          </a:effectLst>
        </p:spPr>
        <p:txBody>
          <a:bodyPr/>
          <a:lstStyle/>
          <a:p>
            <a:endParaRPr lang="en-US"/>
          </a:p>
        </p:txBody>
      </p:sp>
      <p:sp>
        <p:nvSpPr>
          <p:cNvPr id="21" name="Text 19"/>
          <p:cNvSpPr/>
          <p:nvPr/>
        </p:nvSpPr>
        <p:spPr>
          <a:xfrm>
            <a:off x="4937760" y="3209544"/>
            <a:ext cx="1005840" cy="10058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FALL</a:t>
            </a:r>
            <a:endParaRPr lang="en-US" sz="1200" dirty="0"/>
          </a:p>
        </p:txBody>
      </p:sp>
      <p:sp>
        <p:nvSpPr>
          <p:cNvPr id="22" name="Text 20"/>
          <p:cNvSpPr/>
          <p:nvPr/>
        </p:nvSpPr>
        <p:spPr>
          <a:xfrm>
            <a:off x="6080760" y="3063240"/>
            <a:ext cx="2651760" cy="475488"/>
          </a:xfrm>
          <a:prstGeom prst="rect">
            <a:avLst/>
          </a:prstGeom>
          <a:noFill/>
          <a:ln/>
        </p:spPr>
        <p:txBody>
          <a:bodyPr wrap="square" rtlCol="0" anchor="ctr"/>
          <a:lstStyle/>
          <a:p>
            <a:pPr marL="0" indent="0">
              <a:buNone/>
            </a:pPr>
            <a:r>
              <a:rPr lang="en-US" sz="1700" b="1" dirty="0">
                <a:solidFill>
                  <a:srgbClr val="E91E8C"/>
                </a:solidFill>
                <a:latin typeface="Calibri" pitchFamily="34" charset="0"/>
                <a:ea typeface="Calibri" pitchFamily="34" charset="-122"/>
                <a:cs typeface="Calibri" pitchFamily="34" charset="-120"/>
              </a:rPr>
              <a:t>What if... The cube falls over?</a:t>
            </a:r>
            <a:endParaRPr lang="en-US" sz="1700" dirty="0"/>
          </a:p>
        </p:txBody>
      </p:sp>
      <p:sp>
        <p:nvSpPr>
          <p:cNvPr id="23" name="Text 21"/>
          <p:cNvSpPr/>
          <p:nvPr/>
        </p:nvSpPr>
        <p:spPr>
          <a:xfrm>
            <a:off x="6080760" y="3538728"/>
            <a:ext cx="2651760" cy="1005840"/>
          </a:xfrm>
          <a:prstGeom prst="rect">
            <a:avLst/>
          </a:prstGeom>
          <a:noFill/>
          <a:ln/>
        </p:spPr>
        <p:txBody>
          <a:bodyPr wrap="square" rtlCol="0" anchor="ctr"/>
          <a:lstStyle/>
          <a:p>
            <a:pPr marL="0" indent="0">
              <a:lnSpc>
                <a:spcPct val="125000"/>
              </a:lnSpc>
              <a:buNone/>
            </a:pPr>
            <a:r>
              <a:rPr lang="en-US" sz="1400" dirty="0">
                <a:solidFill>
                  <a:srgbClr val="37474F"/>
                </a:solidFill>
                <a:latin typeface="Calibri" pitchFamily="34" charset="0"/>
                <a:ea typeface="Calibri" pitchFamily="34" charset="-122"/>
                <a:cs typeface="Calibri" pitchFamily="34" charset="-120"/>
              </a:rPr>
              <a:t>Now it's on its side.</a:t>
            </a:r>
            <a:endParaRPr lang="en-US" sz="1400" dirty="0"/>
          </a:p>
          <a:p>
            <a:pPr marL="0" indent="0">
              <a:lnSpc>
                <a:spcPct val="125000"/>
              </a:lnSpc>
              <a:buNone/>
            </a:pPr>
            <a:r>
              <a:rPr lang="en-US" sz="1400" dirty="0">
                <a:solidFill>
                  <a:srgbClr val="37474F"/>
                </a:solidFill>
                <a:latin typeface="Calibri" pitchFamily="34" charset="0"/>
                <a:ea typeface="Calibri" pitchFamily="34" charset="-122"/>
                <a:cs typeface="Calibri" pitchFamily="34" charset="-120"/>
              </a:rPr>
              <a:t>Gripper position is all wrong.</a:t>
            </a:r>
            <a:endParaRPr lang="en-US" sz="1400" dirty="0"/>
          </a:p>
        </p:txBody>
      </p:sp>
      <p:sp>
        <p:nvSpPr>
          <p:cNvPr id="24" name="Shape 22"/>
          <p:cNvSpPr/>
          <p:nvPr/>
        </p:nvSpPr>
        <p:spPr>
          <a:xfrm>
            <a:off x="274320" y="4553712"/>
            <a:ext cx="8595360" cy="347472"/>
          </a:xfrm>
          <a:prstGeom prst="roundRect">
            <a:avLst>
              <a:gd name="adj" fmla="val 26316"/>
            </a:avLst>
          </a:prstGeom>
          <a:solidFill>
            <a:srgbClr val="1565C0"/>
          </a:solidFill>
          <a:ln w="12700">
            <a:solidFill>
              <a:srgbClr val="1565C0"/>
            </a:solidFill>
            <a:prstDash val="solid"/>
          </a:ln>
        </p:spPr>
        <p:txBody>
          <a:bodyPr/>
          <a:lstStyle/>
          <a:p>
            <a:endParaRPr lang="en-US"/>
          </a:p>
        </p:txBody>
      </p:sp>
      <p:sp>
        <p:nvSpPr>
          <p:cNvPr id="25" name="Text 23"/>
          <p:cNvSpPr/>
          <p:nvPr/>
        </p:nvSpPr>
        <p:spPr>
          <a:xfrm>
            <a:off x="274320" y="4553712"/>
            <a:ext cx="8595360" cy="34747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This is called 'robustness' — one of robotics' hardest challenges!</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829"/>
        </a:solidFill>
        <a:effectLst/>
      </p:bgPr>
    </p:bg>
    <p:spTree>
      <p:nvGrpSpPr>
        <p:cNvPr id="1" name=""/>
        <p:cNvGrpSpPr/>
        <p:nvPr/>
      </p:nvGrpSpPr>
      <p:grpSpPr>
        <a:xfrm>
          <a:off x="0" y="0"/>
          <a:ext cx="0" cy="0"/>
          <a:chOff x="0" y="0"/>
          <a:chExt cx="0" cy="0"/>
        </a:xfrm>
      </p:grpSpPr>
      <p:sp>
        <p:nvSpPr>
          <p:cNvPr id="2" name="Text 0"/>
          <p:cNvSpPr/>
          <p:nvPr/>
        </p:nvSpPr>
        <p:spPr>
          <a:xfrm>
            <a:off x="365760" y="73152"/>
            <a:ext cx="8412480" cy="530352"/>
          </a:xfrm>
          <a:prstGeom prst="rect">
            <a:avLst/>
          </a:prstGeom>
          <a:noFill/>
          <a:ln/>
        </p:spPr>
        <p:txBody>
          <a:bodyPr wrap="square" rtlCol="0" anchor="ctr"/>
          <a:lstStyle/>
          <a:p>
            <a:pPr marL="0" indent="0" algn="l">
              <a:buNone/>
            </a:pPr>
            <a:r>
              <a:rPr lang="en-US" sz="3000" b="1" dirty="0">
                <a:solidFill>
                  <a:srgbClr val="FFD600"/>
                </a:solidFill>
                <a:latin typeface="Calibri" pitchFamily="34" charset="0"/>
                <a:ea typeface="Calibri" pitchFamily="34" charset="-122"/>
                <a:cs typeface="Calibri" pitchFamily="34" charset="-120"/>
              </a:rPr>
              <a:t>Would You Practice on a Million-Dollar Robot?</a:t>
            </a:r>
            <a:endParaRPr lang="en-US" sz="3000" dirty="0"/>
          </a:p>
        </p:txBody>
      </p:sp>
      <p:sp>
        <p:nvSpPr>
          <p:cNvPr id="3" name="Shape 1"/>
          <p:cNvSpPr/>
          <p:nvPr/>
        </p:nvSpPr>
        <p:spPr>
          <a:xfrm>
            <a:off x="274320" y="749808"/>
            <a:ext cx="4023360" cy="3749040"/>
          </a:xfrm>
          <a:prstGeom prst="roundRect">
            <a:avLst>
              <a:gd name="adj" fmla="val 2927"/>
            </a:avLst>
          </a:prstGeom>
          <a:solidFill>
            <a:srgbClr val="2C0A0A"/>
          </a:solidFill>
          <a:ln w="12700">
            <a:solidFill>
              <a:srgbClr val="2C0A0A"/>
            </a:solidFill>
            <a:prstDash val="solid"/>
          </a:ln>
          <a:effectLst>
            <a:outerShdw blurRad="101600" dist="38100" dir="2700000" algn="bl" rotWithShape="0">
              <a:srgbClr val="000000">
                <a:alpha val="18000"/>
              </a:srgbClr>
            </a:outerShdw>
          </a:effectLst>
        </p:spPr>
        <p:txBody>
          <a:bodyPr/>
          <a:lstStyle/>
          <a:p>
            <a:endParaRPr lang="en-US"/>
          </a:p>
        </p:txBody>
      </p:sp>
      <p:sp>
        <p:nvSpPr>
          <p:cNvPr id="4" name="Shape 2"/>
          <p:cNvSpPr/>
          <p:nvPr/>
        </p:nvSpPr>
        <p:spPr>
          <a:xfrm>
            <a:off x="274320" y="749808"/>
            <a:ext cx="4023360" cy="457200"/>
          </a:xfrm>
          <a:prstGeom prst="roundRect">
            <a:avLst>
              <a:gd name="adj" fmla="val 20000"/>
            </a:avLst>
          </a:prstGeom>
          <a:solidFill>
            <a:srgbClr val="D32F2F"/>
          </a:solidFill>
          <a:ln w="12700">
            <a:solidFill>
              <a:srgbClr val="D32F2F"/>
            </a:solidFill>
            <a:prstDash val="solid"/>
          </a:ln>
        </p:spPr>
        <p:txBody>
          <a:bodyPr/>
          <a:lstStyle/>
          <a:p>
            <a:endParaRPr lang="en-US"/>
          </a:p>
        </p:txBody>
      </p:sp>
      <p:sp>
        <p:nvSpPr>
          <p:cNvPr id="5" name="Text 3"/>
          <p:cNvSpPr/>
          <p:nvPr/>
        </p:nvSpPr>
        <p:spPr>
          <a:xfrm>
            <a:off x="274320" y="749808"/>
            <a:ext cx="4023360" cy="45720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Option  A  -- Real Robot</a:t>
            </a:r>
            <a:endParaRPr lang="en-US" sz="1900" dirty="0"/>
          </a:p>
        </p:txBody>
      </p:sp>
      <p:sp>
        <p:nvSpPr>
          <p:cNvPr id="15" name="Text 13"/>
          <p:cNvSpPr/>
          <p:nvPr/>
        </p:nvSpPr>
        <p:spPr>
          <a:xfrm>
            <a:off x="411480" y="3982212"/>
            <a:ext cx="3749040" cy="411480"/>
          </a:xfrm>
          <a:prstGeom prst="rect">
            <a:avLst/>
          </a:prstGeom>
          <a:noFill/>
          <a:ln/>
        </p:spPr>
        <p:txBody>
          <a:bodyPr wrap="square" rtlCol="0" anchor="ctr"/>
          <a:lstStyle/>
          <a:p>
            <a:pPr marL="0" indent="0" algn="ctr">
              <a:buNone/>
            </a:pPr>
            <a:r>
              <a:rPr lang="en-US" sz="2600" b="1" dirty="0">
                <a:solidFill>
                  <a:srgbClr val="D32F2F"/>
                </a:solidFill>
                <a:latin typeface="Calibri" pitchFamily="34" charset="0"/>
                <a:ea typeface="Calibri" pitchFamily="34" charset="-122"/>
                <a:cs typeface="Calibri" pitchFamily="34" charset="-120"/>
              </a:rPr>
              <a:t>$1,000,000+</a:t>
            </a:r>
            <a:endParaRPr lang="en-US" sz="2600" dirty="0"/>
          </a:p>
        </p:txBody>
      </p:sp>
      <p:sp>
        <p:nvSpPr>
          <p:cNvPr id="22" name="Shape 20"/>
          <p:cNvSpPr/>
          <p:nvPr/>
        </p:nvSpPr>
        <p:spPr>
          <a:xfrm>
            <a:off x="4846320" y="749808"/>
            <a:ext cx="4023360" cy="3749040"/>
          </a:xfrm>
          <a:prstGeom prst="roundRect">
            <a:avLst>
              <a:gd name="adj" fmla="val 2927"/>
            </a:avLst>
          </a:prstGeom>
          <a:solidFill>
            <a:srgbClr val="0A2C0A"/>
          </a:solidFill>
          <a:ln w="12700">
            <a:solidFill>
              <a:srgbClr val="0A2C0A"/>
            </a:solidFill>
            <a:prstDash val="solid"/>
          </a:ln>
          <a:effectLst>
            <a:outerShdw blurRad="101600" dist="38100" dir="2700000" algn="bl" rotWithShape="0">
              <a:srgbClr val="000000">
                <a:alpha val="18000"/>
              </a:srgbClr>
            </a:outerShdw>
          </a:effectLst>
        </p:spPr>
        <p:txBody>
          <a:bodyPr/>
          <a:lstStyle/>
          <a:p>
            <a:endParaRPr lang="en-US"/>
          </a:p>
        </p:txBody>
      </p:sp>
      <p:sp>
        <p:nvSpPr>
          <p:cNvPr id="23" name="Shape 21"/>
          <p:cNvSpPr/>
          <p:nvPr/>
        </p:nvSpPr>
        <p:spPr>
          <a:xfrm>
            <a:off x="4846320" y="749808"/>
            <a:ext cx="4023360" cy="457200"/>
          </a:xfrm>
          <a:prstGeom prst="roundRect">
            <a:avLst>
              <a:gd name="adj" fmla="val 20000"/>
            </a:avLst>
          </a:prstGeom>
          <a:solidFill>
            <a:srgbClr val="2E7D32"/>
          </a:solidFill>
          <a:ln w="12700">
            <a:solidFill>
              <a:srgbClr val="2E7D32"/>
            </a:solidFill>
            <a:prstDash val="solid"/>
          </a:ln>
        </p:spPr>
        <p:txBody>
          <a:bodyPr/>
          <a:lstStyle/>
          <a:p>
            <a:endParaRPr lang="en-US"/>
          </a:p>
        </p:txBody>
      </p:sp>
      <p:sp>
        <p:nvSpPr>
          <p:cNvPr id="24" name="Text 22"/>
          <p:cNvSpPr/>
          <p:nvPr/>
        </p:nvSpPr>
        <p:spPr>
          <a:xfrm>
            <a:off x="4846320" y="749808"/>
            <a:ext cx="4023360" cy="45720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Option  B  -- Simulation</a:t>
            </a:r>
            <a:endParaRPr lang="en-US" sz="1900" dirty="0"/>
          </a:p>
        </p:txBody>
      </p:sp>
      <p:sp>
        <p:nvSpPr>
          <p:cNvPr id="31" name="Text 29"/>
          <p:cNvSpPr/>
          <p:nvPr/>
        </p:nvSpPr>
        <p:spPr>
          <a:xfrm>
            <a:off x="4960620" y="3974378"/>
            <a:ext cx="3794760" cy="411480"/>
          </a:xfrm>
          <a:prstGeom prst="rect">
            <a:avLst/>
          </a:prstGeom>
          <a:noFill/>
          <a:ln/>
        </p:spPr>
        <p:txBody>
          <a:bodyPr wrap="square" rtlCol="0" anchor="ctr"/>
          <a:lstStyle/>
          <a:p>
            <a:pPr marL="0" indent="0" algn="ctr">
              <a:buNone/>
            </a:pPr>
            <a:r>
              <a:rPr lang="en-US" sz="2200" b="1" dirty="0">
                <a:solidFill>
                  <a:srgbClr val="8BC34A"/>
                </a:solidFill>
                <a:latin typeface="Calibri" pitchFamily="34" charset="0"/>
                <a:ea typeface="Calibri" pitchFamily="34" charset="-122"/>
                <a:cs typeface="Calibri" pitchFamily="34" charset="-120"/>
              </a:rPr>
              <a:t>Cheaper, Free Sometimes!</a:t>
            </a:r>
            <a:endParaRPr lang="en-US" sz="2200" dirty="0"/>
          </a:p>
        </p:txBody>
      </p:sp>
      <p:sp>
        <p:nvSpPr>
          <p:cNvPr id="38" name="Shape 36"/>
          <p:cNvSpPr/>
          <p:nvPr/>
        </p:nvSpPr>
        <p:spPr>
          <a:xfrm>
            <a:off x="4251960" y="2212848"/>
            <a:ext cx="640080" cy="640080"/>
          </a:xfrm>
          <a:prstGeom prst="ellipse">
            <a:avLst/>
          </a:prstGeom>
          <a:solidFill>
            <a:srgbClr val="FFD600"/>
          </a:solidFill>
          <a:ln w="12700">
            <a:solidFill>
              <a:srgbClr val="FFD600"/>
            </a:solidFill>
            <a:prstDash val="solid"/>
          </a:ln>
          <a:effectLst>
            <a:outerShdw blurRad="101600" dist="38100" dir="2700000" algn="bl" rotWithShape="0">
              <a:srgbClr val="000000">
                <a:alpha val="18000"/>
              </a:srgbClr>
            </a:outerShdw>
          </a:effectLst>
        </p:spPr>
        <p:txBody>
          <a:bodyPr/>
          <a:lstStyle/>
          <a:p>
            <a:endParaRPr lang="en-US"/>
          </a:p>
        </p:txBody>
      </p:sp>
      <p:sp>
        <p:nvSpPr>
          <p:cNvPr id="39" name="Text 37"/>
          <p:cNvSpPr/>
          <p:nvPr/>
        </p:nvSpPr>
        <p:spPr>
          <a:xfrm>
            <a:off x="4251960" y="2212848"/>
            <a:ext cx="640080" cy="640080"/>
          </a:xfrm>
          <a:prstGeom prst="rect">
            <a:avLst/>
          </a:prstGeom>
          <a:noFill/>
          <a:ln/>
        </p:spPr>
        <p:txBody>
          <a:bodyPr wrap="square" lIns="0" tIns="0" rIns="0" bIns="0" rtlCol="0" anchor="ctr"/>
          <a:lstStyle/>
          <a:p>
            <a:pPr marL="0" indent="0" algn="ctr">
              <a:buNone/>
            </a:pPr>
            <a:r>
              <a:rPr lang="en-US" sz="1700" b="1" dirty="0">
                <a:solidFill>
                  <a:srgbClr val="1A1A2E"/>
                </a:solidFill>
                <a:latin typeface="Calibri" pitchFamily="34" charset="0"/>
                <a:ea typeface="Calibri" pitchFamily="34" charset="-122"/>
                <a:cs typeface="Calibri" pitchFamily="34" charset="-120"/>
              </a:rPr>
              <a:t>VS</a:t>
            </a:r>
            <a:endParaRPr lang="en-US" sz="1700" dirty="0"/>
          </a:p>
        </p:txBody>
      </p:sp>
      <p:sp>
        <p:nvSpPr>
          <p:cNvPr id="40" name="Shape 38"/>
          <p:cNvSpPr/>
          <p:nvPr/>
        </p:nvSpPr>
        <p:spPr>
          <a:xfrm>
            <a:off x="274320" y="4553712"/>
            <a:ext cx="8595360" cy="347472"/>
          </a:xfrm>
          <a:prstGeom prst="roundRect">
            <a:avLst>
              <a:gd name="adj" fmla="val 26316"/>
            </a:avLst>
          </a:prstGeom>
          <a:solidFill>
            <a:srgbClr val="FFD600"/>
          </a:solidFill>
          <a:ln w="12700">
            <a:solidFill>
              <a:srgbClr val="FFD600"/>
            </a:solidFill>
            <a:prstDash val="solid"/>
          </a:ln>
        </p:spPr>
        <p:txBody>
          <a:bodyPr/>
          <a:lstStyle/>
          <a:p>
            <a:endParaRPr lang="en-US"/>
          </a:p>
        </p:txBody>
      </p:sp>
      <p:sp>
        <p:nvSpPr>
          <p:cNvPr id="41" name="Text 39"/>
          <p:cNvSpPr/>
          <p:nvPr/>
        </p:nvSpPr>
        <p:spPr>
          <a:xfrm>
            <a:off x="274320" y="4553712"/>
            <a:ext cx="8595360" cy="347472"/>
          </a:xfrm>
          <a:prstGeom prst="rect">
            <a:avLst/>
          </a:prstGeom>
          <a:noFill/>
          <a:ln/>
        </p:spPr>
        <p:txBody>
          <a:bodyPr wrap="square" lIns="0" tIns="0" rIns="0" bIns="0" rtlCol="0" anchor="ctr"/>
          <a:lstStyle/>
          <a:p>
            <a:pPr marL="0" indent="0" algn="ctr">
              <a:buNone/>
            </a:pPr>
            <a:r>
              <a:rPr lang="en-US" sz="1700" b="1" dirty="0">
                <a:solidFill>
                  <a:srgbClr val="1A1A2E"/>
                </a:solidFill>
                <a:latin typeface="Calibri" pitchFamily="34" charset="0"/>
                <a:ea typeface="Calibri" pitchFamily="34" charset="-122"/>
                <a:cs typeface="Calibri" pitchFamily="34" charset="-120"/>
              </a:rPr>
              <a:t>Which would YOU choose?</a:t>
            </a:r>
            <a:endParaRPr lang="en-US" sz="1700" dirty="0"/>
          </a:p>
        </p:txBody>
      </p:sp>
      <p:pic>
        <p:nvPicPr>
          <p:cNvPr id="46" name="Picture 45" descr="28 Best Humanoid Robots [2026 Ranked] | Robozaps">
            <a:extLst>
              <a:ext uri="{FF2B5EF4-FFF2-40B4-BE49-F238E27FC236}">
                <a16:creationId xmlns:a16="http://schemas.microsoft.com/office/drawing/2014/main" id="{47ED8818-AF1E-0BA5-68CD-E2E8A23BEEB5}"/>
              </a:ext>
            </a:extLst>
          </p:cNvPr>
          <p:cNvPicPr>
            <a:picLocks noChangeAspect="1"/>
          </p:cNvPicPr>
          <p:nvPr/>
        </p:nvPicPr>
        <p:blipFill>
          <a:blip r:embed="rId3"/>
          <a:stretch>
            <a:fillRect/>
          </a:stretch>
        </p:blipFill>
        <p:spPr>
          <a:xfrm>
            <a:off x="1254974" y="1412706"/>
            <a:ext cx="2318087" cy="2318087"/>
          </a:xfrm>
          <a:prstGeom prst="rect">
            <a:avLst/>
          </a:prstGeom>
        </p:spPr>
      </p:pic>
      <p:pic>
        <p:nvPicPr>
          <p:cNvPr id="47" name="Picture 46" descr="Build and Orchestrate End-to-End SDG Workflows with NVIDIA Isaac Sim ...">
            <a:extLst>
              <a:ext uri="{FF2B5EF4-FFF2-40B4-BE49-F238E27FC236}">
                <a16:creationId xmlns:a16="http://schemas.microsoft.com/office/drawing/2014/main" id="{6066E6AE-9266-B55E-F317-BCCB2EE814C6}"/>
              </a:ext>
            </a:extLst>
          </p:cNvPr>
          <p:cNvPicPr>
            <a:picLocks noChangeAspect="1"/>
          </p:cNvPicPr>
          <p:nvPr/>
        </p:nvPicPr>
        <p:blipFill>
          <a:blip r:embed="rId4"/>
          <a:stretch>
            <a:fillRect/>
          </a:stretch>
        </p:blipFill>
        <p:spPr>
          <a:xfrm>
            <a:off x="5156200" y="1621101"/>
            <a:ext cx="3562386" cy="200384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F"/>
        </a:solidFill>
        <a:effectLst/>
      </p:bgPr>
    </p:bg>
    <p:spTree>
      <p:nvGrpSpPr>
        <p:cNvPr id="1" name=""/>
        <p:cNvGrpSpPr/>
        <p:nvPr/>
      </p:nvGrpSpPr>
      <p:grpSpPr>
        <a:xfrm>
          <a:off x="0" y="0"/>
          <a:ext cx="0" cy="0"/>
          <a:chOff x="0" y="0"/>
          <a:chExt cx="0" cy="0"/>
        </a:xfrm>
      </p:grpSpPr>
      <p:sp>
        <p:nvSpPr>
          <p:cNvPr id="2" name="Text 0"/>
          <p:cNvSpPr/>
          <p:nvPr/>
        </p:nvSpPr>
        <p:spPr>
          <a:xfrm>
            <a:off x="365760" y="91440"/>
            <a:ext cx="8412480" cy="548640"/>
          </a:xfrm>
          <a:prstGeom prst="rect">
            <a:avLst/>
          </a:prstGeom>
          <a:noFill/>
          <a:ln/>
        </p:spPr>
        <p:txBody>
          <a:bodyPr wrap="square" rtlCol="0" anchor="ctr"/>
          <a:lstStyle/>
          <a:p>
            <a:pPr marL="0" indent="0" algn="l">
              <a:buNone/>
            </a:pPr>
            <a:r>
              <a:rPr lang="en-US" sz="4000" b="1" dirty="0">
                <a:solidFill>
                  <a:srgbClr val="7C3AED"/>
                </a:solidFill>
                <a:latin typeface="Calibri" pitchFamily="34" charset="0"/>
                <a:ea typeface="Calibri" pitchFamily="34" charset="-122"/>
                <a:cs typeface="Calibri" pitchFamily="34" charset="-120"/>
              </a:rPr>
              <a:t>Welcome to Simulation!</a:t>
            </a:r>
            <a:endParaRPr lang="en-US" sz="4000" dirty="0"/>
          </a:p>
        </p:txBody>
      </p:sp>
      <p:sp>
        <p:nvSpPr>
          <p:cNvPr id="3" name="Shape 1"/>
          <p:cNvSpPr/>
          <p:nvPr/>
        </p:nvSpPr>
        <p:spPr>
          <a:xfrm>
            <a:off x="228600" y="777240"/>
            <a:ext cx="4069080" cy="3703320"/>
          </a:xfrm>
          <a:prstGeom prst="roundRect">
            <a:avLst>
              <a:gd name="adj" fmla="val 2963"/>
            </a:avLst>
          </a:prstGeom>
          <a:solidFill>
            <a:srgbClr val="EDE7F6"/>
          </a:solidFill>
          <a:ln w="12700">
            <a:solidFill>
              <a:srgbClr val="EDE7F6"/>
            </a:solidFill>
            <a:prstDash val="solid"/>
          </a:ln>
          <a:effectLst>
            <a:outerShdw blurRad="101600" dist="38100" dir="2700000" algn="bl" rotWithShape="0">
              <a:srgbClr val="000000">
                <a:alpha val="18000"/>
              </a:srgbClr>
            </a:outerShdw>
          </a:effectLst>
        </p:spPr>
        <p:txBody>
          <a:bodyPr/>
          <a:lstStyle/>
          <a:p>
            <a:endParaRPr lang="en-US"/>
          </a:p>
        </p:txBody>
      </p:sp>
      <p:sp>
        <p:nvSpPr>
          <p:cNvPr id="4" name="Text 2"/>
          <p:cNvSpPr/>
          <p:nvPr/>
        </p:nvSpPr>
        <p:spPr>
          <a:xfrm>
            <a:off x="274320" y="868680"/>
            <a:ext cx="3977640" cy="411480"/>
          </a:xfrm>
          <a:prstGeom prst="rect">
            <a:avLst/>
          </a:prstGeom>
          <a:noFill/>
          <a:ln/>
        </p:spPr>
        <p:txBody>
          <a:bodyPr wrap="square" rtlCol="0" anchor="ctr"/>
          <a:lstStyle/>
          <a:p>
            <a:pPr marL="0" indent="0" algn="ctr">
              <a:buNone/>
            </a:pPr>
            <a:r>
              <a:rPr lang="en-US" sz="2200" b="1" dirty="0">
                <a:solidFill>
                  <a:srgbClr val="7C3AED"/>
                </a:solidFill>
                <a:latin typeface="Calibri" pitchFamily="34" charset="0"/>
                <a:ea typeface="Calibri" pitchFamily="34" charset="-122"/>
                <a:cs typeface="Calibri" pitchFamily="34" charset="-120"/>
              </a:rPr>
              <a:t>Real Robot</a:t>
            </a:r>
            <a:endParaRPr lang="en-US" sz="2200" dirty="0"/>
          </a:p>
        </p:txBody>
      </p:sp>
      <p:sp>
        <p:nvSpPr>
          <p:cNvPr id="5" name="Shape 3"/>
          <p:cNvSpPr/>
          <p:nvPr/>
        </p:nvSpPr>
        <p:spPr>
          <a:xfrm>
            <a:off x="1463040" y="1389888"/>
            <a:ext cx="1645920" cy="1645920"/>
          </a:xfrm>
          <a:prstGeom prst="ellipse">
            <a:avLst/>
          </a:prstGeom>
          <a:solidFill>
            <a:srgbClr val="7C3AED"/>
          </a:solidFill>
          <a:ln w="12700">
            <a:solidFill>
              <a:srgbClr val="7C3AED"/>
            </a:solidFill>
            <a:prstDash val="solid"/>
          </a:ln>
          <a:effectLst>
            <a:outerShdw blurRad="101600" dist="38100" dir="2700000" algn="bl" rotWithShape="0">
              <a:srgbClr val="000000">
                <a:alpha val="18000"/>
              </a:srgbClr>
            </a:outerShdw>
          </a:effectLst>
        </p:spPr>
        <p:txBody>
          <a:bodyPr/>
          <a:lstStyle/>
          <a:p>
            <a:endParaRPr lang="en-US"/>
          </a:p>
        </p:txBody>
      </p:sp>
      <p:sp>
        <p:nvSpPr>
          <p:cNvPr id="6" name="Text 4"/>
          <p:cNvSpPr/>
          <p:nvPr/>
        </p:nvSpPr>
        <p:spPr>
          <a:xfrm>
            <a:off x="1449971" y="1389888"/>
            <a:ext cx="1645920" cy="1645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REAL</a:t>
            </a:r>
            <a:endParaRPr lang="en-US" sz="2000" dirty="0"/>
          </a:p>
        </p:txBody>
      </p:sp>
      <p:sp>
        <p:nvSpPr>
          <p:cNvPr id="7" name="Text 5"/>
          <p:cNvSpPr/>
          <p:nvPr/>
        </p:nvSpPr>
        <p:spPr>
          <a:xfrm>
            <a:off x="365760" y="3200400"/>
            <a:ext cx="3794760" cy="292608"/>
          </a:xfrm>
          <a:prstGeom prst="rect">
            <a:avLst/>
          </a:prstGeom>
          <a:noFill/>
          <a:ln/>
        </p:spPr>
        <p:txBody>
          <a:bodyPr wrap="square" rtlCol="0" anchor="ctr"/>
          <a:lstStyle/>
          <a:p>
            <a:pPr marL="0" indent="0" algn="ctr">
              <a:buNone/>
            </a:pPr>
            <a:r>
              <a:rPr lang="en-US" sz="1500" dirty="0">
                <a:solidFill>
                  <a:srgbClr val="D32F2F"/>
                </a:solidFill>
                <a:latin typeface="Calibri" pitchFamily="34" charset="0"/>
                <a:ea typeface="Calibri" pitchFamily="34" charset="-122"/>
                <a:cs typeface="Calibri" pitchFamily="34" charset="-120"/>
              </a:rPr>
              <a:t>Very expensive</a:t>
            </a:r>
            <a:endParaRPr lang="en-US" sz="1500" dirty="0"/>
          </a:p>
        </p:txBody>
      </p:sp>
      <p:sp>
        <p:nvSpPr>
          <p:cNvPr id="8" name="Text 6"/>
          <p:cNvSpPr/>
          <p:nvPr/>
        </p:nvSpPr>
        <p:spPr>
          <a:xfrm>
            <a:off x="365760" y="3511296"/>
            <a:ext cx="3794760" cy="292608"/>
          </a:xfrm>
          <a:prstGeom prst="rect">
            <a:avLst/>
          </a:prstGeom>
          <a:noFill/>
          <a:ln/>
        </p:spPr>
        <p:txBody>
          <a:bodyPr wrap="square" rtlCol="0" anchor="ctr"/>
          <a:lstStyle/>
          <a:p>
            <a:pPr marL="0" indent="0" algn="ctr">
              <a:buNone/>
            </a:pPr>
            <a:r>
              <a:rPr lang="en-US" sz="1500" dirty="0">
                <a:solidFill>
                  <a:srgbClr val="D32F2F"/>
                </a:solidFill>
                <a:latin typeface="Calibri" pitchFamily="34" charset="0"/>
                <a:ea typeface="Calibri" pitchFamily="34" charset="-122"/>
                <a:cs typeface="Calibri" pitchFamily="34" charset="-120"/>
              </a:rPr>
              <a:t>Crashes = Damage</a:t>
            </a:r>
            <a:endParaRPr lang="en-US" sz="1500" dirty="0"/>
          </a:p>
        </p:txBody>
      </p:sp>
      <p:sp>
        <p:nvSpPr>
          <p:cNvPr id="9" name="Text 7"/>
          <p:cNvSpPr/>
          <p:nvPr/>
        </p:nvSpPr>
        <p:spPr>
          <a:xfrm>
            <a:off x="365760" y="3822192"/>
            <a:ext cx="3794760" cy="292608"/>
          </a:xfrm>
          <a:prstGeom prst="rect">
            <a:avLst/>
          </a:prstGeom>
          <a:noFill/>
          <a:ln/>
        </p:spPr>
        <p:txBody>
          <a:bodyPr wrap="square" rtlCol="0" anchor="ctr"/>
          <a:lstStyle/>
          <a:p>
            <a:pPr marL="0" indent="0" algn="ctr">
              <a:buNone/>
            </a:pPr>
            <a:r>
              <a:rPr lang="en-US" sz="1500" dirty="0">
                <a:solidFill>
                  <a:srgbClr val="FF6D00"/>
                </a:solidFill>
                <a:latin typeface="Calibri" pitchFamily="34" charset="0"/>
                <a:ea typeface="Calibri" pitchFamily="34" charset="-122"/>
                <a:cs typeface="Calibri" pitchFamily="34" charset="-120"/>
              </a:rPr>
              <a:t>Setup takes hours</a:t>
            </a:r>
            <a:endParaRPr lang="en-US" sz="1500" dirty="0"/>
          </a:p>
        </p:txBody>
      </p:sp>
      <p:sp>
        <p:nvSpPr>
          <p:cNvPr id="10" name="Text 8"/>
          <p:cNvSpPr/>
          <p:nvPr/>
        </p:nvSpPr>
        <p:spPr>
          <a:xfrm>
            <a:off x="365760" y="4133088"/>
            <a:ext cx="3794760" cy="292608"/>
          </a:xfrm>
          <a:prstGeom prst="rect">
            <a:avLst/>
          </a:prstGeom>
          <a:noFill/>
          <a:ln/>
        </p:spPr>
        <p:txBody>
          <a:bodyPr wrap="square" rtlCol="0" anchor="ctr"/>
          <a:lstStyle/>
          <a:p>
            <a:pPr marL="0" indent="0" algn="ctr">
              <a:buNone/>
            </a:pPr>
            <a:r>
              <a:rPr lang="en-US" sz="1500" dirty="0">
                <a:solidFill>
                  <a:srgbClr val="FF6D00"/>
                </a:solidFill>
                <a:latin typeface="Calibri" pitchFamily="34" charset="0"/>
                <a:ea typeface="Calibri" pitchFamily="34" charset="-122"/>
                <a:cs typeface="Calibri" pitchFamily="34" charset="-120"/>
              </a:rPr>
              <a:t>Needs maintenance</a:t>
            </a:r>
            <a:endParaRPr lang="en-US" sz="1500" dirty="0"/>
          </a:p>
        </p:txBody>
      </p:sp>
      <p:sp>
        <p:nvSpPr>
          <p:cNvPr id="11" name="Text 9"/>
          <p:cNvSpPr/>
          <p:nvPr/>
        </p:nvSpPr>
        <p:spPr>
          <a:xfrm>
            <a:off x="4160520" y="2359152"/>
            <a:ext cx="822960" cy="457200"/>
          </a:xfrm>
          <a:prstGeom prst="rect">
            <a:avLst/>
          </a:prstGeom>
          <a:noFill/>
          <a:ln/>
        </p:spPr>
        <p:txBody>
          <a:bodyPr wrap="square" rtlCol="0" anchor="ctr"/>
          <a:lstStyle/>
          <a:p>
            <a:pPr marL="0" indent="0" algn="ctr">
              <a:buNone/>
            </a:pPr>
            <a:r>
              <a:rPr lang="en-US" sz="3000" b="1" dirty="0">
                <a:solidFill>
                  <a:srgbClr val="00BCD4"/>
                </a:solidFill>
              </a:rPr>
              <a:t>--&gt;</a:t>
            </a:r>
            <a:endParaRPr lang="en-US" sz="3000" dirty="0"/>
          </a:p>
        </p:txBody>
      </p:sp>
      <p:sp>
        <p:nvSpPr>
          <p:cNvPr id="12" name="Shape 10"/>
          <p:cNvSpPr/>
          <p:nvPr/>
        </p:nvSpPr>
        <p:spPr>
          <a:xfrm>
            <a:off x="4846320" y="777240"/>
            <a:ext cx="4069080" cy="3703320"/>
          </a:xfrm>
          <a:prstGeom prst="roundRect">
            <a:avLst>
              <a:gd name="adj" fmla="val 2963"/>
            </a:avLst>
          </a:prstGeom>
          <a:solidFill>
            <a:srgbClr val="E3F2FD"/>
          </a:solidFill>
          <a:ln w="12700">
            <a:solidFill>
              <a:srgbClr val="E3F2FD"/>
            </a:solidFill>
            <a:prstDash val="solid"/>
          </a:ln>
          <a:effectLst>
            <a:outerShdw blurRad="101600" dist="38100" dir="2700000" algn="bl" rotWithShape="0">
              <a:srgbClr val="000000">
                <a:alpha val="18000"/>
              </a:srgbClr>
            </a:outerShdw>
          </a:effectLst>
        </p:spPr>
        <p:txBody>
          <a:bodyPr/>
          <a:lstStyle/>
          <a:p>
            <a:endParaRPr lang="en-US"/>
          </a:p>
        </p:txBody>
      </p:sp>
      <p:sp>
        <p:nvSpPr>
          <p:cNvPr id="13" name="Text 11"/>
          <p:cNvSpPr/>
          <p:nvPr/>
        </p:nvSpPr>
        <p:spPr>
          <a:xfrm>
            <a:off x="4892040" y="868680"/>
            <a:ext cx="3977640" cy="411480"/>
          </a:xfrm>
          <a:prstGeom prst="rect">
            <a:avLst/>
          </a:prstGeom>
          <a:noFill/>
          <a:ln/>
        </p:spPr>
        <p:txBody>
          <a:bodyPr wrap="square" rtlCol="0" anchor="ctr"/>
          <a:lstStyle/>
          <a:p>
            <a:pPr marL="0" indent="0" algn="ctr">
              <a:buNone/>
            </a:pPr>
            <a:r>
              <a:rPr lang="en-US" sz="2200" b="1" dirty="0">
                <a:solidFill>
                  <a:srgbClr val="1565C0"/>
                </a:solidFill>
                <a:latin typeface="Calibri" pitchFamily="34" charset="0"/>
                <a:ea typeface="Calibri" pitchFamily="34" charset="-122"/>
                <a:cs typeface="Calibri" pitchFamily="34" charset="-120"/>
              </a:rPr>
              <a:t>Genesis Simulation</a:t>
            </a:r>
            <a:endParaRPr lang="en-US" sz="2200" dirty="0"/>
          </a:p>
        </p:txBody>
      </p:sp>
      <p:sp>
        <p:nvSpPr>
          <p:cNvPr id="14" name="Shape 12"/>
          <p:cNvSpPr/>
          <p:nvPr/>
        </p:nvSpPr>
        <p:spPr>
          <a:xfrm>
            <a:off x="6028501" y="1389888"/>
            <a:ext cx="1645920" cy="1645920"/>
          </a:xfrm>
          <a:prstGeom prst="ellipse">
            <a:avLst/>
          </a:prstGeom>
          <a:solidFill>
            <a:srgbClr val="1565C0"/>
          </a:solidFill>
          <a:ln w="12700">
            <a:solidFill>
              <a:srgbClr val="1565C0"/>
            </a:solidFill>
            <a:prstDash val="solid"/>
          </a:ln>
          <a:effectLst>
            <a:outerShdw blurRad="101600" dist="38100" dir="2700000" algn="bl" rotWithShape="0">
              <a:srgbClr val="000000">
                <a:alpha val="18000"/>
              </a:srgbClr>
            </a:outerShdw>
          </a:effectLst>
        </p:spPr>
        <p:txBody>
          <a:bodyPr/>
          <a:lstStyle/>
          <a:p>
            <a:endParaRPr lang="en-US"/>
          </a:p>
        </p:txBody>
      </p:sp>
      <p:sp>
        <p:nvSpPr>
          <p:cNvPr id="15" name="Text 13"/>
          <p:cNvSpPr/>
          <p:nvPr/>
        </p:nvSpPr>
        <p:spPr>
          <a:xfrm>
            <a:off x="6041577" y="1389888"/>
            <a:ext cx="1645920" cy="1645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SIM</a:t>
            </a:r>
            <a:endParaRPr lang="en-US" sz="2000" dirty="0"/>
          </a:p>
        </p:txBody>
      </p:sp>
      <p:sp>
        <p:nvSpPr>
          <p:cNvPr id="16" name="Text 14"/>
          <p:cNvSpPr/>
          <p:nvPr/>
        </p:nvSpPr>
        <p:spPr>
          <a:xfrm>
            <a:off x="4983480" y="3200400"/>
            <a:ext cx="3840480" cy="292608"/>
          </a:xfrm>
          <a:prstGeom prst="rect">
            <a:avLst/>
          </a:prstGeom>
          <a:noFill/>
          <a:ln/>
        </p:spPr>
        <p:txBody>
          <a:bodyPr wrap="square" rtlCol="0" anchor="ctr"/>
          <a:lstStyle/>
          <a:p>
            <a:pPr marL="0" indent="0" algn="ctr">
              <a:buNone/>
            </a:pPr>
            <a:r>
              <a:rPr lang="en-US" sz="1500" dirty="0">
                <a:solidFill>
                  <a:srgbClr val="2E7D32"/>
                </a:solidFill>
                <a:latin typeface="Calibri" pitchFamily="34" charset="0"/>
                <a:ea typeface="Calibri" pitchFamily="34" charset="-122"/>
                <a:cs typeface="Calibri" pitchFamily="34" charset="-120"/>
              </a:rPr>
              <a:t>Free to use</a:t>
            </a:r>
            <a:endParaRPr lang="en-US" sz="1500" dirty="0"/>
          </a:p>
        </p:txBody>
      </p:sp>
      <p:sp>
        <p:nvSpPr>
          <p:cNvPr id="17" name="Text 15"/>
          <p:cNvSpPr/>
          <p:nvPr/>
        </p:nvSpPr>
        <p:spPr>
          <a:xfrm>
            <a:off x="4983480" y="3511296"/>
            <a:ext cx="3840480" cy="292608"/>
          </a:xfrm>
          <a:prstGeom prst="rect">
            <a:avLst/>
          </a:prstGeom>
          <a:noFill/>
          <a:ln/>
        </p:spPr>
        <p:txBody>
          <a:bodyPr wrap="square" rtlCol="0" anchor="ctr"/>
          <a:lstStyle/>
          <a:p>
            <a:pPr marL="0" indent="0" algn="ctr">
              <a:buNone/>
            </a:pPr>
            <a:r>
              <a:rPr lang="en-US" sz="1500" dirty="0">
                <a:solidFill>
                  <a:srgbClr val="2E7D32"/>
                </a:solidFill>
                <a:latin typeface="Calibri" pitchFamily="34" charset="0"/>
                <a:ea typeface="Calibri" pitchFamily="34" charset="-122"/>
                <a:cs typeface="Calibri" pitchFamily="34" charset="-120"/>
              </a:rPr>
              <a:t>Crash &amp; reset instantly</a:t>
            </a:r>
            <a:endParaRPr lang="en-US" sz="1500" dirty="0"/>
          </a:p>
        </p:txBody>
      </p:sp>
      <p:sp>
        <p:nvSpPr>
          <p:cNvPr id="18" name="Text 16"/>
          <p:cNvSpPr/>
          <p:nvPr/>
        </p:nvSpPr>
        <p:spPr>
          <a:xfrm>
            <a:off x="4983480" y="3822192"/>
            <a:ext cx="3840480" cy="292608"/>
          </a:xfrm>
          <a:prstGeom prst="rect">
            <a:avLst/>
          </a:prstGeom>
          <a:noFill/>
          <a:ln/>
        </p:spPr>
        <p:txBody>
          <a:bodyPr wrap="square" rtlCol="0" anchor="ctr"/>
          <a:lstStyle/>
          <a:p>
            <a:pPr marL="0" indent="0" algn="ctr">
              <a:buNone/>
            </a:pPr>
            <a:r>
              <a:rPr lang="en-US" sz="1500" dirty="0">
                <a:solidFill>
                  <a:srgbClr val="009688"/>
                </a:solidFill>
                <a:latin typeface="Calibri" pitchFamily="34" charset="0"/>
                <a:ea typeface="Calibri" pitchFamily="34" charset="-122"/>
                <a:cs typeface="Calibri" pitchFamily="34" charset="-120"/>
              </a:rPr>
              <a:t>Run at 1000x speed</a:t>
            </a:r>
            <a:endParaRPr lang="en-US" sz="1500" dirty="0"/>
          </a:p>
        </p:txBody>
      </p:sp>
      <p:sp>
        <p:nvSpPr>
          <p:cNvPr id="19" name="Text 17"/>
          <p:cNvSpPr/>
          <p:nvPr/>
        </p:nvSpPr>
        <p:spPr>
          <a:xfrm>
            <a:off x="4983480" y="4133088"/>
            <a:ext cx="3840480" cy="292608"/>
          </a:xfrm>
          <a:prstGeom prst="rect">
            <a:avLst/>
          </a:prstGeom>
          <a:noFill/>
          <a:ln/>
        </p:spPr>
        <p:txBody>
          <a:bodyPr wrap="square" rtlCol="0" anchor="ctr"/>
          <a:lstStyle/>
          <a:p>
            <a:pPr marL="0" indent="0" algn="ctr">
              <a:buNone/>
            </a:pPr>
            <a:r>
              <a:rPr lang="en-US" sz="1500" dirty="0">
                <a:solidFill>
                  <a:srgbClr val="009688"/>
                </a:solidFill>
                <a:latin typeface="Calibri" pitchFamily="34" charset="0"/>
                <a:ea typeface="Calibri" pitchFamily="34" charset="-122"/>
                <a:cs typeface="Calibri" pitchFamily="34" charset="-120"/>
              </a:rPr>
              <a:t>Try millions of tests</a:t>
            </a:r>
            <a:endParaRPr lang="en-US" sz="1500" dirty="0"/>
          </a:p>
        </p:txBody>
      </p:sp>
      <p:sp>
        <p:nvSpPr>
          <p:cNvPr id="20" name="Shape 18"/>
          <p:cNvSpPr/>
          <p:nvPr/>
        </p:nvSpPr>
        <p:spPr>
          <a:xfrm>
            <a:off x="228600" y="4553712"/>
            <a:ext cx="8686800" cy="347472"/>
          </a:xfrm>
          <a:prstGeom prst="roundRect">
            <a:avLst>
              <a:gd name="adj" fmla="val 26316"/>
            </a:avLst>
          </a:prstGeom>
          <a:solidFill>
            <a:srgbClr val="7C3AED"/>
          </a:solidFill>
          <a:ln w="12700">
            <a:solidFill>
              <a:srgbClr val="7C3AED"/>
            </a:solidFill>
            <a:prstDash val="solid"/>
          </a:ln>
        </p:spPr>
        <p:txBody>
          <a:bodyPr/>
          <a:lstStyle/>
          <a:p>
            <a:endParaRPr lang="en-US"/>
          </a:p>
        </p:txBody>
      </p:sp>
      <p:sp>
        <p:nvSpPr>
          <p:cNvPr id="21" name="Text 19"/>
          <p:cNvSpPr/>
          <p:nvPr/>
        </p:nvSpPr>
        <p:spPr>
          <a:xfrm>
            <a:off x="228600" y="4553712"/>
            <a:ext cx="8686800" cy="34747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Practice without breaking anything!</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0F4FF"/>
        </a:solidFill>
        <a:effectLst/>
      </p:bgPr>
    </p:bg>
    <p:spTree>
      <p:nvGrpSpPr>
        <p:cNvPr id="1" name=""/>
        <p:cNvGrpSpPr/>
        <p:nvPr/>
      </p:nvGrpSpPr>
      <p:grpSpPr>
        <a:xfrm>
          <a:off x="0" y="0"/>
          <a:ext cx="0" cy="0"/>
          <a:chOff x="0" y="0"/>
          <a:chExt cx="0" cy="0"/>
        </a:xfrm>
      </p:grpSpPr>
      <p:sp>
        <p:nvSpPr>
          <p:cNvPr id="2" name="Text 0"/>
          <p:cNvSpPr/>
          <p:nvPr/>
        </p:nvSpPr>
        <p:spPr>
          <a:xfrm>
            <a:off x="365760" y="91440"/>
            <a:ext cx="8412480" cy="530352"/>
          </a:xfrm>
          <a:prstGeom prst="rect">
            <a:avLst/>
          </a:prstGeom>
          <a:noFill/>
          <a:ln/>
        </p:spPr>
        <p:txBody>
          <a:bodyPr wrap="square" rtlCol="0" anchor="ctr"/>
          <a:lstStyle/>
          <a:p>
            <a:pPr marL="0" indent="0" algn="l">
              <a:buNone/>
            </a:pPr>
            <a:r>
              <a:rPr lang="en-US" sz="3800" b="1" dirty="0">
                <a:solidFill>
                  <a:srgbClr val="1565C0"/>
                </a:solidFill>
                <a:latin typeface="Calibri" pitchFamily="34" charset="0"/>
                <a:ea typeface="Calibri" pitchFamily="34" charset="-122"/>
                <a:cs typeface="Calibri" pitchFamily="34" charset="-120"/>
              </a:rPr>
              <a:t>Why Engineers Love Simulation</a:t>
            </a:r>
            <a:endParaRPr lang="en-US" sz="3800" dirty="0"/>
          </a:p>
        </p:txBody>
      </p:sp>
      <p:sp>
        <p:nvSpPr>
          <p:cNvPr id="3" name="Shape 1"/>
          <p:cNvSpPr/>
          <p:nvPr/>
        </p:nvSpPr>
        <p:spPr>
          <a:xfrm>
            <a:off x="256032" y="749808"/>
            <a:ext cx="4133088" cy="1874520"/>
          </a:xfrm>
          <a:prstGeom prst="roundRect">
            <a:avLst>
              <a:gd name="adj" fmla="val 5854"/>
            </a:avLst>
          </a:prstGeom>
          <a:solidFill>
            <a:srgbClr val="E8F5E9"/>
          </a:solidFill>
          <a:ln w="12700">
            <a:solidFill>
              <a:srgbClr val="E8F5E9"/>
            </a:solidFill>
            <a:prstDash val="solid"/>
          </a:ln>
          <a:effectLst>
            <a:outerShdw blurRad="101600" dist="38100" dir="2700000" algn="bl" rotWithShape="0">
              <a:srgbClr val="000000">
                <a:alpha val="18000"/>
              </a:srgbClr>
            </a:outerShdw>
          </a:effectLst>
        </p:spPr>
        <p:txBody>
          <a:bodyPr/>
          <a:lstStyle/>
          <a:p>
            <a:endParaRPr lang="en-US"/>
          </a:p>
        </p:txBody>
      </p:sp>
      <p:sp>
        <p:nvSpPr>
          <p:cNvPr id="4" name="Shape 2"/>
          <p:cNvSpPr/>
          <p:nvPr/>
        </p:nvSpPr>
        <p:spPr>
          <a:xfrm>
            <a:off x="420624" y="1069848"/>
            <a:ext cx="1051560" cy="1051560"/>
          </a:xfrm>
          <a:prstGeom prst="ellipse">
            <a:avLst/>
          </a:prstGeom>
          <a:solidFill>
            <a:srgbClr val="2E7D32"/>
          </a:solidFill>
          <a:ln w="12700">
            <a:solidFill>
              <a:srgbClr val="2E7D32"/>
            </a:solidFill>
            <a:prstDash val="solid"/>
          </a:ln>
          <a:effectLst>
            <a:outerShdw blurRad="101600" dist="38100" dir="2700000" algn="bl" rotWithShape="0">
              <a:srgbClr val="000000">
                <a:alpha val="18000"/>
              </a:srgbClr>
            </a:outerShdw>
          </a:effectLst>
        </p:spPr>
        <p:txBody>
          <a:bodyPr/>
          <a:lstStyle/>
          <a:p>
            <a:endParaRPr lang="en-US"/>
          </a:p>
        </p:txBody>
      </p:sp>
      <p:sp>
        <p:nvSpPr>
          <p:cNvPr id="5" name="Text 3"/>
          <p:cNvSpPr/>
          <p:nvPr/>
        </p:nvSpPr>
        <p:spPr>
          <a:xfrm>
            <a:off x="420624" y="1069848"/>
            <a:ext cx="1051560" cy="10515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SAFE</a:t>
            </a:r>
            <a:endParaRPr lang="en-US" sz="1200" dirty="0"/>
          </a:p>
        </p:txBody>
      </p:sp>
      <p:sp>
        <p:nvSpPr>
          <p:cNvPr id="6" name="Shape 4"/>
          <p:cNvSpPr/>
          <p:nvPr/>
        </p:nvSpPr>
        <p:spPr>
          <a:xfrm>
            <a:off x="3108960" y="914400"/>
            <a:ext cx="1170432" cy="384048"/>
          </a:xfrm>
          <a:prstGeom prst="roundRect">
            <a:avLst>
              <a:gd name="adj" fmla="val 23810"/>
            </a:avLst>
          </a:prstGeom>
          <a:solidFill>
            <a:srgbClr val="2E7D32"/>
          </a:solidFill>
          <a:ln w="12700">
            <a:solidFill>
              <a:srgbClr val="2E7D32"/>
            </a:solidFill>
            <a:prstDash val="solid"/>
          </a:ln>
        </p:spPr>
        <p:txBody>
          <a:bodyPr/>
          <a:lstStyle/>
          <a:p>
            <a:endParaRPr lang="en-US"/>
          </a:p>
        </p:txBody>
      </p:sp>
      <p:sp>
        <p:nvSpPr>
          <p:cNvPr id="7" name="Text 5"/>
          <p:cNvSpPr/>
          <p:nvPr/>
        </p:nvSpPr>
        <p:spPr>
          <a:xfrm>
            <a:off x="3108960" y="914400"/>
            <a:ext cx="1170432"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 injuries</a:t>
            </a:r>
            <a:endParaRPr lang="en-US" sz="1200" dirty="0"/>
          </a:p>
        </p:txBody>
      </p:sp>
      <p:sp>
        <p:nvSpPr>
          <p:cNvPr id="8" name="Text 6"/>
          <p:cNvSpPr/>
          <p:nvPr/>
        </p:nvSpPr>
        <p:spPr>
          <a:xfrm>
            <a:off x="1581912" y="932688"/>
            <a:ext cx="1481328" cy="411480"/>
          </a:xfrm>
          <a:prstGeom prst="rect">
            <a:avLst/>
          </a:prstGeom>
          <a:noFill/>
          <a:ln/>
        </p:spPr>
        <p:txBody>
          <a:bodyPr wrap="square" rtlCol="0" anchor="ctr"/>
          <a:lstStyle/>
          <a:p>
            <a:pPr marL="0" indent="0">
              <a:buNone/>
            </a:pPr>
            <a:r>
              <a:rPr lang="en-US" sz="2400" b="1" dirty="0">
                <a:solidFill>
                  <a:srgbClr val="2E7D32"/>
                </a:solidFill>
                <a:latin typeface="Calibri" pitchFamily="34" charset="0"/>
                <a:ea typeface="Calibri" pitchFamily="34" charset="-122"/>
                <a:cs typeface="Calibri" pitchFamily="34" charset="-120"/>
              </a:rPr>
              <a:t>Safer</a:t>
            </a:r>
            <a:endParaRPr lang="en-US" sz="2400" dirty="0"/>
          </a:p>
        </p:txBody>
      </p:sp>
      <p:sp>
        <p:nvSpPr>
          <p:cNvPr id="9" name="Text 7"/>
          <p:cNvSpPr/>
          <p:nvPr/>
        </p:nvSpPr>
        <p:spPr>
          <a:xfrm>
            <a:off x="1581912" y="1344168"/>
            <a:ext cx="2697480" cy="1097280"/>
          </a:xfrm>
          <a:prstGeom prst="rect">
            <a:avLst/>
          </a:prstGeom>
          <a:noFill/>
          <a:ln/>
        </p:spPr>
        <p:txBody>
          <a:bodyPr wrap="square" rtlCol="0" anchor="ctr"/>
          <a:lstStyle/>
          <a:p>
            <a:pPr marL="0" indent="0">
              <a:lnSpc>
                <a:spcPct val="120000"/>
              </a:lnSpc>
              <a:buNone/>
            </a:pPr>
            <a:r>
              <a:rPr lang="en-US" sz="1400" dirty="0">
                <a:solidFill>
                  <a:srgbClr val="37474F"/>
                </a:solidFill>
                <a:latin typeface="Calibri" pitchFamily="34" charset="0"/>
                <a:ea typeface="Calibri" pitchFamily="34" charset="-122"/>
                <a:cs typeface="Calibri" pitchFamily="34" charset="-120"/>
              </a:rPr>
              <a:t>No one gets hurt when the robot crashes. Experiment without fear.</a:t>
            </a:r>
            <a:endParaRPr lang="en-US" sz="1400" dirty="0"/>
          </a:p>
        </p:txBody>
      </p:sp>
      <p:sp>
        <p:nvSpPr>
          <p:cNvPr id="10" name="Shape 8"/>
          <p:cNvSpPr/>
          <p:nvPr/>
        </p:nvSpPr>
        <p:spPr>
          <a:xfrm>
            <a:off x="4736592" y="749808"/>
            <a:ext cx="4133088" cy="1874520"/>
          </a:xfrm>
          <a:prstGeom prst="roundRect">
            <a:avLst>
              <a:gd name="adj" fmla="val 5854"/>
            </a:avLst>
          </a:prstGeom>
          <a:solidFill>
            <a:srgbClr val="FFF8E1"/>
          </a:solidFill>
          <a:ln w="12700">
            <a:solidFill>
              <a:srgbClr val="FFF8E1"/>
            </a:solidFill>
            <a:prstDash val="solid"/>
          </a:ln>
          <a:effectLst>
            <a:outerShdw blurRad="101600" dist="38100" dir="2700000" algn="bl" rotWithShape="0">
              <a:srgbClr val="000000">
                <a:alpha val="18000"/>
              </a:srgbClr>
            </a:outerShdw>
          </a:effectLst>
        </p:spPr>
        <p:txBody>
          <a:bodyPr/>
          <a:lstStyle/>
          <a:p>
            <a:endParaRPr lang="en-US"/>
          </a:p>
        </p:txBody>
      </p:sp>
      <p:sp>
        <p:nvSpPr>
          <p:cNvPr id="11" name="Shape 9"/>
          <p:cNvSpPr/>
          <p:nvPr/>
        </p:nvSpPr>
        <p:spPr>
          <a:xfrm>
            <a:off x="4901184" y="1069848"/>
            <a:ext cx="1051560" cy="1051560"/>
          </a:xfrm>
          <a:prstGeom prst="ellipse">
            <a:avLst/>
          </a:prstGeom>
          <a:solidFill>
            <a:srgbClr val="FF6D00"/>
          </a:solidFill>
          <a:ln w="12700">
            <a:solidFill>
              <a:srgbClr val="FF6D00"/>
            </a:solidFill>
            <a:prstDash val="solid"/>
          </a:ln>
          <a:effectLst>
            <a:outerShdw blurRad="101600" dist="38100" dir="2700000" algn="bl" rotWithShape="0">
              <a:srgbClr val="000000">
                <a:alpha val="18000"/>
              </a:srgbClr>
            </a:outerShdw>
          </a:effectLst>
        </p:spPr>
        <p:txBody>
          <a:bodyPr/>
          <a:lstStyle/>
          <a:p>
            <a:endParaRPr lang="en-US"/>
          </a:p>
        </p:txBody>
      </p:sp>
      <p:sp>
        <p:nvSpPr>
          <p:cNvPr id="12" name="Text 10"/>
          <p:cNvSpPr/>
          <p:nvPr/>
        </p:nvSpPr>
        <p:spPr>
          <a:xfrm>
            <a:off x="4901184" y="1069848"/>
            <a:ext cx="1051560" cy="10515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FAST</a:t>
            </a:r>
            <a:endParaRPr lang="en-US" sz="1200" dirty="0"/>
          </a:p>
        </p:txBody>
      </p:sp>
      <p:sp>
        <p:nvSpPr>
          <p:cNvPr id="13" name="Shape 11"/>
          <p:cNvSpPr/>
          <p:nvPr/>
        </p:nvSpPr>
        <p:spPr>
          <a:xfrm>
            <a:off x="7589520" y="914400"/>
            <a:ext cx="1170432" cy="384048"/>
          </a:xfrm>
          <a:prstGeom prst="roundRect">
            <a:avLst>
              <a:gd name="adj" fmla="val 23810"/>
            </a:avLst>
          </a:prstGeom>
          <a:solidFill>
            <a:srgbClr val="FF6D00"/>
          </a:solidFill>
          <a:ln w="12700">
            <a:solidFill>
              <a:srgbClr val="FF6D00"/>
            </a:solidFill>
            <a:prstDash val="solid"/>
          </a:ln>
        </p:spPr>
        <p:txBody>
          <a:bodyPr/>
          <a:lstStyle/>
          <a:p>
            <a:endParaRPr lang="en-US"/>
          </a:p>
        </p:txBody>
      </p:sp>
      <p:sp>
        <p:nvSpPr>
          <p:cNvPr id="14" name="Text 12"/>
          <p:cNvSpPr/>
          <p:nvPr/>
        </p:nvSpPr>
        <p:spPr>
          <a:xfrm>
            <a:off x="7589520" y="914400"/>
            <a:ext cx="1170432"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430,000x speed</a:t>
            </a:r>
            <a:endParaRPr lang="en-US" sz="1200" dirty="0"/>
          </a:p>
        </p:txBody>
      </p:sp>
      <p:sp>
        <p:nvSpPr>
          <p:cNvPr id="15" name="Text 13"/>
          <p:cNvSpPr/>
          <p:nvPr/>
        </p:nvSpPr>
        <p:spPr>
          <a:xfrm>
            <a:off x="6062472" y="932688"/>
            <a:ext cx="1481328" cy="411480"/>
          </a:xfrm>
          <a:prstGeom prst="rect">
            <a:avLst/>
          </a:prstGeom>
          <a:noFill/>
          <a:ln/>
        </p:spPr>
        <p:txBody>
          <a:bodyPr wrap="square" rtlCol="0" anchor="ctr"/>
          <a:lstStyle/>
          <a:p>
            <a:pPr marL="0" indent="0">
              <a:buNone/>
            </a:pPr>
            <a:r>
              <a:rPr lang="en-US" sz="2400" b="1" dirty="0">
                <a:solidFill>
                  <a:srgbClr val="FF6D00"/>
                </a:solidFill>
                <a:latin typeface="Calibri" pitchFamily="34" charset="0"/>
                <a:ea typeface="Calibri" pitchFamily="34" charset="-122"/>
                <a:cs typeface="Calibri" pitchFamily="34" charset="-120"/>
              </a:rPr>
              <a:t>Faster</a:t>
            </a:r>
            <a:endParaRPr lang="en-US" sz="2400" dirty="0"/>
          </a:p>
        </p:txBody>
      </p:sp>
      <p:sp>
        <p:nvSpPr>
          <p:cNvPr id="16" name="Text 14"/>
          <p:cNvSpPr/>
          <p:nvPr/>
        </p:nvSpPr>
        <p:spPr>
          <a:xfrm>
            <a:off x="6062472" y="1344168"/>
            <a:ext cx="2697480" cy="1097280"/>
          </a:xfrm>
          <a:prstGeom prst="rect">
            <a:avLst/>
          </a:prstGeom>
          <a:noFill/>
          <a:ln/>
        </p:spPr>
        <p:txBody>
          <a:bodyPr wrap="square" rtlCol="0" anchor="ctr"/>
          <a:lstStyle/>
          <a:p>
            <a:pPr marL="0" indent="0">
              <a:lnSpc>
                <a:spcPct val="120000"/>
              </a:lnSpc>
              <a:buNone/>
            </a:pPr>
            <a:r>
              <a:rPr lang="en-US" sz="1400" dirty="0">
                <a:solidFill>
                  <a:srgbClr val="37474F"/>
                </a:solidFill>
                <a:latin typeface="Calibri" pitchFamily="34" charset="0"/>
                <a:ea typeface="Calibri" pitchFamily="34" charset="-122"/>
                <a:cs typeface="Calibri" pitchFamily="34" charset="-120"/>
              </a:rPr>
              <a:t>Run 430,000x faster than real time — a year of practice in 2 minutes!</a:t>
            </a:r>
            <a:endParaRPr lang="en-US" sz="1400" dirty="0"/>
          </a:p>
        </p:txBody>
      </p:sp>
      <p:sp>
        <p:nvSpPr>
          <p:cNvPr id="17" name="Shape 15"/>
          <p:cNvSpPr/>
          <p:nvPr/>
        </p:nvSpPr>
        <p:spPr>
          <a:xfrm>
            <a:off x="256032" y="2779776"/>
            <a:ext cx="4133088" cy="1874520"/>
          </a:xfrm>
          <a:prstGeom prst="roundRect">
            <a:avLst>
              <a:gd name="adj" fmla="val 5854"/>
            </a:avLst>
          </a:prstGeom>
          <a:solidFill>
            <a:srgbClr val="E3F2FD"/>
          </a:solidFill>
          <a:ln w="12700">
            <a:solidFill>
              <a:srgbClr val="E3F2FD"/>
            </a:solidFill>
            <a:prstDash val="solid"/>
          </a:ln>
          <a:effectLst>
            <a:outerShdw blurRad="101600" dist="38100" dir="2700000" algn="bl" rotWithShape="0">
              <a:srgbClr val="000000">
                <a:alpha val="18000"/>
              </a:srgbClr>
            </a:outerShdw>
          </a:effectLst>
        </p:spPr>
        <p:txBody>
          <a:bodyPr/>
          <a:lstStyle/>
          <a:p>
            <a:endParaRPr lang="en-US"/>
          </a:p>
        </p:txBody>
      </p:sp>
      <p:sp>
        <p:nvSpPr>
          <p:cNvPr id="18" name="Shape 16"/>
          <p:cNvSpPr/>
          <p:nvPr/>
        </p:nvSpPr>
        <p:spPr>
          <a:xfrm>
            <a:off x="420624" y="3099816"/>
            <a:ext cx="1051560" cy="1051560"/>
          </a:xfrm>
          <a:prstGeom prst="ellipse">
            <a:avLst/>
          </a:prstGeom>
          <a:solidFill>
            <a:srgbClr val="1565C0"/>
          </a:solidFill>
          <a:ln w="12700">
            <a:solidFill>
              <a:srgbClr val="1565C0"/>
            </a:solidFill>
            <a:prstDash val="solid"/>
          </a:ln>
          <a:effectLst>
            <a:outerShdw blurRad="101600" dist="38100" dir="2700000" algn="bl" rotWithShape="0">
              <a:srgbClr val="000000">
                <a:alpha val="18000"/>
              </a:srgbClr>
            </a:outerShdw>
          </a:effectLst>
        </p:spPr>
        <p:txBody>
          <a:bodyPr/>
          <a:lstStyle/>
          <a:p>
            <a:endParaRPr lang="en-US"/>
          </a:p>
        </p:txBody>
      </p:sp>
      <p:sp>
        <p:nvSpPr>
          <p:cNvPr id="19" name="Text 17"/>
          <p:cNvSpPr/>
          <p:nvPr/>
        </p:nvSpPr>
        <p:spPr>
          <a:xfrm>
            <a:off x="420624" y="3099816"/>
            <a:ext cx="1051560" cy="10515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FREE</a:t>
            </a:r>
            <a:endParaRPr lang="en-US" sz="1200" dirty="0"/>
          </a:p>
        </p:txBody>
      </p:sp>
      <p:sp>
        <p:nvSpPr>
          <p:cNvPr id="20" name="Shape 18"/>
          <p:cNvSpPr/>
          <p:nvPr/>
        </p:nvSpPr>
        <p:spPr>
          <a:xfrm>
            <a:off x="3108960" y="2944368"/>
            <a:ext cx="1170432" cy="384048"/>
          </a:xfrm>
          <a:prstGeom prst="roundRect">
            <a:avLst>
              <a:gd name="adj" fmla="val 23810"/>
            </a:avLst>
          </a:prstGeom>
          <a:solidFill>
            <a:srgbClr val="1565C0"/>
          </a:solidFill>
          <a:ln w="12700">
            <a:solidFill>
              <a:srgbClr val="1565C0"/>
            </a:solidFill>
            <a:prstDash val="solid"/>
          </a:ln>
        </p:spPr>
        <p:txBody>
          <a:bodyPr/>
          <a:lstStyle/>
          <a:p>
            <a:endParaRPr lang="en-US"/>
          </a:p>
        </p:txBody>
      </p:sp>
      <p:sp>
        <p:nvSpPr>
          <p:cNvPr id="21" name="Text 19"/>
          <p:cNvSpPr/>
          <p:nvPr/>
        </p:nvSpPr>
        <p:spPr>
          <a:xfrm>
            <a:off x="3108960" y="2944368"/>
            <a:ext cx="1170432"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 cost</a:t>
            </a:r>
            <a:endParaRPr lang="en-US" sz="1200" dirty="0"/>
          </a:p>
        </p:txBody>
      </p:sp>
      <p:sp>
        <p:nvSpPr>
          <p:cNvPr id="22" name="Text 20"/>
          <p:cNvSpPr/>
          <p:nvPr/>
        </p:nvSpPr>
        <p:spPr>
          <a:xfrm>
            <a:off x="1581912" y="2962656"/>
            <a:ext cx="1481328" cy="411480"/>
          </a:xfrm>
          <a:prstGeom prst="rect">
            <a:avLst/>
          </a:prstGeom>
          <a:noFill/>
          <a:ln/>
        </p:spPr>
        <p:txBody>
          <a:bodyPr wrap="square" rtlCol="0" anchor="ctr"/>
          <a:lstStyle/>
          <a:p>
            <a:pPr marL="0" indent="0">
              <a:buNone/>
            </a:pPr>
            <a:r>
              <a:rPr lang="en-US" sz="2400" b="1" dirty="0">
                <a:solidFill>
                  <a:srgbClr val="1565C0"/>
                </a:solidFill>
                <a:latin typeface="Calibri" pitchFamily="34" charset="0"/>
                <a:ea typeface="Calibri" pitchFamily="34" charset="-122"/>
                <a:cs typeface="Calibri" pitchFamily="34" charset="-120"/>
              </a:rPr>
              <a:t>Cheaper</a:t>
            </a:r>
            <a:endParaRPr lang="en-US" sz="2400" dirty="0"/>
          </a:p>
        </p:txBody>
      </p:sp>
      <p:sp>
        <p:nvSpPr>
          <p:cNvPr id="23" name="Text 21"/>
          <p:cNvSpPr/>
          <p:nvPr/>
        </p:nvSpPr>
        <p:spPr>
          <a:xfrm>
            <a:off x="1581912" y="3374136"/>
            <a:ext cx="2697480" cy="1097280"/>
          </a:xfrm>
          <a:prstGeom prst="rect">
            <a:avLst/>
          </a:prstGeom>
          <a:noFill/>
          <a:ln/>
        </p:spPr>
        <p:txBody>
          <a:bodyPr wrap="square" rtlCol="0" anchor="ctr"/>
          <a:lstStyle/>
          <a:p>
            <a:pPr marL="0" indent="0">
              <a:lnSpc>
                <a:spcPct val="120000"/>
              </a:lnSpc>
              <a:buNone/>
            </a:pPr>
            <a:r>
              <a:rPr lang="en-US" sz="1400" dirty="0">
                <a:solidFill>
                  <a:srgbClr val="37474F"/>
                </a:solidFill>
                <a:latin typeface="Calibri" pitchFamily="34" charset="0"/>
                <a:ea typeface="Calibri" pitchFamily="34" charset="-122"/>
                <a:cs typeface="Calibri" pitchFamily="34" charset="-120"/>
              </a:rPr>
              <a:t>Genesis is completely free. No hardware, no lab, no maintenance bills.</a:t>
            </a:r>
            <a:endParaRPr lang="en-US" sz="1400" dirty="0"/>
          </a:p>
        </p:txBody>
      </p:sp>
      <p:sp>
        <p:nvSpPr>
          <p:cNvPr id="24" name="Shape 22"/>
          <p:cNvSpPr/>
          <p:nvPr/>
        </p:nvSpPr>
        <p:spPr>
          <a:xfrm>
            <a:off x="4736592" y="2779776"/>
            <a:ext cx="4133088" cy="1874520"/>
          </a:xfrm>
          <a:prstGeom prst="roundRect">
            <a:avLst>
              <a:gd name="adj" fmla="val 5854"/>
            </a:avLst>
          </a:prstGeom>
          <a:solidFill>
            <a:srgbClr val="EDE7F6"/>
          </a:solidFill>
          <a:ln w="12700">
            <a:solidFill>
              <a:srgbClr val="EDE7F6"/>
            </a:solidFill>
            <a:prstDash val="solid"/>
          </a:ln>
          <a:effectLst>
            <a:outerShdw blurRad="101600" dist="38100" dir="2700000" algn="bl" rotWithShape="0">
              <a:srgbClr val="000000">
                <a:alpha val="18000"/>
              </a:srgbClr>
            </a:outerShdw>
          </a:effectLst>
        </p:spPr>
        <p:txBody>
          <a:bodyPr/>
          <a:lstStyle/>
          <a:p>
            <a:endParaRPr lang="en-US"/>
          </a:p>
        </p:txBody>
      </p:sp>
      <p:sp>
        <p:nvSpPr>
          <p:cNvPr id="25" name="Shape 23"/>
          <p:cNvSpPr/>
          <p:nvPr/>
        </p:nvSpPr>
        <p:spPr>
          <a:xfrm>
            <a:off x="4901184" y="3099816"/>
            <a:ext cx="1051560" cy="1051560"/>
          </a:xfrm>
          <a:prstGeom prst="ellipse">
            <a:avLst/>
          </a:prstGeom>
          <a:solidFill>
            <a:srgbClr val="7C3AED"/>
          </a:solidFill>
          <a:ln w="12700">
            <a:solidFill>
              <a:srgbClr val="7C3AED"/>
            </a:solidFill>
            <a:prstDash val="solid"/>
          </a:ln>
          <a:effectLst>
            <a:outerShdw blurRad="101600" dist="38100" dir="2700000" algn="bl" rotWithShape="0">
              <a:srgbClr val="000000">
                <a:alpha val="18000"/>
              </a:srgbClr>
            </a:outerShdw>
          </a:effectLst>
        </p:spPr>
        <p:txBody>
          <a:bodyPr/>
          <a:lstStyle/>
          <a:p>
            <a:endParaRPr lang="en-US"/>
          </a:p>
        </p:txBody>
      </p:sp>
      <p:sp>
        <p:nvSpPr>
          <p:cNvPr id="26" name="Text 24"/>
          <p:cNvSpPr/>
          <p:nvPr/>
        </p:nvSpPr>
        <p:spPr>
          <a:xfrm>
            <a:off x="4901184" y="3099816"/>
            <a:ext cx="1051560" cy="10515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HOME</a:t>
            </a:r>
            <a:endParaRPr lang="en-US" sz="1200" dirty="0"/>
          </a:p>
        </p:txBody>
      </p:sp>
      <p:sp>
        <p:nvSpPr>
          <p:cNvPr id="27" name="Shape 25"/>
          <p:cNvSpPr/>
          <p:nvPr/>
        </p:nvSpPr>
        <p:spPr>
          <a:xfrm>
            <a:off x="7589520" y="2944368"/>
            <a:ext cx="1170432" cy="384048"/>
          </a:xfrm>
          <a:prstGeom prst="roundRect">
            <a:avLst>
              <a:gd name="adj" fmla="val 23810"/>
            </a:avLst>
          </a:prstGeom>
          <a:solidFill>
            <a:srgbClr val="7C3AED"/>
          </a:solidFill>
          <a:ln w="12700">
            <a:solidFill>
              <a:srgbClr val="7C3AED"/>
            </a:solidFill>
            <a:prstDash val="solid"/>
          </a:ln>
        </p:spPr>
        <p:txBody>
          <a:bodyPr/>
          <a:lstStyle/>
          <a:p>
            <a:endParaRPr lang="en-US"/>
          </a:p>
        </p:txBody>
      </p:sp>
      <p:sp>
        <p:nvSpPr>
          <p:cNvPr id="28" name="Text 26"/>
          <p:cNvSpPr/>
          <p:nvPr/>
        </p:nvSpPr>
        <p:spPr>
          <a:xfrm>
            <a:off x="7589520" y="2944368"/>
            <a:ext cx="1170432"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Just a laptop</a:t>
            </a:r>
            <a:endParaRPr lang="en-US" sz="1200" dirty="0"/>
          </a:p>
        </p:txBody>
      </p:sp>
      <p:sp>
        <p:nvSpPr>
          <p:cNvPr id="29" name="Text 27"/>
          <p:cNvSpPr/>
          <p:nvPr/>
        </p:nvSpPr>
        <p:spPr>
          <a:xfrm>
            <a:off x="6062472" y="2962656"/>
            <a:ext cx="1481328" cy="411480"/>
          </a:xfrm>
          <a:prstGeom prst="rect">
            <a:avLst/>
          </a:prstGeom>
          <a:noFill/>
          <a:ln/>
        </p:spPr>
        <p:txBody>
          <a:bodyPr wrap="square" rtlCol="0" anchor="ctr"/>
          <a:lstStyle/>
          <a:p>
            <a:pPr marL="0" indent="0">
              <a:buNone/>
            </a:pPr>
            <a:r>
              <a:rPr lang="en-US" sz="2400" b="1" dirty="0">
                <a:solidFill>
                  <a:srgbClr val="7C3AED"/>
                </a:solidFill>
                <a:latin typeface="Calibri" pitchFamily="34" charset="0"/>
                <a:ea typeface="Calibri" pitchFamily="34" charset="-122"/>
                <a:cs typeface="Calibri" pitchFamily="34" charset="-120"/>
              </a:rPr>
              <a:t>Anywhere</a:t>
            </a:r>
            <a:endParaRPr lang="en-US" sz="2400" dirty="0"/>
          </a:p>
        </p:txBody>
      </p:sp>
      <p:sp>
        <p:nvSpPr>
          <p:cNvPr id="30" name="Text 28"/>
          <p:cNvSpPr/>
          <p:nvPr/>
        </p:nvSpPr>
        <p:spPr>
          <a:xfrm>
            <a:off x="6062472" y="3374136"/>
            <a:ext cx="2697480" cy="1097280"/>
          </a:xfrm>
          <a:prstGeom prst="rect">
            <a:avLst/>
          </a:prstGeom>
          <a:noFill/>
          <a:ln/>
        </p:spPr>
        <p:txBody>
          <a:bodyPr wrap="square" rtlCol="0" anchor="ctr"/>
          <a:lstStyle/>
          <a:p>
            <a:pPr marL="0" indent="0">
              <a:lnSpc>
                <a:spcPct val="120000"/>
              </a:lnSpc>
              <a:buNone/>
            </a:pPr>
            <a:r>
              <a:rPr lang="en-US" sz="1400" dirty="0">
                <a:solidFill>
                  <a:srgbClr val="37474F"/>
                </a:solidFill>
                <a:latin typeface="Calibri" pitchFamily="34" charset="0"/>
                <a:ea typeface="Calibri" pitchFamily="34" charset="-122"/>
                <a:cs typeface="Calibri" pitchFamily="34" charset="-120"/>
              </a:rPr>
              <a:t>All you need is a laptop. Use it at home, school, or anywhere.</a:t>
            </a:r>
            <a:endParaRPr lang="en-US" sz="1400" dirty="0"/>
          </a:p>
        </p:txBody>
      </p:sp>
      <p:sp>
        <p:nvSpPr>
          <p:cNvPr id="31" name="Shape 29"/>
          <p:cNvSpPr/>
          <p:nvPr/>
        </p:nvSpPr>
        <p:spPr>
          <a:xfrm>
            <a:off x="256032" y="4553712"/>
            <a:ext cx="8631936" cy="347472"/>
          </a:xfrm>
          <a:prstGeom prst="roundRect">
            <a:avLst>
              <a:gd name="adj" fmla="val 26316"/>
            </a:avLst>
          </a:prstGeom>
          <a:solidFill>
            <a:srgbClr val="009688"/>
          </a:solidFill>
          <a:ln w="12700">
            <a:solidFill>
              <a:srgbClr val="009688"/>
            </a:solidFill>
            <a:prstDash val="solid"/>
          </a:ln>
        </p:spPr>
        <p:txBody>
          <a:bodyPr/>
          <a:lstStyle/>
          <a:p>
            <a:endParaRPr lang="en-US"/>
          </a:p>
        </p:txBody>
      </p:sp>
      <p:sp>
        <p:nvSpPr>
          <p:cNvPr id="32" name="Text 30"/>
          <p:cNvSpPr/>
          <p:nvPr/>
        </p:nvSpPr>
        <p:spPr>
          <a:xfrm>
            <a:off x="256032" y="4553712"/>
            <a:ext cx="8631936"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This is how real companies train robot AI today: simulation first, then real world!</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bg>
      <p:bgPr>
        <a:solidFill>
          <a:srgbClr val="F0F4FF"/>
        </a:solidFill>
        <a:effectLst/>
      </p:bgPr>
    </p:bg>
    <p:spTree>
      <p:nvGrpSpPr>
        <p:cNvPr id="1" name=""/>
        <p:cNvGrpSpPr/>
        <p:nvPr/>
      </p:nvGrpSpPr>
      <p:grpSpPr>
        <a:xfrm>
          <a:off x="0" y="0"/>
          <a:ext cx="0" cy="0"/>
          <a:chOff x="0" y="0"/>
          <a:chExt cx="0" cy="0"/>
        </a:xfrm>
      </p:grpSpPr>
      <p:sp>
        <p:nvSpPr>
          <p:cNvPr id="2" name="Text 0"/>
          <p:cNvSpPr/>
          <p:nvPr/>
        </p:nvSpPr>
        <p:spPr>
          <a:xfrm>
            <a:off x="365760" y="73152"/>
            <a:ext cx="8412480" cy="530352"/>
          </a:xfrm>
          <a:prstGeom prst="rect">
            <a:avLst/>
          </a:prstGeom>
          <a:noFill/>
          <a:ln/>
        </p:spPr>
        <p:txBody>
          <a:bodyPr wrap="square" rtlCol="0" anchor="ctr"/>
          <a:lstStyle/>
          <a:p>
            <a:pPr marL="0" indent="0" algn="l">
              <a:buNone/>
            </a:pPr>
            <a:r>
              <a:rPr lang="en-US" sz="4400" b="1" dirty="0">
                <a:solidFill>
                  <a:srgbClr val="E91E8C"/>
                </a:solidFill>
                <a:latin typeface="Calibri" pitchFamily="34" charset="0"/>
                <a:ea typeface="Calibri" pitchFamily="34" charset="-122"/>
                <a:cs typeface="Calibri" pitchFamily="34" charset="-120"/>
              </a:rPr>
              <a:t>Your Turn!</a:t>
            </a:r>
            <a:endParaRPr lang="en-US" sz="4400" dirty="0"/>
          </a:p>
        </p:txBody>
      </p:sp>
      <p:sp>
        <p:nvSpPr>
          <p:cNvPr id="3" name="Text 1"/>
          <p:cNvSpPr/>
          <p:nvPr/>
        </p:nvSpPr>
        <p:spPr>
          <a:xfrm>
            <a:off x="365760" y="585216"/>
            <a:ext cx="8412480" cy="320040"/>
          </a:xfrm>
          <a:prstGeom prst="rect">
            <a:avLst/>
          </a:prstGeom>
          <a:noFill/>
          <a:ln/>
        </p:spPr>
        <p:txBody>
          <a:bodyPr wrap="square" rtlCol="0" anchor="ctr"/>
          <a:lstStyle/>
          <a:p>
            <a:pPr marL="0" indent="0">
              <a:buNone/>
            </a:pPr>
            <a:r>
              <a:rPr lang="en-US" sz="1900" b="1" dirty="0">
                <a:solidFill>
                  <a:srgbClr val="1565C0"/>
                </a:solidFill>
                <a:latin typeface="Calibri" pitchFamily="34" charset="0"/>
                <a:ea typeface="Calibri" pitchFamily="34" charset="-122"/>
                <a:cs typeface="Calibri" pitchFamily="34" charset="-120"/>
              </a:rPr>
              <a:t>If YOU were teaching a robot... what would you make it do?</a:t>
            </a:r>
            <a:endParaRPr lang="en-US" sz="1900" dirty="0"/>
          </a:p>
        </p:txBody>
      </p:sp>
      <p:sp>
        <p:nvSpPr>
          <p:cNvPr id="4" name="Shape 2"/>
          <p:cNvSpPr/>
          <p:nvPr/>
        </p:nvSpPr>
        <p:spPr>
          <a:xfrm>
            <a:off x="256032" y="969264"/>
            <a:ext cx="1965960" cy="1554480"/>
          </a:xfrm>
          <a:prstGeom prst="roundRect">
            <a:avLst>
              <a:gd name="adj" fmla="val 7059"/>
            </a:avLst>
          </a:prstGeom>
          <a:solidFill>
            <a:srgbClr val="E3F2FD"/>
          </a:solidFill>
          <a:ln w="12700">
            <a:solidFill>
              <a:srgbClr val="E3F2FD"/>
            </a:solidFill>
            <a:prstDash val="solid"/>
          </a:ln>
          <a:effectLst>
            <a:outerShdw blurRad="101600" dist="38100" dir="2700000" algn="bl" rotWithShape="0">
              <a:srgbClr val="000000">
                <a:alpha val="18000"/>
              </a:srgbClr>
            </a:outerShdw>
          </a:effectLst>
        </p:spPr>
        <p:txBody>
          <a:bodyPr/>
          <a:lstStyle/>
          <a:p>
            <a:endParaRPr lang="en-US"/>
          </a:p>
        </p:txBody>
      </p:sp>
      <p:sp>
        <p:nvSpPr>
          <p:cNvPr id="5" name="Shape 3"/>
          <p:cNvSpPr/>
          <p:nvPr/>
        </p:nvSpPr>
        <p:spPr>
          <a:xfrm>
            <a:off x="576072" y="1106424"/>
            <a:ext cx="914400" cy="914400"/>
          </a:xfrm>
          <a:prstGeom prst="ellipse">
            <a:avLst/>
          </a:prstGeom>
          <a:solidFill>
            <a:srgbClr val="1565C0"/>
          </a:solidFill>
          <a:ln w="12700">
            <a:solidFill>
              <a:srgbClr val="1565C0"/>
            </a:solidFill>
            <a:prstDash val="solid"/>
          </a:ln>
          <a:effectLst>
            <a:outerShdw blurRad="101600" dist="38100" dir="2700000" algn="bl" rotWithShape="0">
              <a:srgbClr val="000000">
                <a:alpha val="18000"/>
              </a:srgbClr>
            </a:outerShdw>
          </a:effectLst>
        </p:spPr>
        <p:txBody>
          <a:bodyPr/>
          <a:lstStyle/>
          <a:p>
            <a:endParaRPr lang="en-US"/>
          </a:p>
        </p:txBody>
      </p:sp>
      <p:sp>
        <p:nvSpPr>
          <p:cNvPr id="6" name="Text 4"/>
          <p:cNvSpPr/>
          <p:nvPr/>
        </p:nvSpPr>
        <p:spPr>
          <a:xfrm>
            <a:off x="576072" y="1106424"/>
            <a:ext cx="914400" cy="9144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FOLD</a:t>
            </a:r>
            <a:endParaRPr lang="en-US" sz="1200" dirty="0"/>
          </a:p>
        </p:txBody>
      </p:sp>
      <p:sp>
        <p:nvSpPr>
          <p:cNvPr id="7" name="Text 5"/>
          <p:cNvSpPr/>
          <p:nvPr/>
        </p:nvSpPr>
        <p:spPr>
          <a:xfrm>
            <a:off x="301752" y="2084832"/>
            <a:ext cx="1874520" cy="365760"/>
          </a:xfrm>
          <a:prstGeom prst="rect">
            <a:avLst/>
          </a:prstGeom>
          <a:noFill/>
          <a:ln/>
        </p:spPr>
        <p:txBody>
          <a:bodyPr wrap="square" rtlCol="0" anchor="ctr"/>
          <a:lstStyle/>
          <a:p>
            <a:pPr marL="0" indent="0" algn="ctr">
              <a:buNone/>
            </a:pPr>
            <a:r>
              <a:rPr lang="en-US" sz="1600" b="1" dirty="0">
                <a:solidFill>
                  <a:srgbClr val="1565C0"/>
                </a:solidFill>
                <a:latin typeface="Calibri" pitchFamily="34" charset="0"/>
                <a:ea typeface="Calibri" pitchFamily="34" charset="-122"/>
                <a:cs typeface="Calibri" pitchFamily="34" charset="-120"/>
              </a:rPr>
              <a:t>Fold laundry</a:t>
            </a:r>
            <a:endParaRPr lang="en-US" sz="1600" dirty="0"/>
          </a:p>
        </p:txBody>
      </p:sp>
      <p:sp>
        <p:nvSpPr>
          <p:cNvPr id="8" name="Shape 6"/>
          <p:cNvSpPr/>
          <p:nvPr/>
        </p:nvSpPr>
        <p:spPr>
          <a:xfrm>
            <a:off x="2432304" y="969264"/>
            <a:ext cx="1965960" cy="1554480"/>
          </a:xfrm>
          <a:prstGeom prst="roundRect">
            <a:avLst>
              <a:gd name="adj" fmla="val 7059"/>
            </a:avLst>
          </a:prstGeom>
          <a:solidFill>
            <a:srgbClr val="EDE7F6"/>
          </a:solidFill>
          <a:ln w="12700">
            <a:solidFill>
              <a:srgbClr val="EDE7F6"/>
            </a:solidFill>
            <a:prstDash val="solid"/>
          </a:ln>
          <a:effectLst>
            <a:outerShdw blurRad="101600" dist="38100" dir="2700000" algn="bl" rotWithShape="0">
              <a:srgbClr val="000000">
                <a:alpha val="18000"/>
              </a:srgbClr>
            </a:outerShdw>
          </a:effectLst>
        </p:spPr>
        <p:txBody>
          <a:bodyPr/>
          <a:lstStyle/>
          <a:p>
            <a:endParaRPr lang="en-US"/>
          </a:p>
        </p:txBody>
      </p:sp>
      <p:sp>
        <p:nvSpPr>
          <p:cNvPr id="9" name="Shape 7"/>
          <p:cNvSpPr/>
          <p:nvPr/>
        </p:nvSpPr>
        <p:spPr>
          <a:xfrm>
            <a:off x="2752344" y="1106424"/>
            <a:ext cx="914400" cy="914400"/>
          </a:xfrm>
          <a:prstGeom prst="ellipse">
            <a:avLst/>
          </a:prstGeom>
          <a:solidFill>
            <a:srgbClr val="7C3AED"/>
          </a:solidFill>
          <a:ln w="12700">
            <a:solidFill>
              <a:srgbClr val="7C3AED"/>
            </a:solidFill>
            <a:prstDash val="solid"/>
          </a:ln>
          <a:effectLst>
            <a:outerShdw blurRad="101600" dist="38100" dir="2700000" algn="bl" rotWithShape="0">
              <a:srgbClr val="000000">
                <a:alpha val="18000"/>
              </a:srgbClr>
            </a:outerShdw>
          </a:effectLst>
        </p:spPr>
        <p:txBody>
          <a:bodyPr/>
          <a:lstStyle/>
          <a:p>
            <a:endParaRPr lang="en-US"/>
          </a:p>
        </p:txBody>
      </p:sp>
      <p:sp>
        <p:nvSpPr>
          <p:cNvPr id="10" name="Text 8"/>
          <p:cNvSpPr/>
          <p:nvPr/>
        </p:nvSpPr>
        <p:spPr>
          <a:xfrm>
            <a:off x="2752344" y="1106424"/>
            <a:ext cx="914400" cy="9144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CUPS</a:t>
            </a:r>
            <a:endParaRPr lang="en-US" sz="1200" dirty="0"/>
          </a:p>
        </p:txBody>
      </p:sp>
      <p:sp>
        <p:nvSpPr>
          <p:cNvPr id="11" name="Text 9"/>
          <p:cNvSpPr/>
          <p:nvPr/>
        </p:nvSpPr>
        <p:spPr>
          <a:xfrm>
            <a:off x="2478024" y="2084832"/>
            <a:ext cx="1874520" cy="365760"/>
          </a:xfrm>
          <a:prstGeom prst="rect">
            <a:avLst/>
          </a:prstGeom>
          <a:noFill/>
          <a:ln/>
        </p:spPr>
        <p:txBody>
          <a:bodyPr wrap="square" rtlCol="0" anchor="ctr"/>
          <a:lstStyle/>
          <a:p>
            <a:pPr marL="0" indent="0" algn="ctr">
              <a:buNone/>
            </a:pPr>
            <a:r>
              <a:rPr lang="en-US" sz="1600" b="1" dirty="0">
                <a:solidFill>
                  <a:srgbClr val="7C3AED"/>
                </a:solidFill>
                <a:latin typeface="Calibri" pitchFamily="34" charset="0"/>
                <a:ea typeface="Calibri" pitchFamily="34" charset="-122"/>
                <a:cs typeface="Calibri" pitchFamily="34" charset="-120"/>
              </a:rPr>
              <a:t>Stack cups</a:t>
            </a:r>
            <a:endParaRPr lang="en-US" sz="1600" dirty="0"/>
          </a:p>
        </p:txBody>
      </p:sp>
      <p:sp>
        <p:nvSpPr>
          <p:cNvPr id="12" name="Shape 10"/>
          <p:cNvSpPr/>
          <p:nvPr/>
        </p:nvSpPr>
        <p:spPr>
          <a:xfrm>
            <a:off x="4608576" y="969264"/>
            <a:ext cx="1965960" cy="1554480"/>
          </a:xfrm>
          <a:prstGeom prst="roundRect">
            <a:avLst>
              <a:gd name="adj" fmla="val 7059"/>
            </a:avLst>
          </a:prstGeom>
          <a:solidFill>
            <a:srgbClr val="FCE4EC"/>
          </a:solidFill>
          <a:ln w="12700">
            <a:solidFill>
              <a:srgbClr val="FCE4EC"/>
            </a:solidFill>
            <a:prstDash val="solid"/>
          </a:ln>
          <a:effectLst>
            <a:outerShdw blurRad="101600" dist="38100" dir="2700000" algn="bl" rotWithShape="0">
              <a:srgbClr val="000000">
                <a:alpha val="18000"/>
              </a:srgbClr>
            </a:outerShdw>
          </a:effectLst>
        </p:spPr>
        <p:txBody>
          <a:bodyPr/>
          <a:lstStyle/>
          <a:p>
            <a:endParaRPr lang="en-US"/>
          </a:p>
        </p:txBody>
      </p:sp>
      <p:sp>
        <p:nvSpPr>
          <p:cNvPr id="13" name="Shape 11"/>
          <p:cNvSpPr/>
          <p:nvPr/>
        </p:nvSpPr>
        <p:spPr>
          <a:xfrm>
            <a:off x="4928616" y="1106424"/>
            <a:ext cx="914400" cy="914400"/>
          </a:xfrm>
          <a:prstGeom prst="ellipse">
            <a:avLst/>
          </a:prstGeom>
          <a:solidFill>
            <a:srgbClr val="E91E8C"/>
          </a:solidFill>
          <a:ln w="12700">
            <a:solidFill>
              <a:srgbClr val="E91E8C"/>
            </a:solidFill>
            <a:prstDash val="solid"/>
          </a:ln>
          <a:effectLst>
            <a:outerShdw blurRad="101600" dist="38100" dir="2700000" algn="bl" rotWithShape="0">
              <a:srgbClr val="000000">
                <a:alpha val="18000"/>
              </a:srgbClr>
            </a:outerShdw>
          </a:effectLst>
        </p:spPr>
        <p:txBody>
          <a:bodyPr/>
          <a:lstStyle/>
          <a:p>
            <a:endParaRPr lang="en-US"/>
          </a:p>
        </p:txBody>
      </p:sp>
      <p:sp>
        <p:nvSpPr>
          <p:cNvPr id="14" name="Text 12"/>
          <p:cNvSpPr/>
          <p:nvPr/>
        </p:nvSpPr>
        <p:spPr>
          <a:xfrm>
            <a:off x="4928616" y="1106424"/>
            <a:ext cx="914400" cy="9144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SORT</a:t>
            </a:r>
            <a:endParaRPr lang="en-US" sz="1200" dirty="0"/>
          </a:p>
        </p:txBody>
      </p:sp>
      <p:sp>
        <p:nvSpPr>
          <p:cNvPr id="15" name="Text 13"/>
          <p:cNvSpPr/>
          <p:nvPr/>
        </p:nvSpPr>
        <p:spPr>
          <a:xfrm>
            <a:off x="4654296" y="2084832"/>
            <a:ext cx="1874520" cy="365760"/>
          </a:xfrm>
          <a:prstGeom prst="rect">
            <a:avLst/>
          </a:prstGeom>
          <a:noFill/>
          <a:ln/>
        </p:spPr>
        <p:txBody>
          <a:bodyPr wrap="square" rtlCol="0" anchor="ctr"/>
          <a:lstStyle/>
          <a:p>
            <a:pPr marL="0" indent="0" algn="ctr">
              <a:buNone/>
            </a:pPr>
            <a:r>
              <a:rPr lang="en-US" sz="1600" b="1" dirty="0">
                <a:solidFill>
                  <a:srgbClr val="E91E8C"/>
                </a:solidFill>
                <a:latin typeface="Calibri" pitchFamily="34" charset="0"/>
                <a:ea typeface="Calibri" pitchFamily="34" charset="-122"/>
                <a:cs typeface="Calibri" pitchFamily="34" charset="-120"/>
              </a:rPr>
              <a:t>Sort candy</a:t>
            </a:r>
            <a:endParaRPr lang="en-US" sz="1600" dirty="0"/>
          </a:p>
        </p:txBody>
      </p:sp>
      <p:sp>
        <p:nvSpPr>
          <p:cNvPr id="16" name="Shape 14"/>
          <p:cNvSpPr/>
          <p:nvPr/>
        </p:nvSpPr>
        <p:spPr>
          <a:xfrm>
            <a:off x="6784848" y="969264"/>
            <a:ext cx="1965960" cy="1554480"/>
          </a:xfrm>
          <a:prstGeom prst="roundRect">
            <a:avLst>
              <a:gd name="adj" fmla="val 7059"/>
            </a:avLst>
          </a:prstGeom>
          <a:solidFill>
            <a:srgbClr val="FFF3E0"/>
          </a:solidFill>
          <a:ln w="12700">
            <a:solidFill>
              <a:srgbClr val="FFF3E0"/>
            </a:solidFill>
            <a:prstDash val="solid"/>
          </a:ln>
          <a:effectLst>
            <a:outerShdw blurRad="101600" dist="38100" dir="2700000" algn="bl" rotWithShape="0">
              <a:srgbClr val="000000">
                <a:alpha val="18000"/>
              </a:srgbClr>
            </a:outerShdw>
          </a:effectLst>
        </p:spPr>
        <p:txBody>
          <a:bodyPr/>
          <a:lstStyle/>
          <a:p>
            <a:endParaRPr lang="en-US"/>
          </a:p>
        </p:txBody>
      </p:sp>
      <p:sp>
        <p:nvSpPr>
          <p:cNvPr id="17" name="Shape 15"/>
          <p:cNvSpPr/>
          <p:nvPr/>
        </p:nvSpPr>
        <p:spPr>
          <a:xfrm>
            <a:off x="7104888" y="1106424"/>
            <a:ext cx="914400" cy="914400"/>
          </a:xfrm>
          <a:prstGeom prst="ellipse">
            <a:avLst/>
          </a:prstGeom>
          <a:solidFill>
            <a:srgbClr val="FF6D00"/>
          </a:solidFill>
          <a:ln w="12700">
            <a:solidFill>
              <a:srgbClr val="FF6D00"/>
            </a:solidFill>
            <a:prstDash val="solid"/>
          </a:ln>
          <a:effectLst>
            <a:outerShdw blurRad="101600" dist="38100" dir="2700000" algn="bl" rotWithShape="0">
              <a:srgbClr val="000000">
                <a:alpha val="18000"/>
              </a:srgbClr>
            </a:outerShdw>
          </a:effectLst>
        </p:spPr>
        <p:txBody>
          <a:bodyPr/>
          <a:lstStyle/>
          <a:p>
            <a:endParaRPr lang="en-US"/>
          </a:p>
        </p:txBody>
      </p:sp>
      <p:sp>
        <p:nvSpPr>
          <p:cNvPr id="18" name="Text 16"/>
          <p:cNvSpPr/>
          <p:nvPr/>
        </p:nvSpPr>
        <p:spPr>
          <a:xfrm>
            <a:off x="7104888" y="1106424"/>
            <a:ext cx="914400" cy="9144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COOK</a:t>
            </a:r>
            <a:endParaRPr lang="en-US" sz="1200" dirty="0"/>
          </a:p>
        </p:txBody>
      </p:sp>
      <p:sp>
        <p:nvSpPr>
          <p:cNvPr id="19" name="Text 17"/>
          <p:cNvSpPr/>
          <p:nvPr/>
        </p:nvSpPr>
        <p:spPr>
          <a:xfrm>
            <a:off x="6830568" y="2084832"/>
            <a:ext cx="1874520" cy="365760"/>
          </a:xfrm>
          <a:prstGeom prst="rect">
            <a:avLst/>
          </a:prstGeom>
          <a:noFill/>
          <a:ln/>
        </p:spPr>
        <p:txBody>
          <a:bodyPr wrap="square" rtlCol="0" anchor="ctr"/>
          <a:lstStyle/>
          <a:p>
            <a:pPr marL="0" indent="0" algn="ctr">
              <a:buNone/>
            </a:pPr>
            <a:r>
              <a:rPr lang="en-US" sz="1600" b="1" dirty="0">
                <a:solidFill>
                  <a:srgbClr val="FF6D00"/>
                </a:solidFill>
                <a:latin typeface="Calibri" pitchFamily="34" charset="0"/>
                <a:ea typeface="Calibri" pitchFamily="34" charset="-122"/>
                <a:cs typeface="Calibri" pitchFamily="34" charset="-120"/>
              </a:rPr>
              <a:t>Cook noodles</a:t>
            </a:r>
            <a:endParaRPr lang="en-US" sz="1600" dirty="0"/>
          </a:p>
        </p:txBody>
      </p:sp>
      <p:sp>
        <p:nvSpPr>
          <p:cNvPr id="20" name="Shape 18"/>
          <p:cNvSpPr/>
          <p:nvPr/>
        </p:nvSpPr>
        <p:spPr>
          <a:xfrm>
            <a:off x="256032" y="2633472"/>
            <a:ext cx="1965960" cy="1554480"/>
          </a:xfrm>
          <a:prstGeom prst="roundRect">
            <a:avLst>
              <a:gd name="adj" fmla="val 7059"/>
            </a:avLst>
          </a:prstGeom>
          <a:solidFill>
            <a:srgbClr val="E0F2F1"/>
          </a:solidFill>
          <a:ln w="12700">
            <a:solidFill>
              <a:srgbClr val="E0F2F1"/>
            </a:solidFill>
            <a:prstDash val="solid"/>
          </a:ln>
          <a:effectLst>
            <a:outerShdw blurRad="101600" dist="38100" dir="2700000" algn="bl" rotWithShape="0">
              <a:srgbClr val="000000">
                <a:alpha val="18000"/>
              </a:srgbClr>
            </a:outerShdw>
          </a:effectLst>
        </p:spPr>
        <p:txBody>
          <a:bodyPr/>
          <a:lstStyle/>
          <a:p>
            <a:endParaRPr lang="en-US"/>
          </a:p>
        </p:txBody>
      </p:sp>
      <p:sp>
        <p:nvSpPr>
          <p:cNvPr id="21" name="Shape 19"/>
          <p:cNvSpPr/>
          <p:nvPr/>
        </p:nvSpPr>
        <p:spPr>
          <a:xfrm>
            <a:off x="576072" y="2770632"/>
            <a:ext cx="914400" cy="914400"/>
          </a:xfrm>
          <a:prstGeom prst="ellipse">
            <a:avLst/>
          </a:prstGeom>
          <a:solidFill>
            <a:srgbClr val="009688"/>
          </a:solidFill>
          <a:ln w="12700">
            <a:solidFill>
              <a:srgbClr val="009688"/>
            </a:solidFill>
            <a:prstDash val="solid"/>
          </a:ln>
          <a:effectLst>
            <a:outerShdw blurRad="101600" dist="38100" dir="2700000" algn="bl" rotWithShape="0">
              <a:srgbClr val="000000">
                <a:alpha val="18000"/>
              </a:srgbClr>
            </a:outerShdw>
          </a:effectLst>
        </p:spPr>
        <p:txBody>
          <a:bodyPr/>
          <a:lstStyle/>
          <a:p>
            <a:endParaRPr lang="en-US"/>
          </a:p>
        </p:txBody>
      </p:sp>
      <p:sp>
        <p:nvSpPr>
          <p:cNvPr id="22" name="Text 20"/>
          <p:cNvSpPr/>
          <p:nvPr/>
        </p:nvSpPr>
        <p:spPr>
          <a:xfrm>
            <a:off x="576072" y="2770632"/>
            <a:ext cx="914400" cy="9144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BED</a:t>
            </a:r>
            <a:endParaRPr lang="en-US" sz="1200" dirty="0"/>
          </a:p>
        </p:txBody>
      </p:sp>
      <p:sp>
        <p:nvSpPr>
          <p:cNvPr id="23" name="Text 21"/>
          <p:cNvSpPr/>
          <p:nvPr/>
        </p:nvSpPr>
        <p:spPr>
          <a:xfrm>
            <a:off x="301752" y="3749040"/>
            <a:ext cx="1874520" cy="365760"/>
          </a:xfrm>
          <a:prstGeom prst="rect">
            <a:avLst/>
          </a:prstGeom>
          <a:noFill/>
          <a:ln/>
        </p:spPr>
        <p:txBody>
          <a:bodyPr wrap="square" rtlCol="0" anchor="ctr"/>
          <a:lstStyle/>
          <a:p>
            <a:pPr marL="0" indent="0" algn="ctr">
              <a:buNone/>
            </a:pPr>
            <a:r>
              <a:rPr lang="en-US" sz="1600" b="1" dirty="0">
                <a:solidFill>
                  <a:srgbClr val="009688"/>
                </a:solidFill>
                <a:latin typeface="Calibri" pitchFamily="34" charset="0"/>
                <a:ea typeface="Calibri" pitchFamily="34" charset="-122"/>
                <a:cs typeface="Calibri" pitchFamily="34" charset="-120"/>
              </a:rPr>
              <a:t>Make the bed</a:t>
            </a:r>
            <a:endParaRPr lang="en-US" sz="1600" dirty="0"/>
          </a:p>
        </p:txBody>
      </p:sp>
      <p:sp>
        <p:nvSpPr>
          <p:cNvPr id="24" name="Shape 22"/>
          <p:cNvSpPr/>
          <p:nvPr/>
        </p:nvSpPr>
        <p:spPr>
          <a:xfrm>
            <a:off x="2432304" y="2633472"/>
            <a:ext cx="1965960" cy="1554480"/>
          </a:xfrm>
          <a:prstGeom prst="roundRect">
            <a:avLst>
              <a:gd name="adj" fmla="val 7059"/>
            </a:avLst>
          </a:prstGeom>
          <a:solidFill>
            <a:srgbClr val="F9FBE7"/>
          </a:solidFill>
          <a:ln w="12700">
            <a:solidFill>
              <a:srgbClr val="F9FBE7"/>
            </a:solidFill>
            <a:prstDash val="solid"/>
          </a:ln>
          <a:effectLst>
            <a:outerShdw blurRad="101600" dist="38100" dir="2700000" algn="bl" rotWithShape="0">
              <a:srgbClr val="000000">
                <a:alpha val="18000"/>
              </a:srgbClr>
            </a:outerShdw>
          </a:effectLst>
        </p:spPr>
        <p:txBody>
          <a:bodyPr/>
          <a:lstStyle/>
          <a:p>
            <a:endParaRPr lang="en-US"/>
          </a:p>
        </p:txBody>
      </p:sp>
      <p:sp>
        <p:nvSpPr>
          <p:cNvPr id="25" name="Shape 23"/>
          <p:cNvSpPr/>
          <p:nvPr/>
        </p:nvSpPr>
        <p:spPr>
          <a:xfrm>
            <a:off x="2752344" y="2770632"/>
            <a:ext cx="914400" cy="914400"/>
          </a:xfrm>
          <a:prstGeom prst="ellipse">
            <a:avLst/>
          </a:prstGeom>
          <a:solidFill>
            <a:srgbClr val="8BC34A"/>
          </a:solidFill>
          <a:ln w="12700">
            <a:solidFill>
              <a:srgbClr val="8BC34A"/>
            </a:solidFill>
            <a:prstDash val="solid"/>
          </a:ln>
          <a:effectLst>
            <a:outerShdw blurRad="101600" dist="38100" dir="2700000" algn="bl" rotWithShape="0">
              <a:srgbClr val="000000">
                <a:alpha val="18000"/>
              </a:srgbClr>
            </a:outerShdw>
          </a:effectLst>
        </p:spPr>
        <p:txBody>
          <a:bodyPr/>
          <a:lstStyle/>
          <a:p>
            <a:endParaRPr lang="en-US"/>
          </a:p>
        </p:txBody>
      </p:sp>
      <p:sp>
        <p:nvSpPr>
          <p:cNvPr id="26" name="Text 24"/>
          <p:cNvSpPr/>
          <p:nvPr/>
        </p:nvSpPr>
        <p:spPr>
          <a:xfrm>
            <a:off x="2752344" y="2770632"/>
            <a:ext cx="914400" cy="9144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PET</a:t>
            </a:r>
            <a:endParaRPr lang="en-US" sz="1200" dirty="0"/>
          </a:p>
        </p:txBody>
      </p:sp>
      <p:sp>
        <p:nvSpPr>
          <p:cNvPr id="27" name="Text 25"/>
          <p:cNvSpPr/>
          <p:nvPr/>
        </p:nvSpPr>
        <p:spPr>
          <a:xfrm>
            <a:off x="2478024" y="3749040"/>
            <a:ext cx="1874520" cy="365760"/>
          </a:xfrm>
          <a:prstGeom prst="rect">
            <a:avLst/>
          </a:prstGeom>
          <a:noFill/>
          <a:ln/>
        </p:spPr>
        <p:txBody>
          <a:bodyPr wrap="square" rtlCol="0" anchor="ctr"/>
          <a:lstStyle/>
          <a:p>
            <a:pPr marL="0" indent="0" algn="ctr">
              <a:buNone/>
            </a:pPr>
            <a:r>
              <a:rPr lang="en-US" sz="1600" b="1" dirty="0">
                <a:solidFill>
                  <a:srgbClr val="8BC34A"/>
                </a:solidFill>
                <a:latin typeface="Calibri" pitchFamily="34" charset="0"/>
                <a:ea typeface="Calibri" pitchFamily="34" charset="-122"/>
                <a:cs typeface="Calibri" pitchFamily="34" charset="-120"/>
              </a:rPr>
              <a:t>Feed your dog</a:t>
            </a:r>
            <a:endParaRPr lang="en-US" sz="1600" dirty="0"/>
          </a:p>
        </p:txBody>
      </p:sp>
      <p:sp>
        <p:nvSpPr>
          <p:cNvPr id="28" name="Shape 26"/>
          <p:cNvSpPr/>
          <p:nvPr/>
        </p:nvSpPr>
        <p:spPr>
          <a:xfrm>
            <a:off x="4608576" y="2633472"/>
            <a:ext cx="1965960" cy="1554480"/>
          </a:xfrm>
          <a:prstGeom prst="roundRect">
            <a:avLst>
              <a:gd name="adj" fmla="val 7059"/>
            </a:avLst>
          </a:prstGeom>
          <a:solidFill>
            <a:srgbClr val="FFEBEE"/>
          </a:solidFill>
          <a:ln w="12700">
            <a:solidFill>
              <a:srgbClr val="FFEBEE"/>
            </a:solidFill>
            <a:prstDash val="solid"/>
          </a:ln>
          <a:effectLst>
            <a:outerShdw blurRad="101600" dist="38100" dir="2700000" algn="bl" rotWithShape="0">
              <a:srgbClr val="000000">
                <a:alpha val="18000"/>
              </a:srgbClr>
            </a:outerShdw>
          </a:effectLst>
        </p:spPr>
        <p:txBody>
          <a:bodyPr/>
          <a:lstStyle/>
          <a:p>
            <a:endParaRPr lang="en-US"/>
          </a:p>
        </p:txBody>
      </p:sp>
      <p:sp>
        <p:nvSpPr>
          <p:cNvPr id="29" name="Shape 27"/>
          <p:cNvSpPr/>
          <p:nvPr/>
        </p:nvSpPr>
        <p:spPr>
          <a:xfrm>
            <a:off x="4928616" y="2770632"/>
            <a:ext cx="914400" cy="914400"/>
          </a:xfrm>
          <a:prstGeom prst="ellipse">
            <a:avLst/>
          </a:prstGeom>
          <a:solidFill>
            <a:srgbClr val="D32F2F"/>
          </a:solidFill>
          <a:ln w="12700">
            <a:solidFill>
              <a:srgbClr val="D32F2F"/>
            </a:solidFill>
            <a:prstDash val="solid"/>
          </a:ln>
          <a:effectLst>
            <a:outerShdw blurRad="101600" dist="38100" dir="2700000" algn="bl" rotWithShape="0">
              <a:srgbClr val="000000">
                <a:alpha val="18000"/>
              </a:srgbClr>
            </a:outerShdw>
          </a:effectLst>
        </p:spPr>
        <p:txBody>
          <a:bodyPr/>
          <a:lstStyle/>
          <a:p>
            <a:endParaRPr lang="en-US"/>
          </a:p>
        </p:txBody>
      </p:sp>
      <p:sp>
        <p:nvSpPr>
          <p:cNvPr id="30" name="Text 28"/>
          <p:cNvSpPr/>
          <p:nvPr/>
        </p:nvSpPr>
        <p:spPr>
          <a:xfrm>
            <a:off x="4928616" y="2770632"/>
            <a:ext cx="914400" cy="9144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TIDY</a:t>
            </a:r>
            <a:endParaRPr lang="en-US" sz="1200" dirty="0"/>
          </a:p>
        </p:txBody>
      </p:sp>
      <p:sp>
        <p:nvSpPr>
          <p:cNvPr id="31" name="Text 29"/>
          <p:cNvSpPr/>
          <p:nvPr/>
        </p:nvSpPr>
        <p:spPr>
          <a:xfrm>
            <a:off x="4654296" y="3749040"/>
            <a:ext cx="1874520" cy="365760"/>
          </a:xfrm>
          <a:prstGeom prst="rect">
            <a:avLst/>
          </a:prstGeom>
          <a:noFill/>
          <a:ln/>
        </p:spPr>
        <p:txBody>
          <a:bodyPr wrap="square" rtlCol="0" anchor="ctr"/>
          <a:lstStyle/>
          <a:p>
            <a:pPr marL="0" indent="0" algn="ctr">
              <a:buNone/>
            </a:pPr>
            <a:r>
              <a:rPr lang="en-US" sz="1600" b="1" dirty="0">
                <a:solidFill>
                  <a:srgbClr val="D32F2F"/>
                </a:solidFill>
                <a:latin typeface="Calibri" pitchFamily="34" charset="0"/>
                <a:ea typeface="Calibri" pitchFamily="34" charset="-122"/>
                <a:cs typeface="Calibri" pitchFamily="34" charset="-120"/>
              </a:rPr>
              <a:t>Clean the room</a:t>
            </a:r>
            <a:endParaRPr lang="en-US" sz="1600" dirty="0"/>
          </a:p>
        </p:txBody>
      </p:sp>
      <p:sp>
        <p:nvSpPr>
          <p:cNvPr id="32" name="Shape 30"/>
          <p:cNvSpPr/>
          <p:nvPr/>
        </p:nvSpPr>
        <p:spPr>
          <a:xfrm>
            <a:off x="6784848" y="2633472"/>
            <a:ext cx="1965960" cy="1554480"/>
          </a:xfrm>
          <a:prstGeom prst="roundRect">
            <a:avLst>
              <a:gd name="adj" fmla="val 7059"/>
            </a:avLst>
          </a:prstGeom>
          <a:solidFill>
            <a:srgbClr val="E0F7FA"/>
          </a:solidFill>
          <a:ln w="12700">
            <a:solidFill>
              <a:srgbClr val="E0F7FA"/>
            </a:solidFill>
            <a:prstDash val="solid"/>
          </a:ln>
          <a:effectLst>
            <a:outerShdw blurRad="101600" dist="38100" dir="2700000" algn="bl" rotWithShape="0">
              <a:srgbClr val="000000">
                <a:alpha val="18000"/>
              </a:srgbClr>
            </a:outerShdw>
          </a:effectLst>
        </p:spPr>
        <p:txBody>
          <a:bodyPr/>
          <a:lstStyle/>
          <a:p>
            <a:endParaRPr lang="en-US"/>
          </a:p>
        </p:txBody>
      </p:sp>
      <p:sp>
        <p:nvSpPr>
          <p:cNvPr id="33" name="Shape 31"/>
          <p:cNvSpPr/>
          <p:nvPr/>
        </p:nvSpPr>
        <p:spPr>
          <a:xfrm>
            <a:off x="7104888" y="2770632"/>
            <a:ext cx="914400" cy="914400"/>
          </a:xfrm>
          <a:prstGeom prst="ellipse">
            <a:avLst/>
          </a:prstGeom>
          <a:solidFill>
            <a:srgbClr val="00BCD4"/>
          </a:solidFill>
          <a:ln w="12700">
            <a:solidFill>
              <a:srgbClr val="00BCD4"/>
            </a:solidFill>
            <a:prstDash val="solid"/>
          </a:ln>
          <a:effectLst>
            <a:outerShdw blurRad="101600" dist="38100" dir="2700000" algn="bl" rotWithShape="0">
              <a:srgbClr val="000000">
                <a:alpha val="18000"/>
              </a:srgbClr>
            </a:outerShdw>
          </a:effectLst>
        </p:spPr>
        <p:txBody>
          <a:bodyPr/>
          <a:lstStyle/>
          <a:p>
            <a:endParaRPr lang="en-US"/>
          </a:p>
        </p:txBody>
      </p:sp>
      <p:sp>
        <p:nvSpPr>
          <p:cNvPr id="34" name="Text 32"/>
          <p:cNvSpPr/>
          <p:nvPr/>
        </p:nvSpPr>
        <p:spPr>
          <a:xfrm>
            <a:off x="7104888" y="2770632"/>
            <a:ext cx="914400" cy="9144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BOOK</a:t>
            </a:r>
            <a:endParaRPr lang="en-US" sz="1200" dirty="0"/>
          </a:p>
        </p:txBody>
      </p:sp>
      <p:sp>
        <p:nvSpPr>
          <p:cNvPr id="35" name="Text 33"/>
          <p:cNvSpPr/>
          <p:nvPr/>
        </p:nvSpPr>
        <p:spPr>
          <a:xfrm>
            <a:off x="6830568" y="3749040"/>
            <a:ext cx="1874520" cy="365760"/>
          </a:xfrm>
          <a:prstGeom prst="rect">
            <a:avLst/>
          </a:prstGeom>
          <a:noFill/>
          <a:ln/>
        </p:spPr>
        <p:txBody>
          <a:bodyPr wrap="square" rtlCol="0" anchor="ctr"/>
          <a:lstStyle/>
          <a:p>
            <a:pPr marL="0" indent="0" algn="ctr">
              <a:buNone/>
            </a:pPr>
            <a:r>
              <a:rPr lang="en-US" sz="1600" b="1" dirty="0">
                <a:solidFill>
                  <a:srgbClr val="00BCD4"/>
                </a:solidFill>
                <a:latin typeface="Calibri" pitchFamily="34" charset="0"/>
                <a:ea typeface="Calibri" pitchFamily="34" charset="-122"/>
                <a:cs typeface="Calibri" pitchFamily="34" charset="-120"/>
              </a:rPr>
              <a:t>Sort books</a:t>
            </a:r>
            <a:endParaRPr lang="en-US" sz="1600" dirty="0"/>
          </a:p>
        </p:txBody>
      </p:sp>
      <p:sp>
        <p:nvSpPr>
          <p:cNvPr id="36" name="Shape 34"/>
          <p:cNvSpPr/>
          <p:nvPr/>
        </p:nvSpPr>
        <p:spPr>
          <a:xfrm>
            <a:off x="256032" y="4553712"/>
            <a:ext cx="8631936" cy="347472"/>
          </a:xfrm>
          <a:prstGeom prst="roundRect">
            <a:avLst>
              <a:gd name="adj" fmla="val 26316"/>
            </a:avLst>
          </a:prstGeom>
          <a:solidFill>
            <a:srgbClr val="E91E8C"/>
          </a:solidFill>
          <a:ln w="12700">
            <a:solidFill>
              <a:srgbClr val="E91E8C"/>
            </a:solidFill>
            <a:prstDash val="solid"/>
          </a:ln>
        </p:spPr>
        <p:txBody>
          <a:bodyPr/>
          <a:lstStyle/>
          <a:p>
            <a:endParaRPr lang="en-US"/>
          </a:p>
        </p:txBody>
      </p:sp>
      <p:sp>
        <p:nvSpPr>
          <p:cNvPr id="37" name="Text 35"/>
          <p:cNvSpPr/>
          <p:nvPr/>
        </p:nvSpPr>
        <p:spPr>
          <a:xfrm>
            <a:off x="256032" y="4553712"/>
            <a:ext cx="8631936" cy="34747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Pick your idea and describe step 1!</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39aa4b3-b62d-42bf-8097-75e2c573ddfa}" enabled="1" method="Privileged" siteId="{3dd8961f-e488-4e60-8e11-a82d994e183d}" removed="0"/>
</clbl:labelList>
</file>

<file path=docProps/app.xml><?xml version="1.0" encoding="utf-8"?>
<Properties xmlns="http://schemas.openxmlformats.org/officeDocument/2006/extended-properties" xmlns:vt="http://schemas.openxmlformats.org/officeDocument/2006/docPropsVTypes">
  <TotalTime>25</TotalTime>
  <Words>1227</Words>
  <Application>Microsoft Office PowerPoint</Application>
  <PresentationFormat>On-screen Show (16:9)</PresentationFormat>
  <Paragraphs>165</Paragraphs>
  <Slides>10</Slides>
  <Notes>10</Notes>
  <HiddenSlides>1</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Robotics Simulation with Genesis</dc:title>
  <dc:subject>PptxGenJS Presentation</dc:subject>
  <dc:creator>STEM Workshop</dc:creator>
  <cp:lastModifiedBy>Balgi, Trapti Damodar</cp:lastModifiedBy>
  <cp:revision>2</cp:revision>
  <dcterms:created xsi:type="dcterms:W3CDTF">2026-07-22T10:42:22Z</dcterms:created>
  <dcterms:modified xsi:type="dcterms:W3CDTF">2026-07-22T11:17:04Z</dcterms:modified>
</cp:coreProperties>
</file>